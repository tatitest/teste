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4"/>
    <p:sldMasterId id="2147483763" r:id="rId5"/>
  </p:sldMasterIdLst>
  <p:notesMasterIdLst>
    <p:notesMasterId r:id="rId23"/>
  </p:notesMasterIdLst>
  <p:handoutMasterIdLst>
    <p:handoutMasterId r:id="rId24"/>
  </p:handoutMasterIdLst>
  <p:sldIdLst>
    <p:sldId id="262" r:id="rId6"/>
    <p:sldId id="639" r:id="rId7"/>
    <p:sldId id="646" r:id="rId8"/>
    <p:sldId id="648" r:id="rId9"/>
    <p:sldId id="644" r:id="rId10"/>
    <p:sldId id="640" r:id="rId11"/>
    <p:sldId id="647" r:id="rId12"/>
    <p:sldId id="652" r:id="rId13"/>
    <p:sldId id="642" r:id="rId14"/>
    <p:sldId id="643" r:id="rId15"/>
    <p:sldId id="650" r:id="rId16"/>
    <p:sldId id="653" r:id="rId17"/>
    <p:sldId id="602" r:id="rId18"/>
    <p:sldId id="589" r:id="rId19"/>
    <p:sldId id="649" r:id="rId20"/>
    <p:sldId id="651" r:id="rId21"/>
    <p:sldId id="333" r:id="rId2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A4A"/>
    <a:srgbClr val="FF0054"/>
    <a:srgbClr val="000000"/>
    <a:srgbClr val="FFFFFF"/>
    <a:srgbClr val="E9E8E3"/>
    <a:srgbClr val="E6E6E6"/>
    <a:srgbClr val="E5E4DD"/>
    <a:srgbClr val="00A3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45632B-708C-4A04-B58C-B80AD3DDA16B}" v="63" dt="2025-10-22T14:17:42.729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56" autoAdjust="0"/>
    <p:restoredTop sz="93883" autoAdjust="0"/>
  </p:normalViewPr>
  <p:slideViewPr>
    <p:cSldViewPr showGuides="1">
      <p:cViewPr varScale="1">
        <p:scale>
          <a:sx n="104" d="100"/>
          <a:sy n="104" d="100"/>
        </p:scale>
        <p:origin x="68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howGuides="1">
      <p:cViewPr varScale="1">
        <p:scale>
          <a:sx n="89" d="100"/>
          <a:sy n="89" d="100"/>
        </p:scale>
        <p:origin x="3259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B76C1-5D6A-4BE8-9E13-EB92B623AC55}" type="datetimeFigureOut">
              <a:rPr lang="es-ES" smtClean="0"/>
              <a:t>22/10/2025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EB8445-AEE5-4B15-A732-6F342B1240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49674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D35EC-AF0A-4DE7-855D-4EF6B0151212}" type="datetimeFigureOut">
              <a:rPr lang="es-ES" smtClean="0"/>
              <a:t>22/10/2025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AE8CD-FAC3-447B-AA62-CC577D5700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0102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AE8CD-FAC3-447B-AA62-CC577D5700D2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3648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BC303-1C4A-4268-F342-297D7CD8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704B5FD0-0F1B-4813-BB0D-458223676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F9EF7168-257E-6293-9FD0-4D04ADFDE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4D9AF2F-8205-3240-D205-8DC2488052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AE8CD-FAC3-447B-AA62-CC577D5700D2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5019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0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900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1485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071094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406837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1666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876394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4252291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Pruno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8"/>
            <a:ext cx="5039442" cy="72000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cxnSp>
        <p:nvCxnSpPr>
          <p:cNvPr id="16" name="Conector recto 15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arcador de posición de imagen 17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1" y="1215043"/>
            <a:ext cx="5760009" cy="5306407"/>
          </a:xfrm>
          <a:custGeom>
            <a:avLst/>
            <a:gdLst>
              <a:gd name="connsiteX0" fmla="*/ 143999 w 5760009"/>
              <a:gd name="connsiteY0" fmla="*/ 0 h 5306407"/>
              <a:gd name="connsiteX1" fmla="*/ 5616010 w 5760009"/>
              <a:gd name="connsiteY1" fmla="*/ 0 h 5306407"/>
              <a:gd name="connsiteX2" fmla="*/ 5760009 w 5760009"/>
              <a:gd name="connsiteY2" fmla="*/ 143999 h 5306407"/>
              <a:gd name="connsiteX3" fmla="*/ 5760009 w 5760009"/>
              <a:gd name="connsiteY3" fmla="*/ 5162407 h 5306407"/>
              <a:gd name="connsiteX4" fmla="*/ 5616009 w 5760009"/>
              <a:gd name="connsiteY4" fmla="*/ 5306407 h 5306407"/>
              <a:gd name="connsiteX5" fmla="*/ 144000 w 5760009"/>
              <a:gd name="connsiteY5" fmla="*/ 5306407 h 5306407"/>
              <a:gd name="connsiteX6" fmla="*/ 0 w 5760009"/>
              <a:gd name="connsiteY6" fmla="*/ 5162407 h 5306407"/>
              <a:gd name="connsiteX7" fmla="*/ 0 w 5760009"/>
              <a:gd name="connsiteY7" fmla="*/ 143999 h 5306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009" h="5306407">
                <a:moveTo>
                  <a:pt x="143999" y="0"/>
                </a:moveTo>
                <a:lnTo>
                  <a:pt x="5616010" y="0"/>
                </a:lnTo>
                <a:lnTo>
                  <a:pt x="5760009" y="143999"/>
                </a:lnTo>
                <a:lnTo>
                  <a:pt x="5760009" y="5162407"/>
                </a:lnTo>
                <a:lnTo>
                  <a:pt x="5616009" y="5306407"/>
                </a:lnTo>
                <a:lnTo>
                  <a:pt x="144000" y="5306407"/>
                </a:lnTo>
                <a:lnTo>
                  <a:pt x="0" y="5162407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685533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Pruno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cxnSp>
        <p:nvCxnSpPr>
          <p:cNvPr id="13" name="Conector recto 12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572643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882000"/>
            <a:ext cx="12192000" cy="5976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cxnSp>
        <p:nvCxnSpPr>
          <p:cNvPr id="13" name="Conector recto 12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479896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29342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578752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 P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687495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Cor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 userDrawn="1"/>
        </p:nvGrpSpPr>
        <p:grpSpPr>
          <a:xfrm>
            <a:off x="2200132" y="-28724"/>
            <a:ext cx="7792835" cy="5589024"/>
            <a:chOff x="2200132" y="1141751"/>
            <a:chExt cx="7792835" cy="5716249"/>
          </a:xfrm>
        </p:grpSpPr>
        <p:cxnSp>
          <p:nvCxnSpPr>
            <p:cNvPr id="14" name="Straight Connector 8">
              <a:extLst>
                <a:ext uri="{FF2B5EF4-FFF2-40B4-BE49-F238E27FC236}">
                  <a16:creationId xmlns:a16="http://schemas.microsoft.com/office/drawing/2014/main" id="{B6A8FCB8-2780-6C99-E9FA-647662FFE9E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200132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9">
              <a:extLst>
                <a:ext uri="{FF2B5EF4-FFF2-40B4-BE49-F238E27FC236}">
                  <a16:creationId xmlns:a16="http://schemas.microsoft.com/office/drawing/2014/main" id="{16BC131E-F13E-4A4E-2CB8-E110B0003A3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148341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0">
              <a:extLst>
                <a:ext uri="{FF2B5EF4-FFF2-40B4-BE49-F238E27FC236}">
                  <a16:creationId xmlns:a16="http://schemas.microsoft.com/office/drawing/2014/main" id="{AC5A2131-0258-D95F-F5B8-19FDBACC325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96550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1">
              <a:extLst>
                <a:ext uri="{FF2B5EF4-FFF2-40B4-BE49-F238E27FC236}">
                  <a16:creationId xmlns:a16="http://schemas.microsoft.com/office/drawing/2014/main" id="{7BD79059-6F36-BFA3-7DDC-C0893AD3334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044758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2">
              <a:extLst>
                <a:ext uri="{FF2B5EF4-FFF2-40B4-BE49-F238E27FC236}">
                  <a16:creationId xmlns:a16="http://schemas.microsoft.com/office/drawing/2014/main" id="{413A3459-4321-35B0-994B-CBD8A883F36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92967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926D6439-8725-39F1-4A28-9C2366C653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1167009"/>
            <a:ext cx="1778951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B7A62E-2BCA-D963-A460-1783D45222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4755" y="3391225"/>
            <a:ext cx="1778955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02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A238FCE0-4BCC-E0F8-5E51-41C6FDE6D0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2963" y="1167010"/>
            <a:ext cx="1778959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03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2F639E73-924B-CDEB-8510-64566A67CB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1173" y="3391225"/>
            <a:ext cx="1778957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04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ECA4C82-8B07-D070-CE1B-E96A1D6742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9381" y="1158772"/>
            <a:ext cx="1778959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05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5BA8B66C-5412-698B-F516-A44B62FBE6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77592" y="3391225"/>
            <a:ext cx="1778957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06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E37D9BF6-ADF8-B12D-DABC-084AA557DD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547" y="2585149"/>
            <a:ext cx="1778954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E79B31AE-879A-F3D3-0223-72DE2A0026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2964" y="2585149"/>
            <a:ext cx="177895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1C07E858-A18A-B5A1-F4FC-ED46EDA794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4758" y="4870204"/>
            <a:ext cx="177895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341CAE29-FF6A-BA8E-FA2D-95B59457FA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172" y="4870204"/>
            <a:ext cx="1778957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CBD99E4A-9937-9DAD-51BF-769B27DDF4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77593" y="4870204"/>
            <a:ext cx="1778956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5A53FC6-34CD-D634-D1A6-D31DF8005B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382" y="2585149"/>
            <a:ext cx="177895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C5BF7C-CE4E-6750-974C-3DB3552AD46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E288E33-F908-7F76-A4EE-BAFD7D40B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55BA414-2DA7-B802-8994-77AA48BB3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5529AE7-0644-F63B-6664-38DE8CD0E9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CCF51DDB-13C2-3166-9AEA-AD3278D11A23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90509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Lar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C3F26EEC-0020-0C86-2DF5-24EC7311C6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78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1DB0F80E-8162-FAD4-EBDF-AEF08722C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78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02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40C11C35-38FB-AD08-6300-1DABA045F1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78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03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2A0B644C-DE96-3324-906B-1D86FAD3D4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78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04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7CFDB9CC-EEDA-1464-D070-38298816DA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5252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05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3E6BDC40-8B07-44FA-94FA-BE03063BD7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5252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06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DAE16205-E178-5D19-7A9E-D5D1C0C2DA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5252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07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2ECF5A5E-2767-C8CC-7F70-69FF83596A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35252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08</a:t>
            </a:r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C8E863FA-111C-8652-3E8D-5FA8973B2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9453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09</a:t>
            </a:r>
          </a:p>
        </p:txBody>
      </p:sp>
      <p:sp>
        <p:nvSpPr>
          <p:cNvPr id="43" name="Text Placeholder 15">
            <a:extLst>
              <a:ext uri="{FF2B5EF4-FFF2-40B4-BE49-F238E27FC236}">
                <a16:creationId xmlns:a16="http://schemas.microsoft.com/office/drawing/2014/main" id="{E252F4E7-C057-8265-2AFF-DD9E6402EB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9453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10</a:t>
            </a:r>
          </a:p>
        </p:txBody>
      </p:sp>
      <p:sp>
        <p:nvSpPr>
          <p:cNvPr id="44" name="Text Placeholder 15">
            <a:extLst>
              <a:ext uri="{FF2B5EF4-FFF2-40B4-BE49-F238E27FC236}">
                <a16:creationId xmlns:a16="http://schemas.microsoft.com/office/drawing/2014/main" id="{1C071B54-C34C-81FC-8886-0AB96E569EA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9453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11</a:t>
            </a:r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89441B5A-C5B0-3CF8-4A72-32AED17D68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9453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12</a:t>
            </a:r>
          </a:p>
        </p:txBody>
      </p:sp>
      <p:sp>
        <p:nvSpPr>
          <p:cNvPr id="46" name="Text Placeholder 29">
            <a:extLst>
              <a:ext uri="{FF2B5EF4-FFF2-40B4-BE49-F238E27FC236}">
                <a16:creationId xmlns:a16="http://schemas.microsoft.com/office/drawing/2014/main" id="{A8D8D8B9-84E4-A5EF-F781-F6C079126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71320" y="1344706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C13947E4-99B4-7AAC-D4E2-44B058ADA5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63229" y="1344706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8" name="Text Placeholder 29">
            <a:extLst>
              <a:ext uri="{FF2B5EF4-FFF2-40B4-BE49-F238E27FC236}">
                <a16:creationId xmlns:a16="http://schemas.microsoft.com/office/drawing/2014/main" id="{BDE6CC3C-373A-B999-5D79-FFCFAFEB7F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57430" y="1344706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6DB00DA2-69CE-BC0C-DDEC-418E42272E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71320" y="2561170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0" name="Text Placeholder 29">
            <a:extLst>
              <a:ext uri="{FF2B5EF4-FFF2-40B4-BE49-F238E27FC236}">
                <a16:creationId xmlns:a16="http://schemas.microsoft.com/office/drawing/2014/main" id="{D703D0F6-7A49-B8AD-09E8-BCA907FA30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3229" y="2561170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1" name="Text Placeholder 29">
            <a:extLst>
              <a:ext uri="{FF2B5EF4-FFF2-40B4-BE49-F238E27FC236}">
                <a16:creationId xmlns:a16="http://schemas.microsoft.com/office/drawing/2014/main" id="{83C73E6B-5B9D-5213-4965-03CBE1E10B8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57430" y="2561170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2" name="Text Placeholder 29">
            <a:extLst>
              <a:ext uri="{FF2B5EF4-FFF2-40B4-BE49-F238E27FC236}">
                <a16:creationId xmlns:a16="http://schemas.microsoft.com/office/drawing/2014/main" id="{19298D4F-2241-442E-E7CB-91F49188044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71320" y="3777634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3" name="Text Placeholder 29">
            <a:extLst>
              <a:ext uri="{FF2B5EF4-FFF2-40B4-BE49-F238E27FC236}">
                <a16:creationId xmlns:a16="http://schemas.microsoft.com/office/drawing/2014/main" id="{4C527113-8DC6-9092-73E3-D528F18FE19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63229" y="3777634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4" name="Text Placeholder 29">
            <a:extLst>
              <a:ext uri="{FF2B5EF4-FFF2-40B4-BE49-F238E27FC236}">
                <a16:creationId xmlns:a16="http://schemas.microsoft.com/office/drawing/2014/main" id="{B25D650E-E87E-D127-E5BD-1E0387F71E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57430" y="3777634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C847FB7D-9A35-446B-1889-B65B833601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71320" y="4994099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6" name="Text Placeholder 29">
            <a:extLst>
              <a:ext uri="{FF2B5EF4-FFF2-40B4-BE49-F238E27FC236}">
                <a16:creationId xmlns:a16="http://schemas.microsoft.com/office/drawing/2014/main" id="{8F3BF73A-DEC0-5BB6-527D-9A16E2C35EA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63229" y="4994099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6135C823-B0CF-87E9-1E61-97A2FA3D88B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57430" y="4994099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7696" marR="0" indent="0" algn="l" defTabSz="914377" rtl="0" eaLnBrk="1" fontAlgn="auto" latinLnBrk="0" hangingPunct="1">
              <a:lnSpc>
                <a:spcPct val="100000"/>
              </a:lnSpc>
              <a:spcBef>
                <a:spcPts val="6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cxnSp>
        <p:nvCxnSpPr>
          <p:cNvPr id="92" name="Straight Connector 8">
            <a:extLst>
              <a:ext uri="{FF2B5EF4-FFF2-40B4-BE49-F238E27FC236}">
                <a16:creationId xmlns:a16="http://schemas.microsoft.com/office/drawing/2014/main" id="{B6A8FCB8-2780-6C99-E9FA-647662FFE9E1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3645" y="0"/>
            <a:ext cx="0" cy="5589024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8">
            <a:extLst>
              <a:ext uri="{FF2B5EF4-FFF2-40B4-BE49-F238E27FC236}">
                <a16:creationId xmlns:a16="http://schemas.microsoft.com/office/drawing/2014/main" id="{B6A8FCB8-2780-6C99-E9FA-647662FFE9E1}"/>
              </a:ext>
            </a:extLst>
          </p:cNvPr>
          <p:cNvCxnSpPr>
            <a:cxnSpLocks/>
          </p:cNvCxnSpPr>
          <p:nvPr userDrawn="1"/>
        </p:nvCxnSpPr>
        <p:spPr>
          <a:xfrm flipV="1">
            <a:off x="7962348" y="0"/>
            <a:ext cx="0" cy="5589024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695BC88D-D249-A81C-4223-3B5460582D2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23A223C-0062-E4B2-1155-59EF30895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014EB4C-E7E9-A990-8AB7-7853B935C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F209FDE-5C50-47FA-8776-5FC05E1593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366FAE1B-664C-6804-48D1-304EAA5E4C0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640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2656"/>
            <a:ext cx="8639482" cy="1872208"/>
          </a:xfrm>
        </p:spPr>
        <p:txBody>
          <a:bodyPr anchor="t" anchorCtr="0"/>
          <a:lstStyle>
            <a:lvl1pPr>
              <a:defRPr sz="4800"/>
            </a:lvl1pPr>
          </a:lstStyle>
          <a:p>
            <a:r>
              <a:rPr lang="es-ES" dirty="0"/>
              <a:t>Escribe aquí el título de la separata principal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419458" cy="203132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8639483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principal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DD05BA3-2EC1-2EB2-D8F6-4B5F3C46436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445EB3B-698D-D4B6-C8E0-03CF2372B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8FE4A80-1E80-18F8-69C4-08BAC9FB7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9AB5319-7441-B665-8C83-D1819F27DD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D347BAB2-2F9E-1721-E15B-051A29B1A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26774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Principal+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1200"/>
            <a:ext cx="8639482" cy="1645205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s-ES" dirty="0"/>
              <a:t>Escribe aquí el título de la separata principal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082908" cy="203132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5200"/>
            <a:ext cx="8639483" cy="45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principal</a:t>
            </a:r>
          </a:p>
        </p:txBody>
      </p:sp>
      <p:sp>
        <p:nvSpPr>
          <p:cNvPr id="25" name="Marcador de posición de imagen 24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429001"/>
            <a:ext cx="9001601" cy="2771774"/>
          </a:xfrm>
          <a:custGeom>
            <a:avLst/>
            <a:gdLst>
              <a:gd name="connsiteX0" fmla="*/ 143999 w 9001601"/>
              <a:gd name="connsiteY0" fmla="*/ 0 h 2771774"/>
              <a:gd name="connsiteX1" fmla="*/ 8857601 w 9001601"/>
              <a:gd name="connsiteY1" fmla="*/ 0 h 2771774"/>
              <a:gd name="connsiteX2" fmla="*/ 9001601 w 9001601"/>
              <a:gd name="connsiteY2" fmla="*/ 143999 h 2771774"/>
              <a:gd name="connsiteX3" fmla="*/ 9001601 w 9001601"/>
              <a:gd name="connsiteY3" fmla="*/ 2627774 h 2771774"/>
              <a:gd name="connsiteX4" fmla="*/ 8857600 w 9001601"/>
              <a:gd name="connsiteY4" fmla="*/ 2771774 h 2771774"/>
              <a:gd name="connsiteX5" fmla="*/ 144000 w 9001601"/>
              <a:gd name="connsiteY5" fmla="*/ 2771774 h 2771774"/>
              <a:gd name="connsiteX6" fmla="*/ 0 w 9001601"/>
              <a:gd name="connsiteY6" fmla="*/ 2627774 h 2771774"/>
              <a:gd name="connsiteX7" fmla="*/ 0 w 9001601"/>
              <a:gd name="connsiteY7" fmla="*/ 143999 h 2771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01601" h="2771774">
                <a:moveTo>
                  <a:pt x="143999" y="0"/>
                </a:moveTo>
                <a:lnTo>
                  <a:pt x="8857601" y="0"/>
                </a:lnTo>
                <a:lnTo>
                  <a:pt x="9001601" y="143999"/>
                </a:lnTo>
                <a:lnTo>
                  <a:pt x="9001601" y="2627774"/>
                </a:lnTo>
                <a:lnTo>
                  <a:pt x="8857600" y="2771774"/>
                </a:lnTo>
                <a:lnTo>
                  <a:pt x="144000" y="2771774"/>
                </a:lnTo>
                <a:lnTo>
                  <a:pt x="0" y="2627774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286293-07F5-4E95-C5BF-43AFA5C0D14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3A42399-46BB-5ADD-2CCB-5AF4E37E8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7C72EAA-138C-6078-DB30-15E77237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EE04412-EC0D-4DB5-06EC-46BE99DABB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CACF80FD-132D-D661-6470-17B3B83CA4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9798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Secundaria sin imag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2656"/>
            <a:ext cx="6479530" cy="1872208"/>
          </a:xfrm>
        </p:spPr>
        <p:txBody>
          <a:bodyPr anchor="t" anchorCtr="0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separata secundaria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082908" cy="11079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7200">
                <a:solidFill>
                  <a:schemeClr val="bg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1.1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8639483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secundaria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DD05BA3-2EC1-2EB2-D8F6-4B5F3C46436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chemeClr val="bg1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445EB3B-698D-D4B6-C8E0-03CF2372B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8FE4A80-1E80-18F8-69C4-08BAC9FB7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9AB5319-7441-B665-8C83-D1819F27DD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29A7072-40BD-AE57-A5CA-94D1543E8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385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Secundaria+Imagen---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57301" y="334963"/>
            <a:ext cx="1998150" cy="11079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720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1.1</a:t>
            </a:r>
          </a:p>
        </p:txBody>
      </p:sp>
      <p:cxnSp>
        <p:nvCxnSpPr>
          <p:cNvPr id="78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65481" y="1"/>
            <a:ext cx="0" cy="620077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arcador de posición de imagen 15"/>
          <p:cNvSpPr>
            <a:spLocks noGrp="1"/>
          </p:cNvSpPr>
          <p:nvPr>
            <p:ph type="pic" sz="quarter" idx="16" hasCustomPrompt="1"/>
          </p:nvPr>
        </p:nvSpPr>
        <p:spPr>
          <a:xfrm>
            <a:off x="336552" y="3429003"/>
            <a:ext cx="6674969" cy="2771772"/>
          </a:xfrm>
          <a:custGeom>
            <a:avLst/>
            <a:gdLst>
              <a:gd name="connsiteX0" fmla="*/ 143999 w 6674969"/>
              <a:gd name="connsiteY0" fmla="*/ 0 h 2771772"/>
              <a:gd name="connsiteX1" fmla="*/ 6530968 w 6674969"/>
              <a:gd name="connsiteY1" fmla="*/ 0 h 2771772"/>
              <a:gd name="connsiteX2" fmla="*/ 6674969 w 6674969"/>
              <a:gd name="connsiteY2" fmla="*/ 144000 h 2771772"/>
              <a:gd name="connsiteX3" fmla="*/ 6674969 w 6674969"/>
              <a:gd name="connsiteY3" fmla="*/ 2627772 h 2771772"/>
              <a:gd name="connsiteX4" fmla="*/ 6530968 w 6674969"/>
              <a:gd name="connsiteY4" fmla="*/ 2771772 h 2771772"/>
              <a:gd name="connsiteX5" fmla="*/ 143999 w 6674969"/>
              <a:gd name="connsiteY5" fmla="*/ 2771772 h 2771772"/>
              <a:gd name="connsiteX6" fmla="*/ 0 w 6674969"/>
              <a:gd name="connsiteY6" fmla="*/ 2627773 h 2771772"/>
              <a:gd name="connsiteX7" fmla="*/ 0 w 6674969"/>
              <a:gd name="connsiteY7" fmla="*/ 143999 h 277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74969" h="2771772">
                <a:moveTo>
                  <a:pt x="143999" y="0"/>
                </a:moveTo>
                <a:lnTo>
                  <a:pt x="6530968" y="0"/>
                </a:lnTo>
                <a:lnTo>
                  <a:pt x="6674969" y="144000"/>
                </a:lnTo>
                <a:lnTo>
                  <a:pt x="6674969" y="2627772"/>
                </a:lnTo>
                <a:lnTo>
                  <a:pt x="6530968" y="2771772"/>
                </a:lnTo>
                <a:lnTo>
                  <a:pt x="143999" y="2771772"/>
                </a:lnTo>
                <a:lnTo>
                  <a:pt x="0" y="2627773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8" name="Group 4">
            <a:extLst>
              <a:ext uri="{FF2B5EF4-FFF2-40B4-BE49-F238E27FC236}">
                <a16:creationId xmlns:a16="http://schemas.microsoft.com/office/drawing/2014/main" id="{902F0385-1811-8077-3D24-2BE5366C0F2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77B5BE9F-3707-F66C-3805-0D759BA41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F0C503CA-93A0-6E08-D670-3BB3A1DA9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57770C9F-89D2-B362-0944-27F1E8C990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Marcador de pie de página 22">
            <a:extLst>
              <a:ext uri="{FF2B5EF4-FFF2-40B4-BE49-F238E27FC236}">
                <a16:creationId xmlns:a16="http://schemas.microsoft.com/office/drawing/2014/main" id="{B068EF0A-944B-F84F-560E-7455951F135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24" name="Título 23">
            <a:extLst>
              <a:ext uri="{FF2B5EF4-FFF2-40B4-BE49-F238E27FC236}">
                <a16:creationId xmlns:a16="http://schemas.microsoft.com/office/drawing/2014/main" id="{5AE1A92F-AF49-E38E-CB1F-BA9AAE53EC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550" y="334964"/>
            <a:ext cx="6551538" cy="172588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800" b="0" i="0" u="none" strike="noStrike" kern="1200" cap="none" spc="0" normalizeH="0" baseline="0" noProof="0" dirty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Escribe aquí el título separata secundaria</a:t>
            </a:r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11CB666B-4C20-26BF-BCE8-F6A061D2D2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6551539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secundaria</a:t>
            </a:r>
          </a:p>
        </p:txBody>
      </p:sp>
    </p:spTree>
    <p:extLst>
      <p:ext uri="{BB962C8B-B14F-4D97-AF65-F5344CB8AC3E}">
        <p14:creationId xmlns:p14="http://schemas.microsoft.com/office/powerpoint/2010/main" val="1002521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Ceramic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8391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- Texto - Sin antetitulo_Ceramic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0273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87512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41331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9566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4471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Sin antetitulo_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0273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87512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41331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42720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07310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Sin antetitulo_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9898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97137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50955"/>
            <a:ext cx="11522075" cy="4149819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2530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Pruno Oscu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5054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- Texto - Sin antetitulo_Pruno Oscu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9898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97137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50955"/>
            <a:ext cx="11522075" cy="4149819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70358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34964"/>
            <a:ext cx="11518899" cy="5865810"/>
          </a:xfrm>
          <a:custGeom>
            <a:avLst/>
            <a:gdLst>
              <a:gd name="connsiteX0" fmla="*/ 144000 w 11518899"/>
              <a:gd name="connsiteY0" fmla="*/ 0 h 5865810"/>
              <a:gd name="connsiteX1" fmla="*/ 11374898 w 11518899"/>
              <a:gd name="connsiteY1" fmla="*/ 0 h 5865810"/>
              <a:gd name="connsiteX2" fmla="*/ 11518899 w 11518899"/>
              <a:gd name="connsiteY2" fmla="*/ 144000 h 5865810"/>
              <a:gd name="connsiteX3" fmla="*/ 11518899 w 11518899"/>
              <a:gd name="connsiteY3" fmla="*/ 5721810 h 5865810"/>
              <a:gd name="connsiteX4" fmla="*/ 11374898 w 11518899"/>
              <a:gd name="connsiteY4" fmla="*/ 5865810 h 5865810"/>
              <a:gd name="connsiteX5" fmla="*/ 144000 w 11518899"/>
              <a:gd name="connsiteY5" fmla="*/ 5865810 h 5865810"/>
              <a:gd name="connsiteX6" fmla="*/ 0 w 11518899"/>
              <a:gd name="connsiteY6" fmla="*/ 5721810 h 5865810"/>
              <a:gd name="connsiteX7" fmla="*/ 0 w 11518899"/>
              <a:gd name="connsiteY7" fmla="*/ 144000 h 586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9" h="5865810">
                <a:moveTo>
                  <a:pt x="144000" y="0"/>
                </a:moveTo>
                <a:lnTo>
                  <a:pt x="11374898" y="0"/>
                </a:lnTo>
                <a:lnTo>
                  <a:pt x="11518899" y="144000"/>
                </a:lnTo>
                <a:lnTo>
                  <a:pt x="11518899" y="5721810"/>
                </a:lnTo>
                <a:lnTo>
                  <a:pt x="11374898" y="5865810"/>
                </a:lnTo>
                <a:lnTo>
                  <a:pt x="144000" y="5865810"/>
                </a:lnTo>
                <a:lnTo>
                  <a:pt x="0" y="5721810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3371C36-3C07-2926-2DF2-88E1A17B726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51260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34964"/>
            <a:ext cx="11518899" cy="5865810"/>
          </a:xfrm>
          <a:custGeom>
            <a:avLst/>
            <a:gdLst>
              <a:gd name="connsiteX0" fmla="*/ 144000 w 11518899"/>
              <a:gd name="connsiteY0" fmla="*/ 0 h 5865810"/>
              <a:gd name="connsiteX1" fmla="*/ 11374898 w 11518899"/>
              <a:gd name="connsiteY1" fmla="*/ 0 h 5865810"/>
              <a:gd name="connsiteX2" fmla="*/ 11518899 w 11518899"/>
              <a:gd name="connsiteY2" fmla="*/ 144000 h 5865810"/>
              <a:gd name="connsiteX3" fmla="*/ 11518899 w 11518899"/>
              <a:gd name="connsiteY3" fmla="*/ 5721810 h 5865810"/>
              <a:gd name="connsiteX4" fmla="*/ 11374898 w 11518899"/>
              <a:gd name="connsiteY4" fmla="*/ 5865810 h 5865810"/>
              <a:gd name="connsiteX5" fmla="*/ 144000 w 11518899"/>
              <a:gd name="connsiteY5" fmla="*/ 5865810 h 5865810"/>
              <a:gd name="connsiteX6" fmla="*/ 0 w 11518899"/>
              <a:gd name="connsiteY6" fmla="*/ 5721810 h 5865810"/>
              <a:gd name="connsiteX7" fmla="*/ 0 w 11518899"/>
              <a:gd name="connsiteY7" fmla="*/ 144000 h 586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9" h="5865810">
                <a:moveTo>
                  <a:pt x="144000" y="0"/>
                </a:moveTo>
                <a:lnTo>
                  <a:pt x="11374898" y="0"/>
                </a:lnTo>
                <a:lnTo>
                  <a:pt x="11518899" y="144000"/>
                </a:lnTo>
                <a:lnTo>
                  <a:pt x="11518899" y="5721810"/>
                </a:lnTo>
                <a:lnTo>
                  <a:pt x="11374898" y="5865810"/>
                </a:lnTo>
                <a:lnTo>
                  <a:pt x="144000" y="5865810"/>
                </a:lnTo>
                <a:lnTo>
                  <a:pt x="0" y="5721810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DE91A90-7186-B447-0800-01631DFCA90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2489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+Full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posición de imagen 10"/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12192000" cy="6858000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336550" y="334964"/>
            <a:ext cx="11518900" cy="84401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s-ES" dirty="0"/>
              <a:t>Escribe aquí el título principal de la diapositiva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68978"/>
            <a:ext cx="11521678" cy="63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Escribe aquí el subtítulo de la diapositiva</a:t>
            </a:r>
            <a:endParaRPr lang="en-GB" noProof="1"/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5360" y="1988987"/>
            <a:ext cx="11520090" cy="42117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el contenido de la diapositiva</a:t>
            </a:r>
          </a:p>
        </p:txBody>
      </p:sp>
      <p:sp>
        <p:nvSpPr>
          <p:cNvPr id="13" name="Marcador de número de diapositiva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113D76D-64FF-C76D-9002-C06A401ADC1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4082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dea Principal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794485" y="2650420"/>
            <a:ext cx="8621563" cy="837152"/>
          </a:xfrm>
        </p:spPr>
        <p:txBody>
          <a:bodyPr anchor="ctr" anchorCtr="0">
            <a:spAutoFit/>
          </a:bodyPr>
          <a:lstStyle>
            <a:lvl1pPr>
              <a:defRPr baseline="0"/>
            </a:lvl1pPr>
          </a:lstStyle>
          <a:p>
            <a:r>
              <a:rPr lang="es-ES" dirty="0"/>
              <a:t>Escribe aquí </a:t>
            </a:r>
            <a:r>
              <a:rPr lang="es-ES" noProof="1"/>
              <a:t>un texto destacado o una idea principal</a:t>
            </a:r>
            <a:endParaRPr lang="es-ES" dirty="0"/>
          </a:p>
        </p:txBody>
      </p:sp>
      <p:sp>
        <p:nvSpPr>
          <p:cNvPr id="11" name="ChaflanFigura_5"/>
          <p:cNvSpPr/>
          <p:nvPr userDrawn="1"/>
        </p:nvSpPr>
        <p:spPr>
          <a:xfrm>
            <a:off x="336550" y="334963"/>
            <a:ext cx="11518900" cy="5865812"/>
          </a:xfrm>
          <a:custGeom>
            <a:avLst/>
            <a:gdLst/>
            <a:ahLst/>
            <a:cxnLst/>
            <a:rect l="0" t="0" r="0" b="0"/>
            <a:pathLst>
              <a:path w="11518901" h="5865813">
                <a:moveTo>
                  <a:pt x="144000" y="0"/>
                </a:moveTo>
                <a:lnTo>
                  <a:pt x="11374899" y="0"/>
                </a:lnTo>
                <a:lnTo>
                  <a:pt x="11518900" y="144000"/>
                </a:lnTo>
                <a:lnTo>
                  <a:pt x="11518900" y="5721812"/>
                </a:lnTo>
                <a:lnTo>
                  <a:pt x="11374899" y="5865812"/>
                </a:lnTo>
                <a:lnTo>
                  <a:pt x="144000" y="5865812"/>
                </a:lnTo>
                <a:lnTo>
                  <a:pt x="0" y="5721812"/>
                </a:lnTo>
                <a:lnTo>
                  <a:pt x="0" y="144000"/>
                </a:lnTo>
                <a:close/>
              </a:path>
            </a:pathLst>
          </a:cu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138F990-2C84-4C3C-4F42-93820FCB45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34467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dea Principal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794485" y="2650420"/>
            <a:ext cx="8621563" cy="837152"/>
          </a:xfrm>
        </p:spPr>
        <p:txBody>
          <a:bodyPr anchor="ctr" anchorCtr="0">
            <a:spAutoFit/>
          </a:bodyPr>
          <a:lstStyle>
            <a:lvl1pPr>
              <a:defRPr baseline="0"/>
            </a:lvl1pPr>
          </a:lstStyle>
          <a:p>
            <a:r>
              <a:rPr lang="es-ES" dirty="0"/>
              <a:t>Escribe aquí </a:t>
            </a:r>
            <a:r>
              <a:rPr lang="es-ES" noProof="1"/>
              <a:t>un texto destacado o una idea principal</a:t>
            </a:r>
            <a:endParaRPr lang="es-ES" dirty="0"/>
          </a:p>
        </p:txBody>
      </p:sp>
      <p:sp>
        <p:nvSpPr>
          <p:cNvPr id="11" name="ChaflanFigura_5"/>
          <p:cNvSpPr/>
          <p:nvPr userDrawn="1"/>
        </p:nvSpPr>
        <p:spPr>
          <a:xfrm>
            <a:off x="336550" y="334963"/>
            <a:ext cx="11518900" cy="5865812"/>
          </a:xfrm>
          <a:custGeom>
            <a:avLst/>
            <a:gdLst/>
            <a:ahLst/>
            <a:cxnLst/>
            <a:rect l="0" t="0" r="0" b="0"/>
            <a:pathLst>
              <a:path w="11518901" h="5865813">
                <a:moveTo>
                  <a:pt x="144000" y="0"/>
                </a:moveTo>
                <a:lnTo>
                  <a:pt x="11374899" y="0"/>
                </a:lnTo>
                <a:lnTo>
                  <a:pt x="11518900" y="144000"/>
                </a:lnTo>
                <a:lnTo>
                  <a:pt x="11518900" y="5721812"/>
                </a:lnTo>
                <a:lnTo>
                  <a:pt x="11374899" y="5865812"/>
                </a:lnTo>
                <a:lnTo>
                  <a:pt x="144000" y="5865812"/>
                </a:lnTo>
                <a:lnTo>
                  <a:pt x="0" y="5721812"/>
                </a:lnTo>
                <a:lnTo>
                  <a:pt x="0" y="144000"/>
                </a:lnTo>
                <a:close/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031AFC-7CAC-27B3-53FB-B27A233E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7041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54512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_ Blanc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40498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_Prun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61174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>
            <a:off x="9372996" y="0"/>
            <a:ext cx="0" cy="345600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9552384" y="3133865"/>
            <a:ext cx="230306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rgbClr val="FFFFFF"/>
                </a:solidFill>
                <a:cs typeface="Trebuchet MS"/>
              </a:rPr>
              <a:t>Tech </a:t>
            </a:r>
            <a:r>
              <a:rPr lang="en-GB" sz="2400" noProof="1">
                <a:solidFill>
                  <a:schemeClr val="tx1"/>
                </a:solidFill>
                <a:cs typeface="Trebuchet MS"/>
              </a:rPr>
              <a:t>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216600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570062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216600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>
            <a:off x="9372996" y="0"/>
            <a:ext cx="0" cy="3456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9552384" y="3133865"/>
            <a:ext cx="230306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chemeClr val="tx1"/>
                </a:solidFill>
                <a:cs typeface="Trebuchet MS"/>
              </a:rPr>
              <a:t>Tech for 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22870500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Datos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149009"/>
            <a:ext cx="321568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334962" y="3429000"/>
            <a:ext cx="2376661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rgbClr val="FFFFFF"/>
                </a:solidFill>
                <a:cs typeface="Trebuchet MS"/>
              </a:rPr>
              <a:t>Tech </a:t>
            </a:r>
            <a:r>
              <a:rPr lang="en-GB" sz="2400" noProof="1">
                <a:solidFill>
                  <a:schemeClr val="tx1"/>
                </a:solidFill>
                <a:cs typeface="Trebuchet MS"/>
              </a:rPr>
              <a:t>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  <p:sp>
        <p:nvSpPr>
          <p:cNvPr id="10" name="Marcador de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352122" y="4581127"/>
            <a:ext cx="2863557" cy="1619647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Avenida De Bruselas, 35, Alcobendas, Madrid, 28108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T. (+34) 914 805 002 </a:t>
            </a:r>
            <a:br>
              <a:rPr lang="en-GB" sz="1200" noProof="1"/>
            </a:br>
            <a:r>
              <a:rPr lang="en-GB" sz="1200" noProof="1"/>
              <a:t>F. (+34) 914 805 080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674710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Datos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149009"/>
            <a:ext cx="3215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Marcador de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352122" y="4581127"/>
            <a:ext cx="2863557" cy="1619647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Avenida De Bruselas, 35, Alcobendas, Madrid, 28108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T. (+34) 914 805 002 </a:t>
            </a:r>
            <a:br>
              <a:rPr lang="en-GB" sz="1200" noProof="1"/>
            </a:br>
            <a:r>
              <a:rPr lang="en-GB" sz="1200" noProof="1"/>
              <a:t>F. (+34) 914 805 080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20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334962" y="3429000"/>
            <a:ext cx="2376661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chemeClr val="tx1"/>
                </a:solidFill>
                <a:cs typeface="Trebuchet MS"/>
              </a:rPr>
              <a:t>Tech 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</p:spTree>
    <p:extLst>
      <p:ext uri="{BB962C8B-B14F-4D97-AF65-F5344CB8AC3E}">
        <p14:creationId xmlns:p14="http://schemas.microsoft.com/office/powerpoint/2010/main" val="2493416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Pruno -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754737" y="3168013"/>
            <a:ext cx="2682526" cy="255600"/>
            <a:chOff x="680" y="1856"/>
            <a:chExt cx="6318" cy="602"/>
          </a:xfrm>
          <a:solidFill>
            <a:srgbClr val="FFFFFF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731992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Cerámica - LO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754737" y="3168013"/>
            <a:ext cx="2682526" cy="255600"/>
            <a:chOff x="680" y="1856"/>
            <a:chExt cx="6318" cy="602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761095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426834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167342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2014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63128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632923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Pruno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8"/>
            <a:ext cx="5039442" cy="72000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cxnSp>
        <p:nvCxnSpPr>
          <p:cNvPr id="16" name="Conector recto 15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arcador de posición de imagen 17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1" y="1215043"/>
            <a:ext cx="5760009" cy="5306407"/>
          </a:xfrm>
          <a:custGeom>
            <a:avLst/>
            <a:gdLst>
              <a:gd name="connsiteX0" fmla="*/ 143999 w 5760009"/>
              <a:gd name="connsiteY0" fmla="*/ 0 h 5306407"/>
              <a:gd name="connsiteX1" fmla="*/ 5616010 w 5760009"/>
              <a:gd name="connsiteY1" fmla="*/ 0 h 5306407"/>
              <a:gd name="connsiteX2" fmla="*/ 5760009 w 5760009"/>
              <a:gd name="connsiteY2" fmla="*/ 143999 h 5306407"/>
              <a:gd name="connsiteX3" fmla="*/ 5760009 w 5760009"/>
              <a:gd name="connsiteY3" fmla="*/ 5162407 h 5306407"/>
              <a:gd name="connsiteX4" fmla="*/ 5616009 w 5760009"/>
              <a:gd name="connsiteY4" fmla="*/ 5306407 h 5306407"/>
              <a:gd name="connsiteX5" fmla="*/ 144000 w 5760009"/>
              <a:gd name="connsiteY5" fmla="*/ 5306407 h 5306407"/>
              <a:gd name="connsiteX6" fmla="*/ 0 w 5760009"/>
              <a:gd name="connsiteY6" fmla="*/ 5162407 h 5306407"/>
              <a:gd name="connsiteX7" fmla="*/ 0 w 5760009"/>
              <a:gd name="connsiteY7" fmla="*/ 143999 h 5306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009" h="5306407">
                <a:moveTo>
                  <a:pt x="143999" y="0"/>
                </a:moveTo>
                <a:lnTo>
                  <a:pt x="5616010" y="0"/>
                </a:lnTo>
                <a:lnTo>
                  <a:pt x="5760009" y="143999"/>
                </a:lnTo>
                <a:lnTo>
                  <a:pt x="5760009" y="5162407"/>
                </a:lnTo>
                <a:lnTo>
                  <a:pt x="5616009" y="5306407"/>
                </a:lnTo>
                <a:lnTo>
                  <a:pt x="144000" y="5306407"/>
                </a:lnTo>
                <a:lnTo>
                  <a:pt x="0" y="5162407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77211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Pruno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cxnSp>
        <p:nvCxnSpPr>
          <p:cNvPr id="13" name="Conector recto 12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610102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882000"/>
            <a:ext cx="12192000" cy="5976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cxnSp>
        <p:nvCxnSpPr>
          <p:cNvPr id="13" name="Conector recto 12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414655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6807135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337036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 P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3336183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Cor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 userDrawn="1"/>
        </p:nvGrpSpPr>
        <p:grpSpPr>
          <a:xfrm>
            <a:off x="2200132" y="-28724"/>
            <a:ext cx="7792835" cy="5589024"/>
            <a:chOff x="2200132" y="1141751"/>
            <a:chExt cx="7792835" cy="5716249"/>
          </a:xfrm>
        </p:grpSpPr>
        <p:cxnSp>
          <p:nvCxnSpPr>
            <p:cNvPr id="14" name="Straight Connector 8">
              <a:extLst>
                <a:ext uri="{FF2B5EF4-FFF2-40B4-BE49-F238E27FC236}">
                  <a16:creationId xmlns:a16="http://schemas.microsoft.com/office/drawing/2014/main" id="{B6A8FCB8-2780-6C99-E9FA-647662FFE9E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200132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9">
              <a:extLst>
                <a:ext uri="{FF2B5EF4-FFF2-40B4-BE49-F238E27FC236}">
                  <a16:creationId xmlns:a16="http://schemas.microsoft.com/office/drawing/2014/main" id="{16BC131E-F13E-4A4E-2CB8-E110B0003A3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148341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0">
              <a:extLst>
                <a:ext uri="{FF2B5EF4-FFF2-40B4-BE49-F238E27FC236}">
                  <a16:creationId xmlns:a16="http://schemas.microsoft.com/office/drawing/2014/main" id="{AC5A2131-0258-D95F-F5B8-19FDBACC325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96550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1">
              <a:extLst>
                <a:ext uri="{FF2B5EF4-FFF2-40B4-BE49-F238E27FC236}">
                  <a16:creationId xmlns:a16="http://schemas.microsoft.com/office/drawing/2014/main" id="{7BD79059-6F36-BFA3-7DDC-C0893AD3334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044758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2">
              <a:extLst>
                <a:ext uri="{FF2B5EF4-FFF2-40B4-BE49-F238E27FC236}">
                  <a16:creationId xmlns:a16="http://schemas.microsoft.com/office/drawing/2014/main" id="{413A3459-4321-35B0-994B-CBD8A883F36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92967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926D6439-8725-39F1-4A28-9C2366C653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1167009"/>
            <a:ext cx="1778951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B7A62E-2BCA-D963-A460-1783D45222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4755" y="3391225"/>
            <a:ext cx="1778955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02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A238FCE0-4BCC-E0F8-5E51-41C6FDE6D0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2963" y="1167010"/>
            <a:ext cx="1778959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03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2F639E73-924B-CDEB-8510-64566A67CB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1173" y="3391225"/>
            <a:ext cx="1778957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04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ECA4C82-8B07-D070-CE1B-E96A1D6742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9381" y="1158772"/>
            <a:ext cx="1778959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05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5BA8B66C-5412-698B-F516-A44B62FBE6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77592" y="3391225"/>
            <a:ext cx="1778957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06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E37D9BF6-ADF8-B12D-DABC-084AA557DD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547" y="2585149"/>
            <a:ext cx="1778954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E79B31AE-879A-F3D3-0223-72DE2A0026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2964" y="2585149"/>
            <a:ext cx="177895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1C07E858-A18A-B5A1-F4FC-ED46EDA794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4758" y="4870204"/>
            <a:ext cx="177895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341CAE29-FF6A-BA8E-FA2D-95B59457FA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172" y="4870204"/>
            <a:ext cx="1778957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CBD99E4A-9937-9DAD-51BF-769B27DDF4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77593" y="4870204"/>
            <a:ext cx="1778956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5A53FC6-34CD-D634-D1A6-D31DF8005B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382" y="2585149"/>
            <a:ext cx="177895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C5BF7C-CE4E-6750-974C-3DB3552AD46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E288E33-F908-7F76-A4EE-BAFD7D40B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55BA414-2DA7-B802-8994-77AA48BB3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5529AE7-0644-F63B-6664-38DE8CD0E9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CCF51DDB-13C2-3166-9AEA-AD3278D11A23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28733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Lar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C3F26EEC-0020-0C86-2DF5-24EC7311C6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78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1DB0F80E-8162-FAD4-EBDF-AEF08722C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78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02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40C11C35-38FB-AD08-6300-1DABA045F1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78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03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2A0B644C-DE96-3324-906B-1D86FAD3D4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78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04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7CFDB9CC-EEDA-1464-D070-38298816DA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5252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05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3E6BDC40-8B07-44FA-94FA-BE03063BD7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5252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06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DAE16205-E178-5D19-7A9E-D5D1C0C2DA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5252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07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2ECF5A5E-2767-C8CC-7F70-69FF83596A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35252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08</a:t>
            </a:r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C8E863FA-111C-8652-3E8D-5FA8973B2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9453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09</a:t>
            </a:r>
          </a:p>
        </p:txBody>
      </p:sp>
      <p:sp>
        <p:nvSpPr>
          <p:cNvPr id="43" name="Text Placeholder 15">
            <a:extLst>
              <a:ext uri="{FF2B5EF4-FFF2-40B4-BE49-F238E27FC236}">
                <a16:creationId xmlns:a16="http://schemas.microsoft.com/office/drawing/2014/main" id="{E252F4E7-C057-8265-2AFF-DD9E6402EB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9453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10</a:t>
            </a:r>
          </a:p>
        </p:txBody>
      </p:sp>
      <p:sp>
        <p:nvSpPr>
          <p:cNvPr id="44" name="Text Placeholder 15">
            <a:extLst>
              <a:ext uri="{FF2B5EF4-FFF2-40B4-BE49-F238E27FC236}">
                <a16:creationId xmlns:a16="http://schemas.microsoft.com/office/drawing/2014/main" id="{1C071B54-C34C-81FC-8886-0AB96E569EA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9453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11</a:t>
            </a:r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89441B5A-C5B0-3CF8-4A72-32AED17D68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9453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12</a:t>
            </a:r>
          </a:p>
        </p:txBody>
      </p:sp>
      <p:sp>
        <p:nvSpPr>
          <p:cNvPr id="46" name="Text Placeholder 29">
            <a:extLst>
              <a:ext uri="{FF2B5EF4-FFF2-40B4-BE49-F238E27FC236}">
                <a16:creationId xmlns:a16="http://schemas.microsoft.com/office/drawing/2014/main" id="{A8D8D8B9-84E4-A5EF-F781-F6C079126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71320" y="1344706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C13947E4-99B4-7AAC-D4E2-44B058ADA5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63229" y="1344706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8" name="Text Placeholder 29">
            <a:extLst>
              <a:ext uri="{FF2B5EF4-FFF2-40B4-BE49-F238E27FC236}">
                <a16:creationId xmlns:a16="http://schemas.microsoft.com/office/drawing/2014/main" id="{BDE6CC3C-373A-B999-5D79-FFCFAFEB7F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57430" y="1344706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6DB00DA2-69CE-BC0C-DDEC-418E42272E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71320" y="2561170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0" name="Text Placeholder 29">
            <a:extLst>
              <a:ext uri="{FF2B5EF4-FFF2-40B4-BE49-F238E27FC236}">
                <a16:creationId xmlns:a16="http://schemas.microsoft.com/office/drawing/2014/main" id="{D703D0F6-7A49-B8AD-09E8-BCA907FA30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3229" y="2561170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1" name="Text Placeholder 29">
            <a:extLst>
              <a:ext uri="{FF2B5EF4-FFF2-40B4-BE49-F238E27FC236}">
                <a16:creationId xmlns:a16="http://schemas.microsoft.com/office/drawing/2014/main" id="{83C73E6B-5B9D-5213-4965-03CBE1E10B8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57430" y="2561170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2" name="Text Placeholder 29">
            <a:extLst>
              <a:ext uri="{FF2B5EF4-FFF2-40B4-BE49-F238E27FC236}">
                <a16:creationId xmlns:a16="http://schemas.microsoft.com/office/drawing/2014/main" id="{19298D4F-2241-442E-E7CB-91F49188044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71320" y="3777634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3" name="Text Placeholder 29">
            <a:extLst>
              <a:ext uri="{FF2B5EF4-FFF2-40B4-BE49-F238E27FC236}">
                <a16:creationId xmlns:a16="http://schemas.microsoft.com/office/drawing/2014/main" id="{4C527113-8DC6-9092-73E3-D528F18FE19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63229" y="3777634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4" name="Text Placeholder 29">
            <a:extLst>
              <a:ext uri="{FF2B5EF4-FFF2-40B4-BE49-F238E27FC236}">
                <a16:creationId xmlns:a16="http://schemas.microsoft.com/office/drawing/2014/main" id="{B25D650E-E87E-D127-E5BD-1E0387F71E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57430" y="3777634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C847FB7D-9A35-446B-1889-B65B833601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71320" y="4994099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6" name="Text Placeholder 29">
            <a:extLst>
              <a:ext uri="{FF2B5EF4-FFF2-40B4-BE49-F238E27FC236}">
                <a16:creationId xmlns:a16="http://schemas.microsoft.com/office/drawing/2014/main" id="{8F3BF73A-DEC0-5BB6-527D-9A16E2C35EA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63229" y="4994099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6135C823-B0CF-87E9-1E61-97A2FA3D88B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57430" y="4994099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7696" marR="0" indent="0" algn="l" defTabSz="914377" rtl="0" eaLnBrk="1" fontAlgn="auto" latinLnBrk="0" hangingPunct="1">
              <a:lnSpc>
                <a:spcPct val="100000"/>
              </a:lnSpc>
              <a:spcBef>
                <a:spcPts val="6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cxnSp>
        <p:nvCxnSpPr>
          <p:cNvPr id="92" name="Straight Connector 8">
            <a:extLst>
              <a:ext uri="{FF2B5EF4-FFF2-40B4-BE49-F238E27FC236}">
                <a16:creationId xmlns:a16="http://schemas.microsoft.com/office/drawing/2014/main" id="{B6A8FCB8-2780-6C99-E9FA-647662FFE9E1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3645" y="0"/>
            <a:ext cx="0" cy="5589024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8">
            <a:extLst>
              <a:ext uri="{FF2B5EF4-FFF2-40B4-BE49-F238E27FC236}">
                <a16:creationId xmlns:a16="http://schemas.microsoft.com/office/drawing/2014/main" id="{B6A8FCB8-2780-6C99-E9FA-647662FFE9E1}"/>
              </a:ext>
            </a:extLst>
          </p:cNvPr>
          <p:cNvCxnSpPr>
            <a:cxnSpLocks/>
          </p:cNvCxnSpPr>
          <p:nvPr userDrawn="1"/>
        </p:nvCxnSpPr>
        <p:spPr>
          <a:xfrm flipV="1">
            <a:off x="7962348" y="0"/>
            <a:ext cx="0" cy="5589024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695BC88D-D249-A81C-4223-3B5460582D2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23A223C-0062-E4B2-1155-59EF30895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014EB4C-E7E9-A990-8AB7-7853B935C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F209FDE-5C50-47FA-8776-5FC05E1593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366FAE1B-664C-6804-48D1-304EAA5E4C0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002393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2656"/>
            <a:ext cx="8639482" cy="1872208"/>
          </a:xfrm>
        </p:spPr>
        <p:txBody>
          <a:bodyPr anchor="t" anchorCtr="0"/>
          <a:lstStyle>
            <a:lvl1pPr>
              <a:defRPr sz="4800"/>
            </a:lvl1pPr>
          </a:lstStyle>
          <a:p>
            <a:r>
              <a:rPr lang="es-ES" dirty="0"/>
              <a:t>Escribe aquí el título de la separata principal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419458" cy="203132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8639483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principal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DD05BA3-2EC1-2EB2-D8F6-4B5F3C46436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445EB3B-698D-D4B6-C8E0-03CF2372B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8FE4A80-1E80-18F8-69C4-08BAC9FB7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9AB5319-7441-B665-8C83-D1819F27DD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D347BAB2-2F9E-1721-E15B-051A29B1A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3096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Principal+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1200"/>
            <a:ext cx="8639482" cy="1645205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s-ES" dirty="0"/>
              <a:t>Escribe aquí el título de la separata principal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082908" cy="203132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5200"/>
            <a:ext cx="8639483" cy="45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principal</a:t>
            </a:r>
          </a:p>
        </p:txBody>
      </p:sp>
      <p:sp>
        <p:nvSpPr>
          <p:cNvPr id="25" name="Marcador de posición de imagen 24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429001"/>
            <a:ext cx="9001601" cy="2771774"/>
          </a:xfrm>
          <a:custGeom>
            <a:avLst/>
            <a:gdLst>
              <a:gd name="connsiteX0" fmla="*/ 143999 w 9001601"/>
              <a:gd name="connsiteY0" fmla="*/ 0 h 2771774"/>
              <a:gd name="connsiteX1" fmla="*/ 8857601 w 9001601"/>
              <a:gd name="connsiteY1" fmla="*/ 0 h 2771774"/>
              <a:gd name="connsiteX2" fmla="*/ 9001601 w 9001601"/>
              <a:gd name="connsiteY2" fmla="*/ 143999 h 2771774"/>
              <a:gd name="connsiteX3" fmla="*/ 9001601 w 9001601"/>
              <a:gd name="connsiteY3" fmla="*/ 2627774 h 2771774"/>
              <a:gd name="connsiteX4" fmla="*/ 8857600 w 9001601"/>
              <a:gd name="connsiteY4" fmla="*/ 2771774 h 2771774"/>
              <a:gd name="connsiteX5" fmla="*/ 144000 w 9001601"/>
              <a:gd name="connsiteY5" fmla="*/ 2771774 h 2771774"/>
              <a:gd name="connsiteX6" fmla="*/ 0 w 9001601"/>
              <a:gd name="connsiteY6" fmla="*/ 2627774 h 2771774"/>
              <a:gd name="connsiteX7" fmla="*/ 0 w 9001601"/>
              <a:gd name="connsiteY7" fmla="*/ 143999 h 2771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01601" h="2771774">
                <a:moveTo>
                  <a:pt x="143999" y="0"/>
                </a:moveTo>
                <a:lnTo>
                  <a:pt x="8857601" y="0"/>
                </a:lnTo>
                <a:lnTo>
                  <a:pt x="9001601" y="143999"/>
                </a:lnTo>
                <a:lnTo>
                  <a:pt x="9001601" y="2627774"/>
                </a:lnTo>
                <a:lnTo>
                  <a:pt x="8857600" y="2771774"/>
                </a:lnTo>
                <a:lnTo>
                  <a:pt x="144000" y="2771774"/>
                </a:lnTo>
                <a:lnTo>
                  <a:pt x="0" y="2627774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286293-07F5-4E95-C5BF-43AFA5C0D14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3A42399-46BB-5ADD-2CCB-5AF4E37E8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7C72EAA-138C-6078-DB30-15E77237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EE04412-EC0D-4DB5-06EC-46BE99DABB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CACF80FD-132D-D661-6470-17B3B83CA4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74311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Secundaria sin imag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2656"/>
            <a:ext cx="6479530" cy="1872208"/>
          </a:xfrm>
        </p:spPr>
        <p:txBody>
          <a:bodyPr anchor="t" anchorCtr="0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separata secundaria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082908" cy="11079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7200">
                <a:solidFill>
                  <a:schemeClr val="bg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1.1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8639483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secundaria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DD05BA3-2EC1-2EB2-D8F6-4B5F3C46436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chemeClr val="bg1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445EB3B-698D-D4B6-C8E0-03CF2372B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8FE4A80-1E80-18F8-69C4-08BAC9FB7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9AB5319-7441-B665-8C83-D1819F27DD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29A7072-40BD-AE57-A5CA-94D1543E8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2425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Secundaria+Imagen---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57301" y="334963"/>
            <a:ext cx="1998150" cy="11079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720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1.1</a:t>
            </a:r>
          </a:p>
        </p:txBody>
      </p:sp>
      <p:cxnSp>
        <p:nvCxnSpPr>
          <p:cNvPr id="78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65481" y="1"/>
            <a:ext cx="0" cy="620077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arcador de posición de imagen 15"/>
          <p:cNvSpPr>
            <a:spLocks noGrp="1"/>
          </p:cNvSpPr>
          <p:nvPr>
            <p:ph type="pic" sz="quarter" idx="16" hasCustomPrompt="1"/>
          </p:nvPr>
        </p:nvSpPr>
        <p:spPr>
          <a:xfrm>
            <a:off x="336552" y="3429003"/>
            <a:ext cx="6674969" cy="2771772"/>
          </a:xfrm>
          <a:custGeom>
            <a:avLst/>
            <a:gdLst>
              <a:gd name="connsiteX0" fmla="*/ 143999 w 6674969"/>
              <a:gd name="connsiteY0" fmla="*/ 0 h 2771772"/>
              <a:gd name="connsiteX1" fmla="*/ 6530968 w 6674969"/>
              <a:gd name="connsiteY1" fmla="*/ 0 h 2771772"/>
              <a:gd name="connsiteX2" fmla="*/ 6674969 w 6674969"/>
              <a:gd name="connsiteY2" fmla="*/ 144000 h 2771772"/>
              <a:gd name="connsiteX3" fmla="*/ 6674969 w 6674969"/>
              <a:gd name="connsiteY3" fmla="*/ 2627772 h 2771772"/>
              <a:gd name="connsiteX4" fmla="*/ 6530968 w 6674969"/>
              <a:gd name="connsiteY4" fmla="*/ 2771772 h 2771772"/>
              <a:gd name="connsiteX5" fmla="*/ 143999 w 6674969"/>
              <a:gd name="connsiteY5" fmla="*/ 2771772 h 2771772"/>
              <a:gd name="connsiteX6" fmla="*/ 0 w 6674969"/>
              <a:gd name="connsiteY6" fmla="*/ 2627773 h 2771772"/>
              <a:gd name="connsiteX7" fmla="*/ 0 w 6674969"/>
              <a:gd name="connsiteY7" fmla="*/ 143999 h 277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74969" h="2771772">
                <a:moveTo>
                  <a:pt x="143999" y="0"/>
                </a:moveTo>
                <a:lnTo>
                  <a:pt x="6530968" y="0"/>
                </a:lnTo>
                <a:lnTo>
                  <a:pt x="6674969" y="144000"/>
                </a:lnTo>
                <a:lnTo>
                  <a:pt x="6674969" y="2627772"/>
                </a:lnTo>
                <a:lnTo>
                  <a:pt x="6530968" y="2771772"/>
                </a:lnTo>
                <a:lnTo>
                  <a:pt x="143999" y="2771772"/>
                </a:lnTo>
                <a:lnTo>
                  <a:pt x="0" y="2627773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8" name="Group 4">
            <a:extLst>
              <a:ext uri="{FF2B5EF4-FFF2-40B4-BE49-F238E27FC236}">
                <a16:creationId xmlns:a16="http://schemas.microsoft.com/office/drawing/2014/main" id="{902F0385-1811-8077-3D24-2BE5366C0F2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77B5BE9F-3707-F66C-3805-0D759BA41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F0C503CA-93A0-6E08-D670-3BB3A1DA9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57770C9F-89D2-B362-0944-27F1E8C990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Marcador de pie de página 22">
            <a:extLst>
              <a:ext uri="{FF2B5EF4-FFF2-40B4-BE49-F238E27FC236}">
                <a16:creationId xmlns:a16="http://schemas.microsoft.com/office/drawing/2014/main" id="{B068EF0A-944B-F84F-560E-7455951F135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24" name="Título 23">
            <a:extLst>
              <a:ext uri="{FF2B5EF4-FFF2-40B4-BE49-F238E27FC236}">
                <a16:creationId xmlns:a16="http://schemas.microsoft.com/office/drawing/2014/main" id="{5AE1A92F-AF49-E38E-CB1F-BA9AAE53EC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550" y="334964"/>
            <a:ext cx="6551538" cy="172588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800" b="0" i="0" u="none" strike="noStrike" kern="1200" cap="none" spc="0" normalizeH="0" baseline="0" noProof="0" dirty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Escribe aquí el título separata secundaria</a:t>
            </a:r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11CB666B-4C20-26BF-BCE8-F6A061D2D2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6551539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secundaria</a:t>
            </a:r>
          </a:p>
        </p:txBody>
      </p:sp>
    </p:spTree>
    <p:extLst>
      <p:ext uri="{BB962C8B-B14F-4D97-AF65-F5344CB8AC3E}">
        <p14:creationId xmlns:p14="http://schemas.microsoft.com/office/powerpoint/2010/main" val="12745878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Ceramic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610319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- Texto - Sin antetitulo_Ceramic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0273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87512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41331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266757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671448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Sin antetitulo_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0273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87512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41331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767030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830582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Sin antetitulo_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9898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97137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50955"/>
            <a:ext cx="11522075" cy="4149819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75862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Pruno Oscu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11999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- Texto - Sin antetitulo_Pruno Oscu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9898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97137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50955"/>
            <a:ext cx="11522075" cy="4149819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09984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34964"/>
            <a:ext cx="11518899" cy="5865810"/>
          </a:xfrm>
          <a:custGeom>
            <a:avLst/>
            <a:gdLst>
              <a:gd name="connsiteX0" fmla="*/ 144000 w 11518899"/>
              <a:gd name="connsiteY0" fmla="*/ 0 h 5865810"/>
              <a:gd name="connsiteX1" fmla="*/ 11374898 w 11518899"/>
              <a:gd name="connsiteY1" fmla="*/ 0 h 5865810"/>
              <a:gd name="connsiteX2" fmla="*/ 11518899 w 11518899"/>
              <a:gd name="connsiteY2" fmla="*/ 144000 h 5865810"/>
              <a:gd name="connsiteX3" fmla="*/ 11518899 w 11518899"/>
              <a:gd name="connsiteY3" fmla="*/ 5721810 h 5865810"/>
              <a:gd name="connsiteX4" fmla="*/ 11374898 w 11518899"/>
              <a:gd name="connsiteY4" fmla="*/ 5865810 h 5865810"/>
              <a:gd name="connsiteX5" fmla="*/ 144000 w 11518899"/>
              <a:gd name="connsiteY5" fmla="*/ 5865810 h 5865810"/>
              <a:gd name="connsiteX6" fmla="*/ 0 w 11518899"/>
              <a:gd name="connsiteY6" fmla="*/ 5721810 h 5865810"/>
              <a:gd name="connsiteX7" fmla="*/ 0 w 11518899"/>
              <a:gd name="connsiteY7" fmla="*/ 144000 h 586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9" h="5865810">
                <a:moveTo>
                  <a:pt x="144000" y="0"/>
                </a:moveTo>
                <a:lnTo>
                  <a:pt x="11374898" y="0"/>
                </a:lnTo>
                <a:lnTo>
                  <a:pt x="11518899" y="144000"/>
                </a:lnTo>
                <a:lnTo>
                  <a:pt x="11518899" y="5721810"/>
                </a:lnTo>
                <a:lnTo>
                  <a:pt x="11374898" y="5865810"/>
                </a:lnTo>
                <a:lnTo>
                  <a:pt x="144000" y="5865810"/>
                </a:lnTo>
                <a:lnTo>
                  <a:pt x="0" y="5721810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3371C36-3C07-2926-2DF2-88E1A17B726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84345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34964"/>
            <a:ext cx="11518899" cy="5865810"/>
          </a:xfrm>
          <a:custGeom>
            <a:avLst/>
            <a:gdLst>
              <a:gd name="connsiteX0" fmla="*/ 144000 w 11518899"/>
              <a:gd name="connsiteY0" fmla="*/ 0 h 5865810"/>
              <a:gd name="connsiteX1" fmla="*/ 11374898 w 11518899"/>
              <a:gd name="connsiteY1" fmla="*/ 0 h 5865810"/>
              <a:gd name="connsiteX2" fmla="*/ 11518899 w 11518899"/>
              <a:gd name="connsiteY2" fmla="*/ 144000 h 5865810"/>
              <a:gd name="connsiteX3" fmla="*/ 11518899 w 11518899"/>
              <a:gd name="connsiteY3" fmla="*/ 5721810 h 5865810"/>
              <a:gd name="connsiteX4" fmla="*/ 11374898 w 11518899"/>
              <a:gd name="connsiteY4" fmla="*/ 5865810 h 5865810"/>
              <a:gd name="connsiteX5" fmla="*/ 144000 w 11518899"/>
              <a:gd name="connsiteY5" fmla="*/ 5865810 h 5865810"/>
              <a:gd name="connsiteX6" fmla="*/ 0 w 11518899"/>
              <a:gd name="connsiteY6" fmla="*/ 5721810 h 5865810"/>
              <a:gd name="connsiteX7" fmla="*/ 0 w 11518899"/>
              <a:gd name="connsiteY7" fmla="*/ 144000 h 586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9" h="5865810">
                <a:moveTo>
                  <a:pt x="144000" y="0"/>
                </a:moveTo>
                <a:lnTo>
                  <a:pt x="11374898" y="0"/>
                </a:lnTo>
                <a:lnTo>
                  <a:pt x="11518899" y="144000"/>
                </a:lnTo>
                <a:lnTo>
                  <a:pt x="11518899" y="5721810"/>
                </a:lnTo>
                <a:lnTo>
                  <a:pt x="11374898" y="5865810"/>
                </a:lnTo>
                <a:lnTo>
                  <a:pt x="144000" y="5865810"/>
                </a:lnTo>
                <a:lnTo>
                  <a:pt x="0" y="5721810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DE91A90-7186-B447-0800-01631DFCA90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67263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+Full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posición de imagen 10"/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12192000" cy="6858000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336550" y="334964"/>
            <a:ext cx="11518900" cy="84401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s-ES" dirty="0"/>
              <a:t>Escribe aquí el título principal de la diapositiva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68978"/>
            <a:ext cx="11521678" cy="63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Escribe aquí el subtítulo de la diapositiva</a:t>
            </a:r>
            <a:endParaRPr lang="en-GB" noProof="1"/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5360" y="1988987"/>
            <a:ext cx="11520090" cy="42117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el contenido de la diapositiva</a:t>
            </a:r>
          </a:p>
        </p:txBody>
      </p:sp>
      <p:sp>
        <p:nvSpPr>
          <p:cNvPr id="13" name="Marcador de número de diapositiva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113D76D-64FF-C76D-9002-C06A401ADC1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64212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dea Principal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794485" y="2650420"/>
            <a:ext cx="8621563" cy="837152"/>
          </a:xfrm>
        </p:spPr>
        <p:txBody>
          <a:bodyPr anchor="ctr" anchorCtr="0">
            <a:spAutoFit/>
          </a:bodyPr>
          <a:lstStyle>
            <a:lvl1pPr>
              <a:defRPr baseline="0"/>
            </a:lvl1pPr>
          </a:lstStyle>
          <a:p>
            <a:r>
              <a:rPr lang="es-ES" dirty="0"/>
              <a:t>Escribe aquí </a:t>
            </a:r>
            <a:r>
              <a:rPr lang="es-ES" noProof="1"/>
              <a:t>un texto destacado o una idea principal</a:t>
            </a:r>
            <a:endParaRPr lang="es-ES" dirty="0"/>
          </a:p>
        </p:txBody>
      </p:sp>
      <p:sp>
        <p:nvSpPr>
          <p:cNvPr id="11" name="ChaflanFigura_5"/>
          <p:cNvSpPr/>
          <p:nvPr userDrawn="1"/>
        </p:nvSpPr>
        <p:spPr>
          <a:xfrm>
            <a:off x="336550" y="334963"/>
            <a:ext cx="11518900" cy="5865812"/>
          </a:xfrm>
          <a:custGeom>
            <a:avLst/>
            <a:gdLst/>
            <a:ahLst/>
            <a:cxnLst/>
            <a:rect l="0" t="0" r="0" b="0"/>
            <a:pathLst>
              <a:path w="11518901" h="5865813">
                <a:moveTo>
                  <a:pt x="144000" y="0"/>
                </a:moveTo>
                <a:lnTo>
                  <a:pt x="11374899" y="0"/>
                </a:lnTo>
                <a:lnTo>
                  <a:pt x="11518900" y="144000"/>
                </a:lnTo>
                <a:lnTo>
                  <a:pt x="11518900" y="5721812"/>
                </a:lnTo>
                <a:lnTo>
                  <a:pt x="11374899" y="5865812"/>
                </a:lnTo>
                <a:lnTo>
                  <a:pt x="144000" y="5865812"/>
                </a:lnTo>
                <a:lnTo>
                  <a:pt x="0" y="5721812"/>
                </a:lnTo>
                <a:lnTo>
                  <a:pt x="0" y="144000"/>
                </a:lnTo>
                <a:close/>
              </a:path>
            </a:pathLst>
          </a:cu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138F990-2C84-4C3C-4F42-93820FCB45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32392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dea Principal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794485" y="2650420"/>
            <a:ext cx="8621563" cy="837152"/>
          </a:xfrm>
        </p:spPr>
        <p:txBody>
          <a:bodyPr anchor="ctr" anchorCtr="0">
            <a:spAutoFit/>
          </a:bodyPr>
          <a:lstStyle>
            <a:lvl1pPr>
              <a:defRPr baseline="0"/>
            </a:lvl1pPr>
          </a:lstStyle>
          <a:p>
            <a:r>
              <a:rPr lang="es-ES" dirty="0"/>
              <a:t>Escribe aquí </a:t>
            </a:r>
            <a:r>
              <a:rPr lang="es-ES" noProof="1"/>
              <a:t>un texto destacado o una idea principal</a:t>
            </a:r>
            <a:endParaRPr lang="es-ES" dirty="0"/>
          </a:p>
        </p:txBody>
      </p:sp>
      <p:sp>
        <p:nvSpPr>
          <p:cNvPr id="11" name="ChaflanFigura_5"/>
          <p:cNvSpPr/>
          <p:nvPr userDrawn="1"/>
        </p:nvSpPr>
        <p:spPr>
          <a:xfrm>
            <a:off x="336550" y="334963"/>
            <a:ext cx="11518900" cy="5865812"/>
          </a:xfrm>
          <a:custGeom>
            <a:avLst/>
            <a:gdLst/>
            <a:ahLst/>
            <a:cxnLst/>
            <a:rect l="0" t="0" r="0" b="0"/>
            <a:pathLst>
              <a:path w="11518901" h="5865813">
                <a:moveTo>
                  <a:pt x="144000" y="0"/>
                </a:moveTo>
                <a:lnTo>
                  <a:pt x="11374899" y="0"/>
                </a:lnTo>
                <a:lnTo>
                  <a:pt x="11518900" y="144000"/>
                </a:lnTo>
                <a:lnTo>
                  <a:pt x="11518900" y="5721812"/>
                </a:lnTo>
                <a:lnTo>
                  <a:pt x="11374899" y="5865812"/>
                </a:lnTo>
                <a:lnTo>
                  <a:pt x="144000" y="5865812"/>
                </a:lnTo>
                <a:lnTo>
                  <a:pt x="0" y="5721812"/>
                </a:lnTo>
                <a:lnTo>
                  <a:pt x="0" y="144000"/>
                </a:lnTo>
                <a:close/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031AFC-7CAC-27B3-53FB-B27A233E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405587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16489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_ Blanc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167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_Prun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75778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>
            <a:off x="9372996" y="0"/>
            <a:ext cx="0" cy="345600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9552384" y="3133865"/>
            <a:ext cx="230306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rgbClr val="FFFFFF"/>
                </a:solidFill>
                <a:cs typeface="Trebuchet MS"/>
              </a:rPr>
              <a:t>Tech </a:t>
            </a:r>
            <a:r>
              <a:rPr lang="en-GB" sz="2400" noProof="1">
                <a:solidFill>
                  <a:schemeClr val="tx1"/>
                </a:solidFill>
                <a:cs typeface="Trebuchet MS"/>
              </a:rPr>
              <a:t>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216600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597597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216600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>
            <a:off x="9372996" y="0"/>
            <a:ext cx="0" cy="3456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9552384" y="3133865"/>
            <a:ext cx="230306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chemeClr val="tx1"/>
                </a:solidFill>
                <a:cs typeface="Trebuchet MS"/>
              </a:rPr>
              <a:t>Tech for 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2050101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Datos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149009"/>
            <a:ext cx="321568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334962" y="3429000"/>
            <a:ext cx="2376661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rgbClr val="FFFFFF"/>
                </a:solidFill>
                <a:cs typeface="Trebuchet MS"/>
              </a:rPr>
              <a:t>Tech </a:t>
            </a:r>
            <a:r>
              <a:rPr lang="en-GB" sz="2400" noProof="1">
                <a:solidFill>
                  <a:schemeClr val="tx1"/>
                </a:solidFill>
                <a:cs typeface="Trebuchet MS"/>
              </a:rPr>
              <a:t>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  <p:sp>
        <p:nvSpPr>
          <p:cNvPr id="10" name="Marcador de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352122" y="4581127"/>
            <a:ext cx="2863557" cy="1619647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Avenida De Bruselas, 35, Alcobendas, Madrid, 28108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T. (+34) 914 805 002 </a:t>
            </a:r>
            <a:br>
              <a:rPr lang="en-GB" sz="1200" noProof="1"/>
            </a:br>
            <a:r>
              <a:rPr lang="en-GB" sz="1200" noProof="1"/>
              <a:t>F. (+34) 914 805 080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926030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Datos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149009"/>
            <a:ext cx="3215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Marcador de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352122" y="4581127"/>
            <a:ext cx="2863557" cy="1619647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Avenida De Bruselas, 35, Alcobendas, Madrid, 28108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T. (+34) 914 805 002 </a:t>
            </a:r>
            <a:br>
              <a:rPr lang="en-GB" sz="1200" noProof="1"/>
            </a:br>
            <a:r>
              <a:rPr lang="en-GB" sz="1200" noProof="1"/>
              <a:t>F. (+34) 914 805 080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20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334962" y="3429000"/>
            <a:ext cx="2376661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chemeClr val="tx1"/>
                </a:solidFill>
                <a:cs typeface="Trebuchet MS"/>
              </a:rPr>
              <a:t>Tech 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</p:spTree>
    <p:extLst>
      <p:ext uri="{BB962C8B-B14F-4D97-AF65-F5344CB8AC3E}">
        <p14:creationId xmlns:p14="http://schemas.microsoft.com/office/powerpoint/2010/main" val="34323928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Pruno -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754737" y="3168013"/>
            <a:ext cx="2682526" cy="255600"/>
            <a:chOff x="680" y="1856"/>
            <a:chExt cx="6318" cy="602"/>
          </a:xfrm>
          <a:solidFill>
            <a:srgbClr val="FFFFFF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9195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Cerámica - LO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754737" y="3168013"/>
            <a:ext cx="2682526" cy="255600"/>
            <a:chOff x="680" y="1856"/>
            <a:chExt cx="6318" cy="602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7004518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1931A950-FF93-4E19-B159-5172E7216644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377442" y="5665376"/>
            <a:ext cx="664780" cy="66478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1">
                    <a:lumMod val="9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33AF4CF1-CFBB-4B47-866C-9BD31ACC6E1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885869" y="2269573"/>
            <a:ext cx="1415706" cy="1415706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1">
                    <a:lumMod val="9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53A9A287-5E22-4105-B922-5FAD1B79599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7040102" y="2445430"/>
            <a:ext cx="3912299" cy="387917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00">
                <a:solidFill>
                  <a:schemeClr val="bg1">
                    <a:lumMod val="9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B3F8D79-A9D7-4D47-9B7C-7B9C2862CF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1681" y="502626"/>
            <a:ext cx="9665914" cy="228650"/>
          </a:xfrm>
          <a:prstGeom prst="rect">
            <a:avLst/>
          </a:prstGeom>
        </p:spPr>
        <p:txBody>
          <a:bodyPr lIns="0" tIns="0" bIns="0" anchor="b"/>
          <a:lstStyle>
            <a:lvl1pPr marL="0" indent="0">
              <a:buNone/>
              <a:defRPr lang="es-ES" sz="14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EPÍGRAFE</a:t>
            </a:r>
            <a:endParaRPr lang="es-E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F653DB3-2D06-48E6-863A-6F6D647192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1680" y="777534"/>
            <a:ext cx="10856919" cy="366768"/>
          </a:xfrm>
          <a:prstGeom prst="rect">
            <a:avLst/>
          </a:prstGeom>
        </p:spPr>
        <p:txBody>
          <a:bodyPr lIns="0" tIns="0" bIns="0" anchor="b"/>
          <a:lstStyle>
            <a:lvl1pPr marL="0" indent="0">
              <a:buNone/>
              <a:defRPr kumimoji="0" lang="es-ES" sz="24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nkinter Text" panose="02020500000000000000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de la </a:t>
            </a:r>
            <a:r>
              <a:rPr lang="en-US" err="1"/>
              <a:t>diapositiva</a:t>
            </a:r>
            <a:r>
              <a:rPr lang="en-US"/>
              <a:t>.</a:t>
            </a:r>
            <a:endParaRPr lang="es-ES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54587154-C084-4D7B-A9B0-5C2D8FFCD0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1680" y="1220146"/>
            <a:ext cx="10856919" cy="186790"/>
          </a:xfrm>
          <a:prstGeom prst="rect">
            <a:avLst/>
          </a:prstGeom>
        </p:spPr>
        <p:txBody>
          <a:bodyPr lIns="0" tIns="0" bIns="0" anchor="t"/>
          <a:lstStyle>
            <a:lvl1pPr marL="0" indent="0">
              <a:buNone/>
              <a:defRPr kumimoji="0" lang="es-ES" sz="1200" b="0" i="0" u="none" strike="noStrike" kern="1200" cap="none" spc="0" normalizeH="0" baseline="0" dirty="0">
                <a:ln>
                  <a:noFill/>
                </a:ln>
                <a:solidFill>
                  <a:srgbClr val="191B1C"/>
                </a:solidFill>
                <a:effectLst/>
                <a:uLnTx/>
                <a:uFillTx/>
                <a:latin typeface="Bankinter Text" panose="02020500000000000000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en-US" err="1"/>
              <a:t>Subtítulo</a:t>
            </a:r>
            <a:r>
              <a:rPr lang="en-US"/>
              <a:t> de la </a:t>
            </a:r>
            <a:r>
              <a:rPr lang="en-US" err="1"/>
              <a:t>diapositiva</a:t>
            </a:r>
            <a:endParaRPr lang="es-ES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D1941EC7-5916-4899-8AA8-C29A1AAF903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 rot="5400000">
            <a:off x="-999970" y="4086000"/>
            <a:ext cx="3636000" cy="36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1">
                    <a:lumMod val="9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F4E176D-BF2B-48BB-9E9A-D851B5DBAAD4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052019" y="2349790"/>
            <a:ext cx="5007981" cy="107921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lang="es-ES" sz="4000" b="1" kern="1200" dirty="0">
                <a:solidFill>
                  <a:schemeClr val="accent1"/>
                </a:solidFill>
                <a:latin typeface="Bankinter Sans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Lorem ipsum dolor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contetur</a:t>
            </a:r>
            <a:endParaRPr lang="en-US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1909946B-E6D0-423B-8FFA-88F6737CC42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52019" y="4073224"/>
            <a:ext cx="5007981" cy="503538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lang="es-ES" sz="1600" b="1" kern="1200" dirty="0">
                <a:solidFill>
                  <a:schemeClr val="accent1"/>
                </a:solidFill>
                <a:latin typeface="Bankinter Sans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34BB86E-2534-4251-8467-4A6CABA677E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52019" y="4766574"/>
            <a:ext cx="5007981" cy="1155425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nkinter Sans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Maecenas </a:t>
            </a:r>
            <a:r>
              <a:rPr lang="en-US" err="1"/>
              <a:t>egestas</a:t>
            </a:r>
            <a:r>
              <a:rPr lang="en-US"/>
              <a:t> ipsum a </a:t>
            </a:r>
            <a:r>
              <a:rPr lang="en-US" err="1"/>
              <a:t>eros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faucibus</a:t>
            </a:r>
            <a:r>
              <a:rPr lang="en-US"/>
              <a:t>. Integer a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metus</a:t>
            </a:r>
            <a:r>
              <a:rPr lang="en-US"/>
              <a:t>. Vestibulum dictum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non pharetra. Nam id </a:t>
            </a:r>
            <a:r>
              <a:rPr lang="en-US" err="1"/>
              <a:t>finibus</a:t>
            </a:r>
            <a:r>
              <a:rPr lang="en-US"/>
              <a:t> dui. In semper, </a:t>
            </a:r>
            <a:r>
              <a:rPr lang="en-US" err="1"/>
              <a:t>urna</a:t>
            </a:r>
            <a:r>
              <a:rPr lang="en-US"/>
              <a:t> a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, </a:t>
            </a:r>
            <a:r>
              <a:rPr lang="en-US" err="1"/>
              <a:t>elit</a:t>
            </a:r>
            <a:r>
              <a:rPr lang="en-US"/>
              <a:t> nisi pulvinar dolor,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nisi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et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, lorem nisi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vel </a:t>
            </a:r>
            <a:r>
              <a:rPr lang="en-US" err="1"/>
              <a:t>tincidunt</a:t>
            </a:r>
            <a:r>
              <a:rPr lang="en-US"/>
              <a:t> ex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ipsum.dolor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F2BF1A7A-D660-4974-899B-7815E37B3C47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0705393" y="2269573"/>
            <a:ext cx="950686" cy="950686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1">
                    <a:lumMod val="9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F8EA8C74-936E-47A3-B84E-097004987E0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561469" y="3081457"/>
            <a:ext cx="2902572" cy="7357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lang="es-ES" sz="1600" b="1" kern="1200" dirty="0">
                <a:solidFill>
                  <a:schemeClr val="tx1"/>
                </a:solidFill>
                <a:latin typeface="Bankinter Sans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1954F646-37F0-4CC6-8221-3F2E2FACF0F0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561469" y="3989253"/>
            <a:ext cx="2894301" cy="187951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nkinter Sans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Maecenas </a:t>
            </a:r>
            <a:r>
              <a:rPr lang="en-US" err="1"/>
              <a:t>egestas</a:t>
            </a:r>
            <a:r>
              <a:rPr lang="en-US"/>
              <a:t> ipsum a </a:t>
            </a:r>
            <a:r>
              <a:rPr lang="en-US" err="1"/>
              <a:t>eros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faucibus</a:t>
            </a:r>
            <a:r>
              <a:rPr lang="en-US"/>
              <a:t>. Integer a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metus</a:t>
            </a:r>
            <a:r>
              <a:rPr lang="en-US"/>
              <a:t>. Vestibulum dictum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non pharetra. Nam id </a:t>
            </a:r>
            <a:r>
              <a:rPr lang="en-US" err="1"/>
              <a:t>finibus</a:t>
            </a:r>
            <a:r>
              <a:rPr lang="en-US"/>
              <a:t> dui. In semper, </a:t>
            </a:r>
            <a:r>
              <a:rPr lang="en-US" err="1"/>
              <a:t>urna</a:t>
            </a:r>
            <a:r>
              <a:rPr lang="en-US"/>
              <a:t> a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, </a:t>
            </a:r>
            <a:r>
              <a:rPr lang="en-US" err="1"/>
              <a:t>elit</a:t>
            </a:r>
            <a:r>
              <a:rPr lang="en-US"/>
              <a:t> nisi pulvinar dolor,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nisi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et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, lorem nisi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vel </a:t>
            </a:r>
            <a:r>
              <a:rPr lang="en-US" err="1"/>
              <a:t>tincidunt</a:t>
            </a:r>
            <a:r>
              <a:rPr lang="en-US"/>
              <a:t> ex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ipsum.dolor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C2DFE790-2157-4046-8A80-19CE6B2585D1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6531632" y="5830366"/>
            <a:ext cx="356400" cy="33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869432B9-D66A-4243-9246-BB509C779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31813"/>
            <a:ext cx="533400" cy="534204"/>
          </a:xfrm>
          <a:prstGeom prst="rect">
            <a:avLst/>
          </a:prstGeom>
          <a:solidFill>
            <a:schemeClr val="accent1"/>
          </a:solidFill>
        </p:spPr>
        <p:txBody>
          <a:bodyPr wrap="none" lIns="0" tIns="0" rIns="0" bIns="0" anchor="ctr"/>
          <a:lstStyle>
            <a:lvl1pPr marL="0" indent="0" algn="ctr">
              <a:buNone/>
              <a:defRPr kumimoji="0" lang="es-ES" sz="200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nkinter Sans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.N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7430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orient="horz" pos="849">
          <p15:clr>
            <a:srgbClr val="FBAE40"/>
          </p15:clr>
        </p15:guide>
        <p15:guide id="3" orient="horz" pos="429">
          <p15:clr>
            <a:srgbClr val="FBAE40"/>
          </p15:clr>
        </p15:guide>
        <p15:guide id="4" pos="504">
          <p15:clr>
            <a:srgbClr val="FBAE40"/>
          </p15:clr>
        </p15:guide>
        <p15:guide id="5" pos="443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26" Type="http://schemas.openxmlformats.org/officeDocument/2006/relationships/slideLayout" Target="../slideLayouts/slideLayout65.xml"/><Relationship Id="rId39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60.xml"/><Relationship Id="rId34" Type="http://schemas.openxmlformats.org/officeDocument/2006/relationships/slideLayout" Target="../slideLayouts/slideLayout73.xml"/><Relationship Id="rId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slideLayout" Target="../slideLayouts/slideLayout59.xml"/><Relationship Id="rId29" Type="http://schemas.openxmlformats.org/officeDocument/2006/relationships/slideLayout" Target="../slideLayouts/slideLayout68.xml"/><Relationship Id="rId41" Type="http://schemas.openxmlformats.org/officeDocument/2006/relationships/theme" Target="../theme/theme2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24" Type="http://schemas.openxmlformats.org/officeDocument/2006/relationships/slideLayout" Target="../slideLayouts/slideLayout63.xml"/><Relationship Id="rId32" Type="http://schemas.openxmlformats.org/officeDocument/2006/relationships/slideLayout" Target="../slideLayouts/slideLayout71.xml"/><Relationship Id="rId37" Type="http://schemas.openxmlformats.org/officeDocument/2006/relationships/slideLayout" Target="../slideLayouts/slideLayout76.xml"/><Relationship Id="rId40" Type="http://schemas.openxmlformats.org/officeDocument/2006/relationships/slideLayout" Target="../slideLayouts/slideLayout79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23" Type="http://schemas.openxmlformats.org/officeDocument/2006/relationships/slideLayout" Target="../slideLayouts/slideLayout62.xml"/><Relationship Id="rId28" Type="http://schemas.openxmlformats.org/officeDocument/2006/relationships/slideLayout" Target="../slideLayouts/slideLayout67.xml"/><Relationship Id="rId36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8.xml"/><Relationship Id="rId31" Type="http://schemas.openxmlformats.org/officeDocument/2006/relationships/slideLayout" Target="../slideLayouts/slideLayout70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61.xml"/><Relationship Id="rId27" Type="http://schemas.openxmlformats.org/officeDocument/2006/relationships/slideLayout" Target="../slideLayouts/slideLayout66.xml"/><Relationship Id="rId30" Type="http://schemas.openxmlformats.org/officeDocument/2006/relationships/slideLayout" Target="../slideLayouts/slideLayout69.xml"/><Relationship Id="rId35" Type="http://schemas.openxmlformats.org/officeDocument/2006/relationships/slideLayout" Target="../slideLayouts/slideLayout74.xml"/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5" Type="http://schemas.openxmlformats.org/officeDocument/2006/relationships/slideLayout" Target="../slideLayouts/slideLayout64.xml"/><Relationship Id="rId33" Type="http://schemas.openxmlformats.org/officeDocument/2006/relationships/slideLayout" Target="../slideLayouts/slideLayout72.xml"/><Relationship Id="rId3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/>
          <p:cNvSpPr>
            <a:spLocks noChangeAspect="1" noChangeArrowheads="1" noTextEdit="1"/>
          </p:cNvSpPr>
          <p:nvPr userDrawn="1"/>
        </p:nvSpPr>
        <p:spPr bwMode="auto">
          <a:xfrm>
            <a:off x="336550" y="6539592"/>
            <a:ext cx="761644" cy="9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5" name="Marcador de pie de página 2"/>
          <p:cNvSpPr>
            <a:spLocks noGrp="1"/>
          </p:cNvSpPr>
          <p:nvPr userDrawn="1">
            <p:ph type="ftr" sz="quarter" idx="3"/>
          </p:nvPr>
        </p:nvSpPr>
        <p:spPr>
          <a:xfrm>
            <a:off x="334963" y="6523038"/>
            <a:ext cx="3355708" cy="12311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sz="800"/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26" name="Marcador de título 25"/>
          <p:cNvSpPr>
            <a:spLocks noGrp="1"/>
          </p:cNvSpPr>
          <p:nvPr>
            <p:ph type="title"/>
          </p:nvPr>
        </p:nvSpPr>
        <p:spPr>
          <a:xfrm>
            <a:off x="336550" y="334964"/>
            <a:ext cx="11518900" cy="8440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36550" y="1268976"/>
            <a:ext cx="11518900" cy="49317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marL="324000" lvl="1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Segundo nivel</a:t>
            </a:r>
          </a:p>
          <a:p>
            <a:pPr marL="504000" lvl="2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>
          <a:xfrm>
            <a:off x="11136560" y="6523038"/>
            <a:ext cx="71889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279823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3" r:id="rId1"/>
    <p:sldLayoutId id="2147483675" r:id="rId2"/>
    <p:sldLayoutId id="2147483735" r:id="rId3"/>
    <p:sldLayoutId id="2147483736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  <p:sldLayoutId id="2147483692" r:id="rId14"/>
    <p:sldLayoutId id="2147483684" r:id="rId15"/>
    <p:sldLayoutId id="2147483717" r:id="rId16"/>
    <p:sldLayoutId id="2147483693" r:id="rId17"/>
    <p:sldLayoutId id="2147483720" r:id="rId18"/>
    <p:sldLayoutId id="2147483721" r:id="rId19"/>
    <p:sldLayoutId id="2147483722" r:id="rId20"/>
    <p:sldLayoutId id="2147483723" r:id="rId21"/>
    <p:sldLayoutId id="2147483718" r:id="rId22"/>
    <p:sldLayoutId id="2147483719" r:id="rId23"/>
    <p:sldLayoutId id="2147483724" r:id="rId24"/>
    <p:sldLayoutId id="2147483725" r:id="rId25"/>
    <p:sldLayoutId id="2147483697" r:id="rId26"/>
    <p:sldLayoutId id="2147483698" r:id="rId27"/>
    <p:sldLayoutId id="2147483699" r:id="rId28"/>
    <p:sldLayoutId id="2147483705" r:id="rId29"/>
    <p:sldLayoutId id="2147483706" r:id="rId30"/>
    <p:sldLayoutId id="2147483708" r:id="rId31"/>
    <p:sldLayoutId id="2147483761" r:id="rId32"/>
    <p:sldLayoutId id="2147483762" r:id="rId33"/>
    <p:sldLayoutId id="2147483700" r:id="rId34"/>
    <p:sldLayoutId id="2147483713" r:id="rId35"/>
    <p:sldLayoutId id="2147483703" r:id="rId36"/>
    <p:sldLayoutId id="2147483714" r:id="rId37"/>
    <p:sldLayoutId id="2147483715" r:id="rId38"/>
    <p:sldLayoutId id="2147483716" r:id="rId39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000" indent="-144000" algn="l" defTabSz="914400" rtl="0" eaLnBrk="1" latinLnBrk="0" hangingPunct="1">
        <a:lnSpc>
          <a:spcPct val="100000"/>
        </a:lnSpc>
        <a:spcBef>
          <a:spcPts val="1800"/>
        </a:spcBef>
        <a:spcAft>
          <a:spcPts val="600"/>
        </a:spcAft>
        <a:buFont typeface="Arial" panose="020B0604020202020204" pitchFamily="34" charset="0"/>
        <a:buChar char="•"/>
        <a:defRPr lang="es-ES" sz="14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5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es-ES" sz="12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3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es-E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 userDrawn="1">
          <p15:clr>
            <a:srgbClr val="F26B43"/>
          </p15:clr>
        </p15:guide>
        <p15:guide id="2" pos="7468" userDrawn="1">
          <p15:clr>
            <a:srgbClr val="F26B43"/>
          </p15:clr>
        </p15:guide>
        <p15:guide id="3" orient="horz" pos="4109" userDrawn="1">
          <p15:clr>
            <a:srgbClr val="F26B43"/>
          </p15:clr>
        </p15:guide>
        <p15:guide id="4" orient="horz" pos="211" userDrawn="1">
          <p15:clr>
            <a:srgbClr val="F26B43"/>
          </p15:clr>
        </p15:guide>
        <p15:guide id="5" orient="horz" pos="390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/>
          <p:cNvSpPr>
            <a:spLocks noChangeAspect="1" noChangeArrowheads="1" noTextEdit="1"/>
          </p:cNvSpPr>
          <p:nvPr userDrawn="1"/>
        </p:nvSpPr>
        <p:spPr bwMode="auto">
          <a:xfrm>
            <a:off x="336550" y="6539592"/>
            <a:ext cx="761644" cy="9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5" name="Marcador de pie de página 2"/>
          <p:cNvSpPr>
            <a:spLocks noGrp="1"/>
          </p:cNvSpPr>
          <p:nvPr userDrawn="1">
            <p:ph type="ftr" sz="quarter" idx="3"/>
          </p:nvPr>
        </p:nvSpPr>
        <p:spPr>
          <a:xfrm>
            <a:off x="334963" y="6523038"/>
            <a:ext cx="3355708" cy="12311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sz="800"/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26" name="Marcador de título 25"/>
          <p:cNvSpPr>
            <a:spLocks noGrp="1"/>
          </p:cNvSpPr>
          <p:nvPr>
            <p:ph type="title"/>
          </p:nvPr>
        </p:nvSpPr>
        <p:spPr>
          <a:xfrm>
            <a:off x="336550" y="334964"/>
            <a:ext cx="11518900" cy="8440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36550" y="1268976"/>
            <a:ext cx="11518900" cy="49317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marL="324000" lvl="1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Segundo nivel</a:t>
            </a:r>
          </a:p>
          <a:p>
            <a:pPr marL="504000" lvl="2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>
          <a:xfrm>
            <a:off x="11136560" y="6523038"/>
            <a:ext cx="71889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300206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  <p:sldLayoutId id="2147483781" r:id="rId18"/>
    <p:sldLayoutId id="2147483782" r:id="rId19"/>
    <p:sldLayoutId id="2147483783" r:id="rId20"/>
    <p:sldLayoutId id="2147483784" r:id="rId21"/>
    <p:sldLayoutId id="2147483785" r:id="rId22"/>
    <p:sldLayoutId id="2147483786" r:id="rId23"/>
    <p:sldLayoutId id="2147483787" r:id="rId24"/>
    <p:sldLayoutId id="2147483788" r:id="rId25"/>
    <p:sldLayoutId id="2147483789" r:id="rId26"/>
    <p:sldLayoutId id="2147483790" r:id="rId27"/>
    <p:sldLayoutId id="2147483791" r:id="rId28"/>
    <p:sldLayoutId id="2147483792" r:id="rId29"/>
    <p:sldLayoutId id="2147483793" r:id="rId30"/>
    <p:sldLayoutId id="2147483794" r:id="rId31"/>
    <p:sldLayoutId id="2147483795" r:id="rId32"/>
    <p:sldLayoutId id="2147483796" r:id="rId33"/>
    <p:sldLayoutId id="2147483797" r:id="rId34"/>
    <p:sldLayoutId id="2147483798" r:id="rId35"/>
    <p:sldLayoutId id="2147483799" r:id="rId36"/>
    <p:sldLayoutId id="2147483800" r:id="rId37"/>
    <p:sldLayoutId id="2147483801" r:id="rId38"/>
    <p:sldLayoutId id="2147483802" r:id="rId39"/>
    <p:sldLayoutId id="2147483803" r:id="rId40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000" indent="-144000" algn="l" defTabSz="914400" rtl="0" eaLnBrk="1" latinLnBrk="0" hangingPunct="1">
        <a:lnSpc>
          <a:spcPct val="100000"/>
        </a:lnSpc>
        <a:spcBef>
          <a:spcPts val="1800"/>
        </a:spcBef>
        <a:spcAft>
          <a:spcPts val="600"/>
        </a:spcAft>
        <a:buFont typeface="Arial" panose="020B0604020202020204" pitchFamily="34" charset="0"/>
        <a:buChar char="•"/>
        <a:defRPr lang="es-ES" sz="14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5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es-ES" sz="12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3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es-E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>
          <p15:clr>
            <a:srgbClr val="F26B43"/>
          </p15:clr>
        </p15:guide>
        <p15:guide id="2" pos="7468">
          <p15:clr>
            <a:srgbClr val="F26B43"/>
          </p15:clr>
        </p15:guide>
        <p15:guide id="3" orient="horz" pos="4109">
          <p15:clr>
            <a:srgbClr val="F26B43"/>
          </p15:clr>
        </p15:guide>
        <p15:guide id="4" orient="horz" pos="211">
          <p15:clr>
            <a:srgbClr val="F26B43"/>
          </p15:clr>
        </p15:guide>
        <p15:guide id="5" orient="horz" pos="390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9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ítulo 15"/>
          <p:cNvSpPr>
            <a:spLocks noGrp="1"/>
          </p:cNvSpPr>
          <p:nvPr>
            <p:ph type="subTitle" idx="1"/>
          </p:nvPr>
        </p:nvSpPr>
        <p:spPr>
          <a:xfrm>
            <a:off x="405137" y="5301208"/>
            <a:ext cx="5039442" cy="720757"/>
          </a:xfrm>
        </p:spPr>
        <p:txBody>
          <a:bodyPr/>
          <a:lstStyle/>
          <a:p>
            <a:r>
              <a:rPr lang="es-ES" dirty="0"/>
              <a:t>Operaciones </a:t>
            </a:r>
            <a:r>
              <a:rPr lang="es-ES" dirty="0" err="1"/>
              <a:t>Tech</a:t>
            </a:r>
            <a:endParaRPr lang="es-ES" dirty="0"/>
          </a:p>
        </p:txBody>
      </p:sp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399729" y="1556792"/>
            <a:ext cx="5039442" cy="3150783"/>
          </a:xfrm>
        </p:spPr>
        <p:txBody>
          <a:bodyPr/>
          <a:lstStyle/>
          <a:p>
            <a:r>
              <a:rPr lang="pt-PT" dirty="0"/>
              <a:t>Seguimento de Projeto</a:t>
            </a:r>
            <a:br>
              <a:rPr lang="pt-PT" dirty="0"/>
            </a:br>
            <a:r>
              <a:rPr lang="pt-PT" dirty="0"/>
              <a:t>ATM   Management Modernization</a:t>
            </a:r>
          </a:p>
        </p:txBody>
      </p:sp>
      <p:sp>
        <p:nvSpPr>
          <p:cNvPr id="17" name="Marcador de texto 1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dirty="0"/>
              <a:t>22 de Outubro de 2025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053" y="334963"/>
            <a:ext cx="5122515" cy="6159850"/>
          </a:xfrm>
          <a:prstGeom prst="rect">
            <a:avLst/>
          </a:prstGeom>
        </p:spPr>
      </p:pic>
      <p:pic>
        <p:nvPicPr>
          <p:cNvPr id="6" name="Picture Placeholder 5"/>
          <p:cNvPicPr>
            <a:picLocks noGrp="1" noChangeAspect="1"/>
          </p:cNvPicPr>
          <p:nvPr>
            <p:ph type="pic" sz="quarter" idx="15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86" b="141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9430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5283286B-EE55-719E-2945-8CA52B0C80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5360" y="323548"/>
            <a:ext cx="8982000" cy="153888"/>
          </a:xfrm>
        </p:spPr>
        <p:txBody>
          <a:bodyPr/>
          <a:lstStyle/>
          <a:p>
            <a:r>
              <a:rPr lang="es-ES" dirty="0"/>
              <a:t>Operaciones </a:t>
            </a:r>
            <a:r>
              <a:rPr lang="es-ES" dirty="0" err="1"/>
              <a:t>Tech</a:t>
            </a:r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FC1313C-3567-46FC-511B-78CEABE3AFD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4963" y="5970185"/>
            <a:ext cx="3355708" cy="123111"/>
          </a:xfrm>
        </p:spPr>
        <p:txBody>
          <a:bodyPr/>
          <a:lstStyle/>
          <a:p>
            <a:r>
              <a:rPr lang="pt-PT" dirty="0"/>
              <a:t>Minsait  /  Reporting de Projetos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713A1C7-D639-8097-AAF4-3A144BE8087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136560" y="5970185"/>
            <a:ext cx="718890" cy="123111"/>
          </a:xfrm>
        </p:spPr>
        <p:txBody>
          <a:bodyPr/>
          <a:lstStyle/>
          <a:p>
            <a:fld id="{62BDF71B-C47C-4195-98C2-A4F5335C27F9}" type="slidenum">
              <a:rPr lang="es-ES" smtClean="0"/>
              <a:pPr/>
              <a:t>2</a:t>
            </a:fld>
            <a:endParaRPr lang="es-ES" dirty="0"/>
          </a:p>
        </p:txBody>
      </p:sp>
      <p:sp>
        <p:nvSpPr>
          <p:cNvPr id="59" name="Título 3">
            <a:extLst>
              <a:ext uri="{FF2B5EF4-FFF2-40B4-BE49-F238E27FC236}">
                <a16:creationId xmlns:a16="http://schemas.microsoft.com/office/drawing/2014/main" id="{0728EC17-30C1-7821-780A-083D2D73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59" y="549275"/>
            <a:ext cx="8980445" cy="361004"/>
          </a:xfrm>
        </p:spPr>
        <p:txBody>
          <a:bodyPr/>
          <a:lstStyle/>
          <a:p>
            <a:r>
              <a:rPr lang="pt-PT" sz="2400" dirty="0"/>
              <a:t>Santander / ATM -  Management Modernization</a:t>
            </a:r>
          </a:p>
        </p:txBody>
      </p:sp>
      <p:sp>
        <p:nvSpPr>
          <p:cNvPr id="96" name="Title 1">
            <a:extLst>
              <a:ext uri="{FF2B5EF4-FFF2-40B4-BE49-F238E27FC236}">
                <a16:creationId xmlns:a16="http://schemas.microsoft.com/office/drawing/2014/main" id="{74EAD688-B6FA-2226-E486-511A05B724FF}"/>
              </a:ext>
            </a:extLst>
          </p:cNvPr>
          <p:cNvSpPr txBox="1">
            <a:spLocks/>
          </p:cNvSpPr>
          <p:nvPr/>
        </p:nvSpPr>
        <p:spPr>
          <a:xfrm>
            <a:off x="336029" y="2565484"/>
            <a:ext cx="813623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s-ES"/>
            </a:defPPr>
            <a:lvl1pPr inden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cap="all" baseline="0">
                <a:solidFill>
                  <a:schemeClr val="bg1"/>
                </a:solidFill>
              </a:defRPr>
            </a:lvl1pPr>
            <a:lvl2pPr marL="35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2pPr>
            <a:lvl3pPr marL="53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3pPr>
            <a:lvl4pPr marL="68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 marL="86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pt-PT" sz="1400" dirty="0">
                <a:sym typeface="Knockout HTF26-JuniorFlyweight"/>
              </a:rPr>
              <a:t>Atividades </a:t>
            </a:r>
            <a:r>
              <a:rPr lang="pt-PT" sz="1400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Finalizadas / EM CURSO + OUTRAS NOTAS</a:t>
            </a:r>
          </a:p>
        </p:txBody>
      </p:sp>
      <p:sp>
        <p:nvSpPr>
          <p:cNvPr id="98" name="Title 1">
            <a:extLst>
              <a:ext uri="{FF2B5EF4-FFF2-40B4-BE49-F238E27FC236}">
                <a16:creationId xmlns:a16="http://schemas.microsoft.com/office/drawing/2014/main" id="{E1A92933-293E-1389-F4AA-877905A25A49}"/>
              </a:ext>
            </a:extLst>
          </p:cNvPr>
          <p:cNvSpPr txBox="1">
            <a:spLocks/>
          </p:cNvSpPr>
          <p:nvPr/>
        </p:nvSpPr>
        <p:spPr>
          <a:xfrm>
            <a:off x="334962" y="1016398"/>
            <a:ext cx="3168749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inden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s-ES" sz="1000" cap="all" baseline="0">
                <a:solidFill>
                  <a:schemeClr val="bg1"/>
                </a:solidFill>
              </a:defRPr>
            </a:lvl1pPr>
            <a:lvl2pPr marL="35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2pPr>
            <a:lvl3pPr marL="53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3pPr>
            <a:lvl4pPr marL="68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 marL="86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pt-PT" sz="1400" dirty="0">
                <a:latin typeface="ForFuture Sans (Body)"/>
                <a:sym typeface="Knockout HTF26-JuniorFlyweight"/>
              </a:rPr>
              <a:t>Estado Global: </a:t>
            </a:r>
            <a:r>
              <a:rPr lang="pt-PT" sz="1400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RESUMO</a:t>
            </a:r>
          </a:p>
        </p:txBody>
      </p:sp>
      <p:sp>
        <p:nvSpPr>
          <p:cNvPr id="102" name="Freeform 18">
            <a:extLst>
              <a:ext uri="{FF2B5EF4-FFF2-40B4-BE49-F238E27FC236}">
                <a16:creationId xmlns:a16="http://schemas.microsoft.com/office/drawing/2014/main" id="{7FFECF04-CEC1-0752-B376-647924450B65}"/>
              </a:ext>
            </a:extLst>
          </p:cNvPr>
          <p:cNvSpPr/>
          <p:nvPr/>
        </p:nvSpPr>
        <p:spPr>
          <a:xfrm>
            <a:off x="334962" y="1320104"/>
            <a:ext cx="8713366" cy="1028776"/>
          </a:xfrm>
          <a:custGeom>
            <a:avLst/>
            <a:gdLst>
              <a:gd name="connsiteX0" fmla="*/ 95367 w 5709018"/>
              <a:gd name="connsiteY0" fmla="*/ 0 h 1072465"/>
              <a:gd name="connsiteX1" fmla="*/ 5613649 w 5709018"/>
              <a:gd name="connsiteY1" fmla="*/ 0 h 1072465"/>
              <a:gd name="connsiteX2" fmla="*/ 5709018 w 5709018"/>
              <a:gd name="connsiteY2" fmla="*/ 95367 h 1072465"/>
              <a:gd name="connsiteX3" fmla="*/ 5709018 w 5709018"/>
              <a:gd name="connsiteY3" fmla="*/ 977098 h 1072465"/>
              <a:gd name="connsiteX4" fmla="*/ 5613649 w 5709018"/>
              <a:gd name="connsiteY4" fmla="*/ 1072465 h 1072465"/>
              <a:gd name="connsiteX5" fmla="*/ 95367 w 5709018"/>
              <a:gd name="connsiteY5" fmla="*/ 1072465 h 1072465"/>
              <a:gd name="connsiteX6" fmla="*/ 0 w 5709018"/>
              <a:gd name="connsiteY6" fmla="*/ 977098 h 1072465"/>
              <a:gd name="connsiteX7" fmla="*/ 0 w 5709018"/>
              <a:gd name="connsiteY7" fmla="*/ 95367 h 1072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09018" h="1072465">
                <a:moveTo>
                  <a:pt x="95367" y="0"/>
                </a:moveTo>
                <a:lnTo>
                  <a:pt x="5613649" y="0"/>
                </a:lnTo>
                <a:lnTo>
                  <a:pt x="5709018" y="95367"/>
                </a:lnTo>
                <a:lnTo>
                  <a:pt x="5709018" y="977098"/>
                </a:lnTo>
                <a:lnTo>
                  <a:pt x="5613649" y="1072465"/>
                </a:lnTo>
                <a:lnTo>
                  <a:pt x="95367" y="1072465"/>
                </a:lnTo>
                <a:lnTo>
                  <a:pt x="0" y="977098"/>
                </a:lnTo>
                <a:lnTo>
                  <a:pt x="0" y="95367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72000" rIns="0" bIns="0" rtlCol="0">
            <a:noAutofit/>
          </a:bodyPr>
          <a:lstStyle/>
          <a:p>
            <a:pPr marL="72000"/>
            <a:r>
              <a:rPr lang="pt-PT" sz="1400" dirty="0">
                <a:solidFill>
                  <a:schemeClr val="bg1"/>
                </a:solidFill>
              </a:rPr>
              <a:t>Plano de correção de bugs e pequenas alterações ao aplicativo dos ATM’s, em fase de testes de certificação</a:t>
            </a:r>
          </a:p>
          <a:p>
            <a:pPr marL="72000"/>
            <a:r>
              <a:rPr lang="pt-PT" sz="1400" dirty="0">
                <a:solidFill>
                  <a:schemeClr val="bg1"/>
                </a:solidFill>
              </a:rPr>
              <a:t> </a:t>
            </a:r>
          </a:p>
          <a:p>
            <a:pPr marL="72000"/>
            <a:r>
              <a:rPr lang="pt-PT" sz="1400" b="1" dirty="0">
                <a:solidFill>
                  <a:schemeClr val="bg1"/>
                </a:solidFill>
              </a:rPr>
              <a:t>Semana: 16/out a 22/out</a:t>
            </a:r>
            <a:endParaRPr lang="pt-PT" sz="1400" dirty="0">
              <a:solidFill>
                <a:schemeClr val="bg1"/>
              </a:solidFill>
            </a:endParaRPr>
          </a:p>
        </p:txBody>
      </p:sp>
      <p:sp>
        <p:nvSpPr>
          <p:cNvPr id="103" name="Freeform 18">
            <a:extLst>
              <a:ext uri="{FF2B5EF4-FFF2-40B4-BE49-F238E27FC236}">
                <a16:creationId xmlns:a16="http://schemas.microsoft.com/office/drawing/2014/main" id="{0359355B-F8E2-5F38-0D51-99288737CD21}"/>
              </a:ext>
            </a:extLst>
          </p:cNvPr>
          <p:cNvSpPr/>
          <p:nvPr/>
        </p:nvSpPr>
        <p:spPr>
          <a:xfrm>
            <a:off x="335360" y="2852936"/>
            <a:ext cx="11737304" cy="3888432"/>
          </a:xfrm>
          <a:custGeom>
            <a:avLst/>
            <a:gdLst>
              <a:gd name="connsiteX0" fmla="*/ 95367 w 5709018"/>
              <a:gd name="connsiteY0" fmla="*/ 0 h 1072465"/>
              <a:gd name="connsiteX1" fmla="*/ 5613649 w 5709018"/>
              <a:gd name="connsiteY1" fmla="*/ 0 h 1072465"/>
              <a:gd name="connsiteX2" fmla="*/ 5709018 w 5709018"/>
              <a:gd name="connsiteY2" fmla="*/ 95367 h 1072465"/>
              <a:gd name="connsiteX3" fmla="*/ 5709018 w 5709018"/>
              <a:gd name="connsiteY3" fmla="*/ 977098 h 1072465"/>
              <a:gd name="connsiteX4" fmla="*/ 5613649 w 5709018"/>
              <a:gd name="connsiteY4" fmla="*/ 1072465 h 1072465"/>
              <a:gd name="connsiteX5" fmla="*/ 95367 w 5709018"/>
              <a:gd name="connsiteY5" fmla="*/ 1072465 h 1072465"/>
              <a:gd name="connsiteX6" fmla="*/ 0 w 5709018"/>
              <a:gd name="connsiteY6" fmla="*/ 977098 h 1072465"/>
              <a:gd name="connsiteX7" fmla="*/ 0 w 5709018"/>
              <a:gd name="connsiteY7" fmla="*/ 95367 h 1072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09018" h="1072465">
                <a:moveTo>
                  <a:pt x="95367" y="0"/>
                </a:moveTo>
                <a:lnTo>
                  <a:pt x="5613649" y="0"/>
                </a:lnTo>
                <a:lnTo>
                  <a:pt x="5709018" y="95367"/>
                </a:lnTo>
                <a:lnTo>
                  <a:pt x="5709018" y="977098"/>
                </a:lnTo>
                <a:lnTo>
                  <a:pt x="5613649" y="1072465"/>
                </a:lnTo>
                <a:lnTo>
                  <a:pt x="95367" y="1072465"/>
                </a:lnTo>
                <a:lnTo>
                  <a:pt x="0" y="977098"/>
                </a:lnTo>
                <a:lnTo>
                  <a:pt x="0" y="95367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>
            <a:noAutofit/>
          </a:bodyPr>
          <a:lstStyle/>
          <a:p>
            <a:endParaRPr lang="pt-PT" sz="1400" b="1" dirty="0">
              <a:solidFill>
                <a:schemeClr val="bg1"/>
              </a:solidFill>
            </a:endParaRPr>
          </a:p>
          <a:p>
            <a:endParaRPr lang="pt-PT" sz="1400" b="1" dirty="0">
              <a:solidFill>
                <a:schemeClr val="bg1"/>
              </a:solidFill>
            </a:endParaRPr>
          </a:p>
          <a:p>
            <a:endParaRPr lang="pt-PT" sz="1400" b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PT" sz="1400" b="1" dirty="0">
                <a:solidFill>
                  <a:schemeClr val="bg1"/>
                </a:solidFill>
              </a:rPr>
              <a:t>Um bug reportado no decorrer desta semana</a:t>
            </a:r>
          </a:p>
          <a:p>
            <a:endParaRPr lang="pt-PT" sz="1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PT" sz="1400" b="1" dirty="0">
                <a:solidFill>
                  <a:schemeClr val="bg1"/>
                </a:solidFill>
              </a:rPr>
              <a:t>Continuação de testes por parte do banco às correções efetuadas</a:t>
            </a:r>
          </a:p>
          <a:p>
            <a:r>
              <a:rPr lang="pt-PT" sz="1400" b="1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0591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5283286B-EE55-719E-2945-8CA52B0C80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5360" y="323548"/>
            <a:ext cx="8982000" cy="615553"/>
          </a:xfrm>
        </p:spPr>
        <p:txBody>
          <a:bodyPr/>
          <a:lstStyle/>
          <a:p>
            <a:r>
              <a:rPr lang="es-ES" dirty="0"/>
              <a:t>Operaciones </a:t>
            </a:r>
            <a:r>
              <a:rPr lang="es-ES" dirty="0" err="1"/>
              <a:t>Tech</a:t>
            </a:r>
            <a:endParaRPr lang="es-ES" dirty="0"/>
          </a:p>
          <a:p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FC1313C-3567-46FC-511B-78CEABE3AFD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pt-PT" dirty="0"/>
              <a:t>Minsait  /  Reporting de Projetos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713A1C7-D639-8097-AAF4-3A144BE8087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3</a:t>
            </a:fld>
            <a:endParaRPr lang="es-ES" dirty="0"/>
          </a:p>
        </p:txBody>
      </p:sp>
      <p:sp>
        <p:nvSpPr>
          <p:cNvPr id="59" name="Título 3">
            <a:extLst>
              <a:ext uri="{FF2B5EF4-FFF2-40B4-BE49-F238E27FC236}">
                <a16:creationId xmlns:a16="http://schemas.microsoft.com/office/drawing/2014/main" id="{0728EC17-30C1-7821-780A-083D2D73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59" y="549275"/>
            <a:ext cx="8980445" cy="361004"/>
          </a:xfrm>
        </p:spPr>
        <p:txBody>
          <a:bodyPr/>
          <a:lstStyle/>
          <a:p>
            <a:r>
              <a:rPr lang="pt-PT" sz="2400" dirty="0"/>
              <a:t>Santander / ATM -  Management Modernization</a:t>
            </a:r>
          </a:p>
        </p:txBody>
      </p:sp>
      <p:sp>
        <p:nvSpPr>
          <p:cNvPr id="98" name="Title 1">
            <a:extLst>
              <a:ext uri="{FF2B5EF4-FFF2-40B4-BE49-F238E27FC236}">
                <a16:creationId xmlns:a16="http://schemas.microsoft.com/office/drawing/2014/main" id="{E1A92933-293E-1389-F4AA-877905A25A49}"/>
              </a:ext>
            </a:extLst>
          </p:cNvPr>
          <p:cNvSpPr txBox="1">
            <a:spLocks/>
          </p:cNvSpPr>
          <p:nvPr/>
        </p:nvSpPr>
        <p:spPr>
          <a:xfrm>
            <a:off x="334962" y="980728"/>
            <a:ext cx="468091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inden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s-ES" sz="1000" cap="all" baseline="0">
                <a:solidFill>
                  <a:schemeClr val="bg1"/>
                </a:solidFill>
              </a:defRPr>
            </a:lvl1pPr>
            <a:lvl2pPr marL="35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2pPr>
            <a:lvl3pPr marL="53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3pPr>
            <a:lvl4pPr marL="68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 marL="86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pt-PT" sz="1400" dirty="0">
                <a:latin typeface="ForFuture Sans (Body)"/>
                <a:sym typeface="Knockout HTF26-JuniorFlyweight"/>
              </a:rPr>
              <a:t>PONTOS: </a:t>
            </a:r>
            <a:r>
              <a:rPr lang="pt-PT" sz="1400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Principais bugs </a:t>
            </a:r>
            <a:r>
              <a:rPr lang="pt-PT" sz="1400" b="1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CLOSED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5EF4181-B8FE-9D48-5817-BA969C4D2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110184"/>
              </p:ext>
            </p:extLst>
          </p:nvPr>
        </p:nvGraphicFramePr>
        <p:xfrm>
          <a:off x="334963" y="1266621"/>
          <a:ext cx="11520487" cy="54212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64951">
                  <a:extLst>
                    <a:ext uri="{9D8B030D-6E8A-4147-A177-3AD203B41FA5}">
                      <a16:colId xmlns:a16="http://schemas.microsoft.com/office/drawing/2014/main" val="3770673058"/>
                    </a:ext>
                  </a:extLst>
                </a:gridCol>
                <a:gridCol w="2375013">
                  <a:extLst>
                    <a:ext uri="{9D8B030D-6E8A-4147-A177-3AD203B41FA5}">
                      <a16:colId xmlns:a16="http://schemas.microsoft.com/office/drawing/2014/main" val="3953165012"/>
                    </a:ext>
                  </a:extLst>
                </a:gridCol>
                <a:gridCol w="6841554">
                  <a:extLst>
                    <a:ext uri="{9D8B030D-6E8A-4147-A177-3AD203B41FA5}">
                      <a16:colId xmlns:a16="http://schemas.microsoft.com/office/drawing/2014/main" val="4098599538"/>
                    </a:ext>
                  </a:extLst>
                </a:gridCol>
                <a:gridCol w="1438969">
                  <a:extLst>
                    <a:ext uri="{9D8B030D-6E8A-4147-A177-3AD203B41FA5}">
                      <a16:colId xmlns:a16="http://schemas.microsoft.com/office/drawing/2014/main" val="1432287253"/>
                    </a:ext>
                  </a:extLst>
                </a:gridCol>
              </a:tblGrid>
              <a:tr h="424928">
                <a:tc>
                  <a:txBody>
                    <a:bodyPr/>
                    <a:lstStyle/>
                    <a:p>
                      <a:pPr algn="ctr"/>
                      <a:r>
                        <a:rPr lang="es-ES" sz="1400" b="1" i="1" u="none" kern="1200" noProof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Bug Title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Bug Description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582144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228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Ficha de Local</a:t>
                      </a:r>
                    </a:p>
                    <a:p>
                      <a:endParaRPr lang="pt-PT" sz="1200" b="0" i="0" u="none" kern="12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Quando exportamos a informação, parece muitas linhas repetidas para o mesmo local</a:t>
                      </a:r>
                      <a:endParaRPr kumimoji="0" lang="es-E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F062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Set/25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102892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232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Ficha de Logistica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Os estados não estão a mudar quando fechamos fichas de logística- Dúvida: onde colocamos novo BAA?</a:t>
                      </a:r>
                      <a:endParaRPr kumimoji="0" lang="es-E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F062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Set/25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476599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237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Rendas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Menu Financeira: Rendas. Filtros de pesquisa - Data Final não está a funcionar. Pretendemos que seja a data inicial + prazo inicial do contrato</a:t>
                      </a:r>
                      <a:endParaRPr kumimoji="0" lang="es-E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F062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Set/25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079749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272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Rendas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Quando carregamos ficheiro em formato .xls para assignar vários locais a uma renda, dá uma mensagem de erro (antigo bug 221)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Set/25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650995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273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Exportar Rendas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 coluna E deveria estar desdobrada em dois: "Prazo inicial" e "Prazo de carência", tal como preenchemos na parte das Rendas</a:t>
                      </a:r>
                      <a:endParaRPr kumimoji="0" lang="es-E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F062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Set/25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10503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279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Financeira -Processamentos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User: Selfbanking. Ao iniciar processamento do fecho do mês, efetuamos o upload dos ficheiros das ETV'S e surgiu a seguinte mensagem o erro em anexo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Set/25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061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3542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5283286B-EE55-719E-2945-8CA52B0C80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5360" y="323548"/>
            <a:ext cx="8982000" cy="615553"/>
          </a:xfrm>
        </p:spPr>
        <p:txBody>
          <a:bodyPr/>
          <a:lstStyle/>
          <a:p>
            <a:r>
              <a:rPr lang="es-ES" dirty="0"/>
              <a:t>Operaciones </a:t>
            </a:r>
            <a:r>
              <a:rPr lang="es-ES" dirty="0" err="1"/>
              <a:t>Tech</a:t>
            </a:r>
            <a:endParaRPr lang="es-ES" dirty="0"/>
          </a:p>
          <a:p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FC1313C-3567-46FC-511B-78CEABE3AFD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91344" y="6673137"/>
            <a:ext cx="3355708" cy="123111"/>
          </a:xfrm>
        </p:spPr>
        <p:txBody>
          <a:bodyPr/>
          <a:lstStyle/>
          <a:p>
            <a:r>
              <a:rPr lang="pt-PT" dirty="0"/>
              <a:t>Minsait  /  Reporting de Projetos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713A1C7-D639-8097-AAF4-3A144BE8087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4</a:t>
            </a:fld>
            <a:endParaRPr lang="es-ES" dirty="0"/>
          </a:p>
        </p:txBody>
      </p:sp>
      <p:sp>
        <p:nvSpPr>
          <p:cNvPr id="59" name="Título 3">
            <a:extLst>
              <a:ext uri="{FF2B5EF4-FFF2-40B4-BE49-F238E27FC236}">
                <a16:creationId xmlns:a16="http://schemas.microsoft.com/office/drawing/2014/main" id="{0728EC17-30C1-7821-780A-083D2D73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59" y="549275"/>
            <a:ext cx="8980445" cy="361004"/>
          </a:xfrm>
        </p:spPr>
        <p:txBody>
          <a:bodyPr/>
          <a:lstStyle/>
          <a:p>
            <a:r>
              <a:rPr lang="pt-PT" sz="2400" dirty="0"/>
              <a:t>Santander / ATM -  Management Modernization</a:t>
            </a:r>
          </a:p>
        </p:txBody>
      </p:sp>
      <p:sp>
        <p:nvSpPr>
          <p:cNvPr id="98" name="Title 1">
            <a:extLst>
              <a:ext uri="{FF2B5EF4-FFF2-40B4-BE49-F238E27FC236}">
                <a16:creationId xmlns:a16="http://schemas.microsoft.com/office/drawing/2014/main" id="{E1A92933-293E-1389-F4AA-877905A25A49}"/>
              </a:ext>
            </a:extLst>
          </p:cNvPr>
          <p:cNvSpPr txBox="1">
            <a:spLocks/>
          </p:cNvSpPr>
          <p:nvPr/>
        </p:nvSpPr>
        <p:spPr>
          <a:xfrm>
            <a:off x="334962" y="980728"/>
            <a:ext cx="468091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inden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s-ES" sz="1000" cap="all" baseline="0">
                <a:solidFill>
                  <a:schemeClr val="bg1"/>
                </a:solidFill>
              </a:defRPr>
            </a:lvl1pPr>
            <a:lvl2pPr marL="35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2pPr>
            <a:lvl3pPr marL="53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3pPr>
            <a:lvl4pPr marL="68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 marL="86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pt-PT" sz="1400" dirty="0">
                <a:latin typeface="ForFuture Sans (Body)"/>
                <a:sym typeface="Knockout HTF26-JuniorFlyweight"/>
              </a:rPr>
              <a:t>PONTOS: </a:t>
            </a:r>
            <a:r>
              <a:rPr lang="pt-PT" sz="1400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Principais bugs </a:t>
            </a:r>
            <a:r>
              <a:rPr lang="pt-PT" sz="1400" b="1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CLOSED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5EF4181-B8FE-9D48-5817-BA969C4D2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849419"/>
              </p:ext>
            </p:extLst>
          </p:nvPr>
        </p:nvGraphicFramePr>
        <p:xfrm>
          <a:off x="407368" y="1198249"/>
          <a:ext cx="11520487" cy="54212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64951">
                  <a:extLst>
                    <a:ext uri="{9D8B030D-6E8A-4147-A177-3AD203B41FA5}">
                      <a16:colId xmlns:a16="http://schemas.microsoft.com/office/drawing/2014/main" val="3770673058"/>
                    </a:ext>
                  </a:extLst>
                </a:gridCol>
                <a:gridCol w="2375807">
                  <a:extLst>
                    <a:ext uri="{9D8B030D-6E8A-4147-A177-3AD203B41FA5}">
                      <a16:colId xmlns:a16="http://schemas.microsoft.com/office/drawing/2014/main" val="3953165012"/>
                    </a:ext>
                  </a:extLst>
                </a:gridCol>
                <a:gridCol w="6840760">
                  <a:extLst>
                    <a:ext uri="{9D8B030D-6E8A-4147-A177-3AD203B41FA5}">
                      <a16:colId xmlns:a16="http://schemas.microsoft.com/office/drawing/2014/main" val="4098599538"/>
                    </a:ext>
                  </a:extLst>
                </a:gridCol>
                <a:gridCol w="1438969">
                  <a:extLst>
                    <a:ext uri="{9D8B030D-6E8A-4147-A177-3AD203B41FA5}">
                      <a16:colId xmlns:a16="http://schemas.microsoft.com/office/drawing/2014/main" val="1432287253"/>
                    </a:ext>
                  </a:extLst>
                </a:gridCol>
              </a:tblGrid>
              <a:tr h="424928">
                <a:tc>
                  <a:txBody>
                    <a:bodyPr/>
                    <a:lstStyle/>
                    <a:p>
                      <a:pPr algn="ctr"/>
                      <a:r>
                        <a:rPr lang="es-ES" sz="1400" b="1" i="1" u="none" kern="1200" noProof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Bug Title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Bug Description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582144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288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Manutenção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User: Selfbanking. Novos ATMS SIBS. Está informação carregada referente aos ficheiros diários enviados anteriormente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Set/25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410709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Financeira - Rendas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User: Selfbanking. Cod Local 10008. Carregar uma renda mista por operações. Qaundo carrego a componente variável aparece a lisra de operações na operação 1, mas na operação 2 já não aparecer. não conseguimos carregar.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Set/25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341343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strike="noStrik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298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Gestão - Informação contrato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User: Balcão. Proposta feita por Balcão. Preencho a informação de contrato e faço guardar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Set/25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473382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280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Gestão - Proposta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User: Selfbanking Admin. Elaborar proposta. Campo "Gestor ATM" e "ATM Balcão" bloqueados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Out/25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436816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284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Criar Parque de Máquinas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pt-P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User: Selfbanking. Upload do Parque de Máquinas e o ecrã fica sem informação. Pelo menos  tipo de tintagem devia vir preenchido porque vem do excel</a:t>
                      </a:r>
                      <a:endParaRPr kumimoji="0" lang="pt-PT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4F062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Out/25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17616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algn="ctr" fontAlgn="b"/>
                      <a:r>
                        <a:rPr lang="pt-PT" sz="1400" b="1" i="0" u="none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231</a:t>
                      </a:r>
                    </a:p>
                  </a:txBody>
                  <a:tcPr marL="7620" marR="7620" marT="762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Filtros e Exportar</a:t>
                      </a:r>
                    </a:p>
                  </a:txBody>
                  <a:tcPr marL="7620" marR="7620" marT="762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Quando faço filtros, e exporto e </a:t>
                      </a:r>
                      <a:r>
                        <a:rPr lang="pt-PT" sz="1200" b="0" i="0" u="none" kern="1200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excel</a:t>
                      </a: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exportada toda a informação e não apenas a que selecionamos nos filtros (BUG 229)</a:t>
                      </a:r>
                    </a:p>
                  </a:txBody>
                  <a:tcPr marL="7620" marR="7620" marT="762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Out/25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305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8871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5283286B-EE55-719E-2945-8CA52B0C80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5360" y="323548"/>
            <a:ext cx="8982000" cy="615553"/>
          </a:xfrm>
        </p:spPr>
        <p:txBody>
          <a:bodyPr/>
          <a:lstStyle/>
          <a:p>
            <a:r>
              <a:rPr lang="es-ES" dirty="0"/>
              <a:t>Operaciones </a:t>
            </a:r>
            <a:r>
              <a:rPr lang="es-ES" dirty="0" err="1"/>
              <a:t>Tech</a:t>
            </a:r>
            <a:endParaRPr lang="es-ES" dirty="0"/>
          </a:p>
          <a:p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FC1313C-3567-46FC-511B-78CEABE3AFD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pt-PT" dirty="0"/>
              <a:t>Minsait  /  Reporting de Projetos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713A1C7-D639-8097-AAF4-3A144BE8087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5</a:t>
            </a:fld>
            <a:endParaRPr lang="es-ES" dirty="0"/>
          </a:p>
        </p:txBody>
      </p:sp>
      <p:sp>
        <p:nvSpPr>
          <p:cNvPr id="59" name="Título 3">
            <a:extLst>
              <a:ext uri="{FF2B5EF4-FFF2-40B4-BE49-F238E27FC236}">
                <a16:creationId xmlns:a16="http://schemas.microsoft.com/office/drawing/2014/main" id="{0728EC17-30C1-7821-780A-083D2D73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59" y="549275"/>
            <a:ext cx="8980445" cy="361004"/>
          </a:xfrm>
        </p:spPr>
        <p:txBody>
          <a:bodyPr/>
          <a:lstStyle/>
          <a:p>
            <a:r>
              <a:rPr lang="pt-PT" sz="2400" dirty="0"/>
              <a:t>Santander / ATM -  Management Modernization</a:t>
            </a:r>
          </a:p>
        </p:txBody>
      </p:sp>
      <p:sp>
        <p:nvSpPr>
          <p:cNvPr id="98" name="Title 1">
            <a:extLst>
              <a:ext uri="{FF2B5EF4-FFF2-40B4-BE49-F238E27FC236}">
                <a16:creationId xmlns:a16="http://schemas.microsoft.com/office/drawing/2014/main" id="{E1A92933-293E-1389-F4AA-877905A25A49}"/>
              </a:ext>
            </a:extLst>
          </p:cNvPr>
          <p:cNvSpPr txBox="1">
            <a:spLocks/>
          </p:cNvSpPr>
          <p:nvPr/>
        </p:nvSpPr>
        <p:spPr>
          <a:xfrm>
            <a:off x="334962" y="980728"/>
            <a:ext cx="468091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inden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s-ES" sz="1000" cap="all" baseline="0">
                <a:solidFill>
                  <a:schemeClr val="bg1"/>
                </a:solidFill>
              </a:defRPr>
            </a:lvl1pPr>
            <a:lvl2pPr marL="35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2pPr>
            <a:lvl3pPr marL="53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3pPr>
            <a:lvl4pPr marL="68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 marL="86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pt-PT" sz="1400" dirty="0">
                <a:latin typeface="ForFuture Sans (Body)"/>
                <a:sym typeface="Knockout HTF26-JuniorFlyweight"/>
              </a:rPr>
              <a:t>PONTOS: </a:t>
            </a:r>
            <a:r>
              <a:rPr lang="pt-PT" sz="1400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Principais bugs </a:t>
            </a:r>
            <a:r>
              <a:rPr lang="pt-PT" sz="1400" b="1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fixed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5EF4181-B8FE-9D48-5817-BA969C4D2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814572"/>
              </p:ext>
            </p:extLst>
          </p:nvPr>
        </p:nvGraphicFramePr>
        <p:xfrm>
          <a:off x="334963" y="1266621"/>
          <a:ext cx="11520487" cy="209037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64951">
                  <a:extLst>
                    <a:ext uri="{9D8B030D-6E8A-4147-A177-3AD203B41FA5}">
                      <a16:colId xmlns:a16="http://schemas.microsoft.com/office/drawing/2014/main" val="3770673058"/>
                    </a:ext>
                  </a:extLst>
                </a:gridCol>
                <a:gridCol w="2375807">
                  <a:extLst>
                    <a:ext uri="{9D8B030D-6E8A-4147-A177-3AD203B41FA5}">
                      <a16:colId xmlns:a16="http://schemas.microsoft.com/office/drawing/2014/main" val="3953165012"/>
                    </a:ext>
                  </a:extLst>
                </a:gridCol>
                <a:gridCol w="6840760">
                  <a:extLst>
                    <a:ext uri="{9D8B030D-6E8A-4147-A177-3AD203B41FA5}">
                      <a16:colId xmlns:a16="http://schemas.microsoft.com/office/drawing/2014/main" val="4098599538"/>
                    </a:ext>
                  </a:extLst>
                </a:gridCol>
                <a:gridCol w="1438969">
                  <a:extLst>
                    <a:ext uri="{9D8B030D-6E8A-4147-A177-3AD203B41FA5}">
                      <a16:colId xmlns:a16="http://schemas.microsoft.com/office/drawing/2014/main" val="1432287253"/>
                    </a:ext>
                  </a:extLst>
                </a:gridCol>
              </a:tblGrid>
              <a:tr h="424928">
                <a:tc>
                  <a:txBody>
                    <a:bodyPr/>
                    <a:lstStyle/>
                    <a:p>
                      <a:pPr algn="ctr"/>
                      <a:r>
                        <a:rPr lang="es-ES" sz="1400" b="1" i="1" u="none" kern="1200" noProof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Bug Title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Bug Description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582144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strike="noStrik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Manutenção - Erros Operações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Selfbanking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Os BAA que estão nos erros de operações não correspondem as que estão criados.</a:t>
                      </a:r>
                      <a:endParaRPr kumimoji="0" lang="pt-P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F062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Set/25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946733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strike="noStrik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295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Manutenção - Armazém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Temos 2 propostas de ATM diferentes com </a:t>
                      </a:r>
                      <a:r>
                        <a:rPr lang="pt-PT" sz="1200" i="0" u="none" kern="120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codigos</a:t>
                      </a:r>
                      <a:r>
                        <a:rPr lang="pt-PT" sz="1200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de local diferentes (10000 e 10002) que tem o mesmo BAA (0018512801). O Balcão de Apoio é o mesmo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Set/25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460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0518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5283286B-EE55-719E-2945-8CA52B0C80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5360" y="323548"/>
            <a:ext cx="8982000" cy="615553"/>
          </a:xfrm>
        </p:spPr>
        <p:txBody>
          <a:bodyPr/>
          <a:lstStyle/>
          <a:p>
            <a:r>
              <a:rPr lang="es-ES" dirty="0"/>
              <a:t>Operaciones </a:t>
            </a:r>
            <a:r>
              <a:rPr lang="es-ES" dirty="0" err="1"/>
              <a:t>Tech</a:t>
            </a:r>
            <a:endParaRPr lang="es-ES" dirty="0"/>
          </a:p>
          <a:p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FC1313C-3567-46FC-511B-78CEABE3AFD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pt-PT" dirty="0"/>
              <a:t>Minsait  /  Reporting de Projetos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713A1C7-D639-8097-AAF4-3A144BE8087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6</a:t>
            </a:fld>
            <a:endParaRPr lang="es-ES" dirty="0"/>
          </a:p>
        </p:txBody>
      </p:sp>
      <p:sp>
        <p:nvSpPr>
          <p:cNvPr id="59" name="Título 3">
            <a:extLst>
              <a:ext uri="{FF2B5EF4-FFF2-40B4-BE49-F238E27FC236}">
                <a16:creationId xmlns:a16="http://schemas.microsoft.com/office/drawing/2014/main" id="{0728EC17-30C1-7821-780A-083D2D73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59" y="549275"/>
            <a:ext cx="8980445" cy="361004"/>
          </a:xfrm>
        </p:spPr>
        <p:txBody>
          <a:bodyPr/>
          <a:lstStyle/>
          <a:p>
            <a:r>
              <a:rPr lang="pt-PT" sz="2400" dirty="0"/>
              <a:t>Santander / ATM -  Management Modernization</a:t>
            </a:r>
          </a:p>
        </p:txBody>
      </p:sp>
      <p:sp>
        <p:nvSpPr>
          <p:cNvPr id="98" name="Title 1">
            <a:extLst>
              <a:ext uri="{FF2B5EF4-FFF2-40B4-BE49-F238E27FC236}">
                <a16:creationId xmlns:a16="http://schemas.microsoft.com/office/drawing/2014/main" id="{E1A92933-293E-1389-F4AA-877905A25A49}"/>
              </a:ext>
            </a:extLst>
          </p:cNvPr>
          <p:cNvSpPr txBox="1">
            <a:spLocks/>
          </p:cNvSpPr>
          <p:nvPr/>
        </p:nvSpPr>
        <p:spPr>
          <a:xfrm>
            <a:off x="334962" y="980728"/>
            <a:ext cx="468091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inden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s-ES" sz="1000" cap="all" baseline="0">
                <a:solidFill>
                  <a:schemeClr val="bg1"/>
                </a:solidFill>
              </a:defRPr>
            </a:lvl1pPr>
            <a:lvl2pPr marL="35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2pPr>
            <a:lvl3pPr marL="53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3pPr>
            <a:lvl4pPr marL="68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 marL="86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pt-PT" sz="1400" dirty="0">
                <a:latin typeface="ForFuture Sans (Body)"/>
                <a:sym typeface="Knockout HTF26-JuniorFlyweight"/>
              </a:rPr>
              <a:t>PONTOS: </a:t>
            </a:r>
            <a:r>
              <a:rPr lang="pt-PT" sz="1400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Principais bugs </a:t>
            </a:r>
            <a:r>
              <a:rPr lang="pt-PT" sz="1400" b="1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Opened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5EF4181-B8FE-9D48-5817-BA969C4D2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044209"/>
              </p:ext>
            </p:extLst>
          </p:nvPr>
        </p:nvGraphicFramePr>
        <p:xfrm>
          <a:off x="335757" y="1484784"/>
          <a:ext cx="11519694" cy="125765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64891">
                  <a:extLst>
                    <a:ext uri="{9D8B030D-6E8A-4147-A177-3AD203B41FA5}">
                      <a16:colId xmlns:a16="http://schemas.microsoft.com/office/drawing/2014/main" val="3770673058"/>
                    </a:ext>
                  </a:extLst>
                </a:gridCol>
                <a:gridCol w="2303064">
                  <a:extLst>
                    <a:ext uri="{9D8B030D-6E8A-4147-A177-3AD203B41FA5}">
                      <a16:colId xmlns:a16="http://schemas.microsoft.com/office/drawing/2014/main" val="3953165012"/>
                    </a:ext>
                  </a:extLst>
                </a:gridCol>
                <a:gridCol w="6840760">
                  <a:extLst>
                    <a:ext uri="{9D8B030D-6E8A-4147-A177-3AD203B41FA5}">
                      <a16:colId xmlns:a16="http://schemas.microsoft.com/office/drawing/2014/main" val="4098599538"/>
                    </a:ext>
                  </a:extLst>
                </a:gridCol>
                <a:gridCol w="1510979">
                  <a:extLst>
                    <a:ext uri="{9D8B030D-6E8A-4147-A177-3AD203B41FA5}">
                      <a16:colId xmlns:a16="http://schemas.microsoft.com/office/drawing/2014/main" val="1432287253"/>
                    </a:ext>
                  </a:extLst>
                </a:gridCol>
              </a:tblGrid>
              <a:tr h="424928">
                <a:tc>
                  <a:txBody>
                    <a:bodyPr/>
                    <a:lstStyle/>
                    <a:p>
                      <a:pPr algn="ctr"/>
                      <a:r>
                        <a:rPr lang="es-ES" sz="1400" b="1" i="1" u="none" kern="1200" noProof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Bug Title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Bug Description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Equipa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582144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297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 Gestão - Notificações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Fechamos todos os bugs referentes a notificações e abrimos apenas um unico. Enviamos email de suporte ao mesmo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Minsait</a:t>
                      </a:r>
                      <a:endParaRPr lang="pt-PT" sz="14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876396"/>
                  </a:ext>
                </a:extLst>
              </a:tr>
            </a:tbl>
          </a:graphicData>
        </a:graphic>
      </p:graphicFrame>
      <p:sp>
        <p:nvSpPr>
          <p:cNvPr id="8" name="Freeform 18">
            <a:extLst>
              <a:ext uri="{FF2B5EF4-FFF2-40B4-BE49-F238E27FC236}">
                <a16:creationId xmlns:a16="http://schemas.microsoft.com/office/drawing/2014/main" id="{86B9DA42-534A-4EAD-81B5-C13FFC4051CC}"/>
              </a:ext>
            </a:extLst>
          </p:cNvPr>
          <p:cNvSpPr/>
          <p:nvPr/>
        </p:nvSpPr>
        <p:spPr>
          <a:xfrm>
            <a:off x="1342877" y="5290709"/>
            <a:ext cx="7129387" cy="586563"/>
          </a:xfrm>
          <a:custGeom>
            <a:avLst/>
            <a:gdLst>
              <a:gd name="connsiteX0" fmla="*/ 95367 w 5709018"/>
              <a:gd name="connsiteY0" fmla="*/ 0 h 1072465"/>
              <a:gd name="connsiteX1" fmla="*/ 5613649 w 5709018"/>
              <a:gd name="connsiteY1" fmla="*/ 0 h 1072465"/>
              <a:gd name="connsiteX2" fmla="*/ 5709018 w 5709018"/>
              <a:gd name="connsiteY2" fmla="*/ 95367 h 1072465"/>
              <a:gd name="connsiteX3" fmla="*/ 5709018 w 5709018"/>
              <a:gd name="connsiteY3" fmla="*/ 977098 h 1072465"/>
              <a:gd name="connsiteX4" fmla="*/ 5613649 w 5709018"/>
              <a:gd name="connsiteY4" fmla="*/ 1072465 h 1072465"/>
              <a:gd name="connsiteX5" fmla="*/ 95367 w 5709018"/>
              <a:gd name="connsiteY5" fmla="*/ 1072465 h 1072465"/>
              <a:gd name="connsiteX6" fmla="*/ 0 w 5709018"/>
              <a:gd name="connsiteY6" fmla="*/ 977098 h 1072465"/>
              <a:gd name="connsiteX7" fmla="*/ 0 w 5709018"/>
              <a:gd name="connsiteY7" fmla="*/ 95367 h 1072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09018" h="1072465">
                <a:moveTo>
                  <a:pt x="95367" y="0"/>
                </a:moveTo>
                <a:lnTo>
                  <a:pt x="5613649" y="0"/>
                </a:lnTo>
                <a:lnTo>
                  <a:pt x="5709018" y="95367"/>
                </a:lnTo>
                <a:lnTo>
                  <a:pt x="5709018" y="977098"/>
                </a:lnTo>
                <a:lnTo>
                  <a:pt x="5613649" y="1072465"/>
                </a:lnTo>
                <a:lnTo>
                  <a:pt x="95367" y="1072465"/>
                </a:lnTo>
                <a:lnTo>
                  <a:pt x="0" y="977098"/>
                </a:lnTo>
                <a:lnTo>
                  <a:pt x="0" y="95367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72000" rIns="0" bIns="0" rtlCol="0">
            <a:noAutofit/>
          </a:bodyPr>
          <a:lstStyle/>
          <a:p>
            <a:pPr marL="72000"/>
            <a:endParaRPr lang="pt-PT" sz="1400" dirty="0">
              <a:solidFill>
                <a:schemeClr val="bg1"/>
              </a:solidFill>
            </a:endParaRPr>
          </a:p>
          <a:p>
            <a:pPr marL="72000"/>
            <a:r>
              <a:rPr lang="pt-PT" sz="1400" dirty="0">
                <a:solidFill>
                  <a:schemeClr val="bg1"/>
                </a:solidFill>
              </a:rPr>
              <a:t>Este bug esta atribuído a equipa, com intenção de resolução o mais depressa possível</a:t>
            </a:r>
          </a:p>
        </p:txBody>
      </p:sp>
    </p:spTree>
    <p:extLst>
      <p:ext uri="{BB962C8B-B14F-4D97-AF65-F5344CB8AC3E}">
        <p14:creationId xmlns:p14="http://schemas.microsoft.com/office/powerpoint/2010/main" val="1491695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5283286B-EE55-719E-2945-8CA52B0C80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5360" y="323548"/>
            <a:ext cx="8982000" cy="615553"/>
          </a:xfrm>
        </p:spPr>
        <p:txBody>
          <a:bodyPr/>
          <a:lstStyle/>
          <a:p>
            <a:r>
              <a:rPr lang="es-ES" dirty="0"/>
              <a:t>Operaciones </a:t>
            </a:r>
            <a:r>
              <a:rPr lang="es-ES" dirty="0" err="1"/>
              <a:t>Tech</a:t>
            </a:r>
            <a:endParaRPr lang="es-ES" dirty="0"/>
          </a:p>
          <a:p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FC1313C-3567-46FC-511B-78CEABE3AFD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pt-PT" dirty="0"/>
              <a:t>Minsait  /  Reporting de Projetos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713A1C7-D639-8097-AAF4-3A144BE8087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59" name="Título 3">
            <a:extLst>
              <a:ext uri="{FF2B5EF4-FFF2-40B4-BE49-F238E27FC236}">
                <a16:creationId xmlns:a16="http://schemas.microsoft.com/office/drawing/2014/main" id="{0728EC17-30C1-7821-780A-083D2D73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59" y="549275"/>
            <a:ext cx="8980445" cy="361004"/>
          </a:xfrm>
        </p:spPr>
        <p:txBody>
          <a:bodyPr/>
          <a:lstStyle/>
          <a:p>
            <a:r>
              <a:rPr lang="pt-PT" sz="2400" dirty="0"/>
              <a:t>Santander / ATM -  Management Modernization</a:t>
            </a:r>
          </a:p>
        </p:txBody>
      </p:sp>
      <p:sp>
        <p:nvSpPr>
          <p:cNvPr id="98" name="Title 1">
            <a:extLst>
              <a:ext uri="{FF2B5EF4-FFF2-40B4-BE49-F238E27FC236}">
                <a16:creationId xmlns:a16="http://schemas.microsoft.com/office/drawing/2014/main" id="{E1A92933-293E-1389-F4AA-877905A25A49}"/>
              </a:ext>
            </a:extLst>
          </p:cNvPr>
          <p:cNvSpPr txBox="1">
            <a:spLocks/>
          </p:cNvSpPr>
          <p:nvPr/>
        </p:nvSpPr>
        <p:spPr>
          <a:xfrm>
            <a:off x="334963" y="996498"/>
            <a:ext cx="468091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inden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s-ES" sz="1000" cap="all" baseline="0">
                <a:solidFill>
                  <a:schemeClr val="bg1"/>
                </a:solidFill>
              </a:defRPr>
            </a:lvl1pPr>
            <a:lvl2pPr marL="35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2pPr>
            <a:lvl3pPr marL="53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3pPr>
            <a:lvl4pPr marL="68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 marL="86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pt-PT" sz="1400" dirty="0">
                <a:latin typeface="ForFuture Sans (Body)"/>
                <a:sym typeface="Knockout HTF26-JuniorFlyweight"/>
              </a:rPr>
              <a:t>PONTOS: </a:t>
            </a:r>
            <a:r>
              <a:rPr lang="pt-PT" sz="1400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Principais bugs - </a:t>
            </a:r>
            <a:r>
              <a:rPr lang="pt-PT" sz="1400" b="1" dirty="0" err="1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Change</a:t>
            </a:r>
            <a:r>
              <a:rPr lang="pt-PT" sz="1400" b="1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 </a:t>
            </a:r>
            <a:r>
              <a:rPr lang="pt-PT" sz="1400" b="1" dirty="0" err="1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request</a:t>
            </a:r>
            <a:endParaRPr lang="pt-PT" sz="1400" b="1" dirty="0">
              <a:solidFill>
                <a:schemeClr val="accent1"/>
              </a:solidFill>
              <a:latin typeface="ForFuture Sans (Body)"/>
              <a:ea typeface="+mj-ea"/>
              <a:cs typeface="+mj-cs"/>
              <a:sym typeface="Knockout HTF26-JuniorFlyweigh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5EF4181-B8FE-9D48-5817-BA969C4D2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861744"/>
              </p:ext>
            </p:extLst>
          </p:nvPr>
        </p:nvGraphicFramePr>
        <p:xfrm>
          <a:off x="335757" y="1484784"/>
          <a:ext cx="11519694" cy="458853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64891">
                  <a:extLst>
                    <a:ext uri="{9D8B030D-6E8A-4147-A177-3AD203B41FA5}">
                      <a16:colId xmlns:a16="http://schemas.microsoft.com/office/drawing/2014/main" val="3770673058"/>
                    </a:ext>
                  </a:extLst>
                </a:gridCol>
                <a:gridCol w="2303064">
                  <a:extLst>
                    <a:ext uri="{9D8B030D-6E8A-4147-A177-3AD203B41FA5}">
                      <a16:colId xmlns:a16="http://schemas.microsoft.com/office/drawing/2014/main" val="3953165012"/>
                    </a:ext>
                  </a:extLst>
                </a:gridCol>
                <a:gridCol w="6840760">
                  <a:extLst>
                    <a:ext uri="{9D8B030D-6E8A-4147-A177-3AD203B41FA5}">
                      <a16:colId xmlns:a16="http://schemas.microsoft.com/office/drawing/2014/main" val="4098599538"/>
                    </a:ext>
                  </a:extLst>
                </a:gridCol>
                <a:gridCol w="1510979">
                  <a:extLst>
                    <a:ext uri="{9D8B030D-6E8A-4147-A177-3AD203B41FA5}">
                      <a16:colId xmlns:a16="http://schemas.microsoft.com/office/drawing/2014/main" val="1432287253"/>
                    </a:ext>
                  </a:extLst>
                </a:gridCol>
              </a:tblGrid>
              <a:tr h="424928">
                <a:tc>
                  <a:txBody>
                    <a:bodyPr/>
                    <a:lstStyle/>
                    <a:p>
                      <a:pPr algn="ctr"/>
                      <a:r>
                        <a:rPr lang="es-ES" sz="1400" b="1" i="1" u="none" kern="1200" noProof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Bug Title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Bug Description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Equipa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582144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Manutenção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User: Selfbanking e Selfbanking Admin. Na ficha de local acrescentar no filtro para pesquisa o "Balcão de Apoio"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Minsait</a:t>
                      </a:r>
                      <a:endParaRPr lang="pt-PT" sz="14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56479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Criar Parque de Máquinas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pt-P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User: Selfbanking e Selfbanking Admin. Nos erros de operações acrescentar a "origem do erro"</a:t>
                      </a:r>
                      <a:endParaRPr kumimoji="0" lang="pt-PT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4F062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Minsait</a:t>
                      </a:r>
                      <a:endParaRPr lang="pt-PT" sz="14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876396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Criar Parque de Máquinas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User: Selfbanking e Selfbanking Admin. Na ficha de local o campo "Gestor ATM" Editável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Minsait</a:t>
                      </a:r>
                      <a:endParaRPr lang="pt-PT" sz="14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172925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229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Filtros e Exportar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Quando faço filtros, e exporto e excel, exportada toda a informação e não apenas a que selecionamos nos filtros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Minsait</a:t>
                      </a:r>
                      <a:endParaRPr lang="pt-PT" sz="1200" b="0" i="1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85367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Manutenção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0" i="0" u="none" kern="1200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pt-PT" sz="1200" b="0" i="0" u="none" kern="1200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Selfbanking</a:t>
                      </a: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e </a:t>
                      </a:r>
                      <a:r>
                        <a:rPr lang="pt-PT" sz="1200" b="0" i="0" u="none" kern="1200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Selfbanking</a:t>
                      </a: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PT" sz="1200" b="0" i="0" u="none" kern="1200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Admin</a:t>
                      </a: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. Na ficha de local no filtro de pesquisa precisamos ter um filtro por "Código Gestor" (campo numérico) e "Nome Gestor" (Campo de texto)</a:t>
                      </a:r>
                      <a:endParaRPr lang="pt-PT" sz="1200" b="0" i="0" u="none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Minsait</a:t>
                      </a:r>
                      <a:endParaRPr lang="pt-PT" sz="1200" b="0" i="1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488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700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5CBF6-AD7E-CF51-6EDC-C31CD10B1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295D85CA-EC8C-1021-CC20-EDE8765D72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5360" y="323548"/>
            <a:ext cx="8982000" cy="615553"/>
          </a:xfrm>
        </p:spPr>
        <p:txBody>
          <a:bodyPr/>
          <a:lstStyle/>
          <a:p>
            <a:r>
              <a:rPr lang="es-ES" dirty="0"/>
              <a:t>Operaciones </a:t>
            </a:r>
            <a:r>
              <a:rPr lang="es-ES" dirty="0" err="1"/>
              <a:t>Tech</a:t>
            </a:r>
            <a:endParaRPr lang="es-ES" dirty="0"/>
          </a:p>
          <a:p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2BB26B93-F3BC-01C3-DE2E-BCCE54FCD1A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pt-PT" dirty="0"/>
              <a:t>Minsait  /  Reporting de Projetos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F6B3830-5577-4B7D-E81C-7C285488C9B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8</a:t>
            </a:fld>
            <a:endParaRPr lang="es-ES" dirty="0"/>
          </a:p>
        </p:txBody>
      </p:sp>
      <p:sp>
        <p:nvSpPr>
          <p:cNvPr id="59" name="Título 3">
            <a:extLst>
              <a:ext uri="{FF2B5EF4-FFF2-40B4-BE49-F238E27FC236}">
                <a16:creationId xmlns:a16="http://schemas.microsoft.com/office/drawing/2014/main" id="{C0DB1CDE-4C2F-EF71-38C9-2F1650050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59" y="549275"/>
            <a:ext cx="8980445" cy="361004"/>
          </a:xfrm>
        </p:spPr>
        <p:txBody>
          <a:bodyPr/>
          <a:lstStyle/>
          <a:p>
            <a:r>
              <a:rPr lang="pt-PT" sz="2400" dirty="0"/>
              <a:t>Santander / ATM -  Management Modernization</a:t>
            </a:r>
          </a:p>
        </p:txBody>
      </p:sp>
      <p:sp>
        <p:nvSpPr>
          <p:cNvPr id="98" name="Title 1">
            <a:extLst>
              <a:ext uri="{FF2B5EF4-FFF2-40B4-BE49-F238E27FC236}">
                <a16:creationId xmlns:a16="http://schemas.microsoft.com/office/drawing/2014/main" id="{74E0F50A-702F-C10C-82DE-78C39EEE4268}"/>
              </a:ext>
            </a:extLst>
          </p:cNvPr>
          <p:cNvSpPr txBox="1">
            <a:spLocks/>
          </p:cNvSpPr>
          <p:nvPr/>
        </p:nvSpPr>
        <p:spPr>
          <a:xfrm>
            <a:off x="334963" y="996498"/>
            <a:ext cx="468091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inden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s-ES" sz="1000" cap="all" baseline="0">
                <a:solidFill>
                  <a:schemeClr val="bg1"/>
                </a:solidFill>
              </a:defRPr>
            </a:lvl1pPr>
            <a:lvl2pPr marL="35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2pPr>
            <a:lvl3pPr marL="53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3pPr>
            <a:lvl4pPr marL="68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 marL="86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pt-PT" sz="1400" dirty="0">
                <a:latin typeface="ForFuture Sans (Body)"/>
                <a:sym typeface="Knockout HTF26-JuniorFlyweight"/>
              </a:rPr>
              <a:t>PONTOS: </a:t>
            </a:r>
            <a:r>
              <a:rPr lang="pt-PT" sz="1400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Principais bugs - </a:t>
            </a:r>
            <a:r>
              <a:rPr lang="pt-PT" sz="1400" b="1" dirty="0" err="1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Change</a:t>
            </a:r>
            <a:r>
              <a:rPr lang="pt-PT" sz="1400" b="1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 </a:t>
            </a:r>
            <a:r>
              <a:rPr lang="pt-PT" sz="1400" b="1" dirty="0" err="1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request</a:t>
            </a:r>
            <a:endParaRPr lang="pt-PT" sz="1400" b="1" dirty="0">
              <a:solidFill>
                <a:schemeClr val="accent1"/>
              </a:solidFill>
              <a:latin typeface="ForFuture Sans (Body)"/>
              <a:ea typeface="+mj-ea"/>
              <a:cs typeface="+mj-cs"/>
              <a:sym typeface="Knockout HTF26-JuniorFlyweigh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6532FEF-13D4-BF2F-4A98-52BF52897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791752"/>
              </p:ext>
            </p:extLst>
          </p:nvPr>
        </p:nvGraphicFramePr>
        <p:xfrm>
          <a:off x="335757" y="1484784"/>
          <a:ext cx="11519694" cy="375581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64891">
                  <a:extLst>
                    <a:ext uri="{9D8B030D-6E8A-4147-A177-3AD203B41FA5}">
                      <a16:colId xmlns:a16="http://schemas.microsoft.com/office/drawing/2014/main" val="3770673058"/>
                    </a:ext>
                  </a:extLst>
                </a:gridCol>
                <a:gridCol w="2303064">
                  <a:extLst>
                    <a:ext uri="{9D8B030D-6E8A-4147-A177-3AD203B41FA5}">
                      <a16:colId xmlns:a16="http://schemas.microsoft.com/office/drawing/2014/main" val="3953165012"/>
                    </a:ext>
                  </a:extLst>
                </a:gridCol>
                <a:gridCol w="6840760">
                  <a:extLst>
                    <a:ext uri="{9D8B030D-6E8A-4147-A177-3AD203B41FA5}">
                      <a16:colId xmlns:a16="http://schemas.microsoft.com/office/drawing/2014/main" val="4098599538"/>
                    </a:ext>
                  </a:extLst>
                </a:gridCol>
                <a:gridCol w="1510979">
                  <a:extLst>
                    <a:ext uri="{9D8B030D-6E8A-4147-A177-3AD203B41FA5}">
                      <a16:colId xmlns:a16="http://schemas.microsoft.com/office/drawing/2014/main" val="1432287253"/>
                    </a:ext>
                  </a:extLst>
                </a:gridCol>
              </a:tblGrid>
              <a:tr h="424928">
                <a:tc>
                  <a:txBody>
                    <a:bodyPr/>
                    <a:lstStyle/>
                    <a:p>
                      <a:pPr algn="ctr"/>
                      <a:r>
                        <a:rPr lang="es-ES" sz="1400" b="1" i="1" u="none" kern="1200" noProof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Bug Title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Bug Description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Equipa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582144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Manutenção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0" i="0" u="none" kern="1200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pt-PT" sz="1200" b="0" i="0" u="none" kern="1200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Selfbanking</a:t>
                      </a: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. Na ficha de local no filtro de pesquisa Código Gestor" (campo numérico) não retorna nenhum resultado</a:t>
                      </a:r>
                      <a:endParaRPr lang="pt-PT" sz="1200" b="0" i="0" u="none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Minsait</a:t>
                      </a:r>
                      <a:endParaRPr lang="pt-PT" sz="14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876396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Manutenção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0" i="0" u="none" kern="1200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pt-PT" sz="1200" b="0" i="0" u="none" kern="1200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Selfbanking</a:t>
                      </a: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. No </a:t>
                      </a:r>
                      <a:r>
                        <a:rPr lang="pt-PT" sz="1200" b="0" i="0" u="none" kern="1200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Armazem</a:t>
                      </a: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no filtro de pesquisa "Tipo de ligação" deve estar Direta ou Indireta</a:t>
                      </a:r>
                      <a:endParaRPr lang="pt-PT" sz="1200" b="0" i="0" u="none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Minsait</a:t>
                      </a:r>
                      <a:endParaRPr lang="pt-PT" sz="14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172925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s-ES" sz="14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pt-PT" sz="1200" b="0" i="0" u="none" kern="12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pt-P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F062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0" i="1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297950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s-ES" sz="14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pt-PT" sz="1200" b="0" i="0" u="none" kern="12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pt-P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F062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0" i="1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85367"/>
                  </a:ext>
                </a:extLst>
              </a:tr>
            </a:tbl>
          </a:graphicData>
        </a:graphic>
      </p:graphicFrame>
      <p:sp>
        <p:nvSpPr>
          <p:cNvPr id="8" name="Freeform 18">
            <a:extLst>
              <a:ext uri="{FF2B5EF4-FFF2-40B4-BE49-F238E27FC236}">
                <a16:creationId xmlns:a16="http://schemas.microsoft.com/office/drawing/2014/main" id="{74580C1D-AE8B-B924-156B-E8A7B0CAC6C5}"/>
              </a:ext>
            </a:extLst>
          </p:cNvPr>
          <p:cNvSpPr/>
          <p:nvPr/>
        </p:nvSpPr>
        <p:spPr>
          <a:xfrm>
            <a:off x="2495600" y="6214118"/>
            <a:ext cx="6157279" cy="388694"/>
          </a:xfrm>
          <a:custGeom>
            <a:avLst/>
            <a:gdLst>
              <a:gd name="connsiteX0" fmla="*/ 95367 w 5709018"/>
              <a:gd name="connsiteY0" fmla="*/ 0 h 1072465"/>
              <a:gd name="connsiteX1" fmla="*/ 5613649 w 5709018"/>
              <a:gd name="connsiteY1" fmla="*/ 0 h 1072465"/>
              <a:gd name="connsiteX2" fmla="*/ 5709018 w 5709018"/>
              <a:gd name="connsiteY2" fmla="*/ 95367 h 1072465"/>
              <a:gd name="connsiteX3" fmla="*/ 5709018 w 5709018"/>
              <a:gd name="connsiteY3" fmla="*/ 977098 h 1072465"/>
              <a:gd name="connsiteX4" fmla="*/ 5613649 w 5709018"/>
              <a:gd name="connsiteY4" fmla="*/ 1072465 h 1072465"/>
              <a:gd name="connsiteX5" fmla="*/ 95367 w 5709018"/>
              <a:gd name="connsiteY5" fmla="*/ 1072465 h 1072465"/>
              <a:gd name="connsiteX6" fmla="*/ 0 w 5709018"/>
              <a:gd name="connsiteY6" fmla="*/ 977098 h 1072465"/>
              <a:gd name="connsiteX7" fmla="*/ 0 w 5709018"/>
              <a:gd name="connsiteY7" fmla="*/ 95367 h 1072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09018" h="1072465">
                <a:moveTo>
                  <a:pt x="95367" y="0"/>
                </a:moveTo>
                <a:lnTo>
                  <a:pt x="5613649" y="0"/>
                </a:lnTo>
                <a:lnTo>
                  <a:pt x="5709018" y="95367"/>
                </a:lnTo>
                <a:lnTo>
                  <a:pt x="5709018" y="977098"/>
                </a:lnTo>
                <a:lnTo>
                  <a:pt x="5613649" y="1072465"/>
                </a:lnTo>
                <a:lnTo>
                  <a:pt x="95367" y="1072465"/>
                </a:lnTo>
                <a:lnTo>
                  <a:pt x="0" y="977098"/>
                </a:lnTo>
                <a:lnTo>
                  <a:pt x="0" y="95367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72000" rIns="0" bIns="0" rtlCol="0">
            <a:noAutofit/>
          </a:bodyPr>
          <a:lstStyle/>
          <a:p>
            <a:pPr marL="72000"/>
            <a:r>
              <a:rPr lang="pt-PT" sz="1400" dirty="0">
                <a:solidFill>
                  <a:schemeClr val="bg1"/>
                </a:solidFill>
              </a:rPr>
              <a:t>Após análise do lado da equipa de projeto foram todos </a:t>
            </a:r>
            <a:r>
              <a:rPr lang="pt-PT" sz="1400" dirty="0" err="1">
                <a:solidFill>
                  <a:schemeClr val="bg1"/>
                </a:solidFill>
              </a:rPr>
              <a:t>Change</a:t>
            </a:r>
            <a:r>
              <a:rPr lang="pt-PT" sz="1400" dirty="0">
                <a:solidFill>
                  <a:schemeClr val="bg1"/>
                </a:solidFill>
              </a:rPr>
              <a:t> </a:t>
            </a:r>
            <a:r>
              <a:rPr lang="pt-PT" sz="1400" dirty="0" err="1">
                <a:solidFill>
                  <a:schemeClr val="bg1"/>
                </a:solidFill>
              </a:rPr>
              <a:t>Request</a:t>
            </a:r>
            <a:endParaRPr lang="pt-PT" sz="1400" dirty="0">
              <a:solidFill>
                <a:schemeClr val="bg1"/>
              </a:solidFill>
            </a:endParaRPr>
          </a:p>
          <a:p>
            <a:pPr marL="72000"/>
            <a:endParaRPr lang="pt-PT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38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5283286B-EE55-719E-2945-8CA52B0C80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5360" y="323548"/>
            <a:ext cx="8982000" cy="615553"/>
          </a:xfrm>
        </p:spPr>
        <p:txBody>
          <a:bodyPr/>
          <a:lstStyle/>
          <a:p>
            <a:r>
              <a:rPr lang="es-ES" dirty="0"/>
              <a:t>Operaciones </a:t>
            </a:r>
            <a:r>
              <a:rPr lang="es-ES" dirty="0" err="1"/>
              <a:t>Tech</a:t>
            </a:r>
            <a:endParaRPr lang="es-ES" dirty="0"/>
          </a:p>
          <a:p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FC1313C-3567-46FC-511B-78CEABE3AFD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pt-PT" dirty="0"/>
              <a:t>Minsait  /  Reporting de Projetos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713A1C7-D639-8097-AAF4-3A144BE8087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9</a:t>
            </a:fld>
            <a:endParaRPr lang="es-ES" dirty="0"/>
          </a:p>
        </p:txBody>
      </p:sp>
      <p:sp>
        <p:nvSpPr>
          <p:cNvPr id="59" name="Título 3">
            <a:extLst>
              <a:ext uri="{FF2B5EF4-FFF2-40B4-BE49-F238E27FC236}">
                <a16:creationId xmlns:a16="http://schemas.microsoft.com/office/drawing/2014/main" id="{0728EC17-30C1-7821-780A-083D2D73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59" y="549275"/>
            <a:ext cx="8980445" cy="361004"/>
          </a:xfrm>
        </p:spPr>
        <p:txBody>
          <a:bodyPr/>
          <a:lstStyle/>
          <a:p>
            <a:r>
              <a:rPr lang="pt-PT" sz="2400" dirty="0"/>
              <a:t>Santander / ATM -  Management Modernization</a:t>
            </a:r>
          </a:p>
        </p:txBody>
      </p:sp>
      <p:sp>
        <p:nvSpPr>
          <p:cNvPr id="98" name="Title 1">
            <a:extLst>
              <a:ext uri="{FF2B5EF4-FFF2-40B4-BE49-F238E27FC236}">
                <a16:creationId xmlns:a16="http://schemas.microsoft.com/office/drawing/2014/main" id="{E1A92933-293E-1389-F4AA-877905A25A49}"/>
              </a:ext>
            </a:extLst>
          </p:cNvPr>
          <p:cNvSpPr txBox="1">
            <a:spLocks/>
          </p:cNvSpPr>
          <p:nvPr/>
        </p:nvSpPr>
        <p:spPr>
          <a:xfrm>
            <a:off x="334962" y="980728"/>
            <a:ext cx="468091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inden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s-ES" sz="1000" cap="all" baseline="0">
                <a:solidFill>
                  <a:schemeClr val="bg1"/>
                </a:solidFill>
              </a:defRPr>
            </a:lvl1pPr>
            <a:lvl2pPr marL="35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2pPr>
            <a:lvl3pPr marL="53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3pPr>
            <a:lvl4pPr marL="68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 marL="86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pt-PT" sz="1400" dirty="0">
                <a:latin typeface="ForFuture Sans (Body)"/>
                <a:sym typeface="Knockout HTF26-JuniorFlyweight"/>
              </a:rPr>
              <a:t>PONTOS: </a:t>
            </a:r>
            <a:r>
              <a:rPr lang="pt-PT" sz="1400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Principais bugs </a:t>
            </a:r>
            <a:r>
              <a:rPr lang="pt-PT" sz="1400" b="1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pending info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5EF4181-B8FE-9D48-5817-BA969C4D2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270545"/>
              </p:ext>
            </p:extLst>
          </p:nvPr>
        </p:nvGraphicFramePr>
        <p:xfrm>
          <a:off x="335756" y="1484784"/>
          <a:ext cx="11520487" cy="125765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64951">
                  <a:extLst>
                    <a:ext uri="{9D8B030D-6E8A-4147-A177-3AD203B41FA5}">
                      <a16:colId xmlns:a16="http://schemas.microsoft.com/office/drawing/2014/main" val="3770673058"/>
                    </a:ext>
                  </a:extLst>
                </a:gridCol>
                <a:gridCol w="2375807">
                  <a:extLst>
                    <a:ext uri="{9D8B030D-6E8A-4147-A177-3AD203B41FA5}">
                      <a16:colId xmlns:a16="http://schemas.microsoft.com/office/drawing/2014/main" val="3953165012"/>
                    </a:ext>
                  </a:extLst>
                </a:gridCol>
                <a:gridCol w="6840760">
                  <a:extLst>
                    <a:ext uri="{9D8B030D-6E8A-4147-A177-3AD203B41FA5}">
                      <a16:colId xmlns:a16="http://schemas.microsoft.com/office/drawing/2014/main" val="4098599538"/>
                    </a:ext>
                  </a:extLst>
                </a:gridCol>
                <a:gridCol w="1438969">
                  <a:extLst>
                    <a:ext uri="{9D8B030D-6E8A-4147-A177-3AD203B41FA5}">
                      <a16:colId xmlns:a16="http://schemas.microsoft.com/office/drawing/2014/main" val="1432287253"/>
                    </a:ext>
                  </a:extLst>
                </a:gridCol>
              </a:tblGrid>
              <a:tr h="424928">
                <a:tc>
                  <a:txBody>
                    <a:bodyPr/>
                    <a:lstStyle/>
                    <a:p>
                      <a:pPr algn="ctr"/>
                      <a:r>
                        <a:rPr lang="es-ES" sz="1400" b="1" i="1" u="none" kern="1200" noProof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Bug Title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Bug Description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Equipa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582144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292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Gestão - Info Segurança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Role Selfbanking Admin. Fizemos o upload dos documentos de segurança e no final não gerou a declaração do contrato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Banco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102892"/>
                  </a:ext>
                </a:extLst>
              </a:tr>
            </a:tbl>
          </a:graphicData>
        </a:graphic>
      </p:graphicFrame>
      <p:sp>
        <p:nvSpPr>
          <p:cNvPr id="8" name="Freeform 18">
            <a:extLst>
              <a:ext uri="{FF2B5EF4-FFF2-40B4-BE49-F238E27FC236}">
                <a16:creationId xmlns:a16="http://schemas.microsoft.com/office/drawing/2014/main" id="{EB80A5CA-6DC2-4AE4-9C50-1DCD67F209B1}"/>
              </a:ext>
            </a:extLst>
          </p:cNvPr>
          <p:cNvSpPr/>
          <p:nvPr/>
        </p:nvSpPr>
        <p:spPr>
          <a:xfrm>
            <a:off x="1703512" y="4581128"/>
            <a:ext cx="6048672" cy="648072"/>
          </a:xfrm>
          <a:custGeom>
            <a:avLst/>
            <a:gdLst>
              <a:gd name="connsiteX0" fmla="*/ 95367 w 5709018"/>
              <a:gd name="connsiteY0" fmla="*/ 0 h 1072465"/>
              <a:gd name="connsiteX1" fmla="*/ 5613649 w 5709018"/>
              <a:gd name="connsiteY1" fmla="*/ 0 h 1072465"/>
              <a:gd name="connsiteX2" fmla="*/ 5709018 w 5709018"/>
              <a:gd name="connsiteY2" fmla="*/ 95367 h 1072465"/>
              <a:gd name="connsiteX3" fmla="*/ 5709018 w 5709018"/>
              <a:gd name="connsiteY3" fmla="*/ 977098 h 1072465"/>
              <a:gd name="connsiteX4" fmla="*/ 5613649 w 5709018"/>
              <a:gd name="connsiteY4" fmla="*/ 1072465 h 1072465"/>
              <a:gd name="connsiteX5" fmla="*/ 95367 w 5709018"/>
              <a:gd name="connsiteY5" fmla="*/ 1072465 h 1072465"/>
              <a:gd name="connsiteX6" fmla="*/ 0 w 5709018"/>
              <a:gd name="connsiteY6" fmla="*/ 977098 h 1072465"/>
              <a:gd name="connsiteX7" fmla="*/ 0 w 5709018"/>
              <a:gd name="connsiteY7" fmla="*/ 95367 h 1072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09018" h="1072465">
                <a:moveTo>
                  <a:pt x="95367" y="0"/>
                </a:moveTo>
                <a:lnTo>
                  <a:pt x="5613649" y="0"/>
                </a:lnTo>
                <a:lnTo>
                  <a:pt x="5709018" y="95367"/>
                </a:lnTo>
                <a:lnTo>
                  <a:pt x="5709018" y="977098"/>
                </a:lnTo>
                <a:lnTo>
                  <a:pt x="5613649" y="1072465"/>
                </a:lnTo>
                <a:lnTo>
                  <a:pt x="95367" y="1072465"/>
                </a:lnTo>
                <a:lnTo>
                  <a:pt x="0" y="977098"/>
                </a:lnTo>
                <a:lnTo>
                  <a:pt x="0" y="95367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72000" rIns="0" bIns="0" rtlCol="0">
            <a:noAutofit/>
          </a:bodyPr>
          <a:lstStyle/>
          <a:p>
            <a:pPr marL="72000"/>
            <a:endParaRPr lang="pt-PT" sz="1400" dirty="0">
              <a:solidFill>
                <a:schemeClr val="bg1"/>
              </a:solidFill>
            </a:endParaRPr>
          </a:p>
          <a:p>
            <a:pPr marL="72000"/>
            <a:r>
              <a:rPr lang="pt-PT" sz="1400" dirty="0">
                <a:solidFill>
                  <a:schemeClr val="bg1"/>
                </a:solidFill>
              </a:rPr>
              <a:t>Necessidade de replicação do erro ou uma melhor explicação do mesmos</a:t>
            </a:r>
          </a:p>
        </p:txBody>
      </p:sp>
    </p:spTree>
    <p:extLst>
      <p:ext uri="{BB962C8B-B14F-4D97-AF65-F5344CB8AC3E}">
        <p14:creationId xmlns:p14="http://schemas.microsoft.com/office/powerpoint/2010/main" val="177724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5283286B-EE55-719E-2945-8CA52B0C80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5360" y="323548"/>
            <a:ext cx="8982000" cy="615553"/>
          </a:xfrm>
        </p:spPr>
        <p:txBody>
          <a:bodyPr/>
          <a:lstStyle/>
          <a:p>
            <a:r>
              <a:rPr lang="es-ES" dirty="0"/>
              <a:t>Operaciones </a:t>
            </a:r>
            <a:r>
              <a:rPr lang="es-ES" dirty="0" err="1"/>
              <a:t>Tech</a:t>
            </a:r>
            <a:endParaRPr lang="es-ES" dirty="0"/>
          </a:p>
          <a:p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FC1313C-3567-46FC-511B-78CEABE3AFD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pt-PT" dirty="0"/>
              <a:t>Minsait  /  Reporting de Projetos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713A1C7-D639-8097-AAF4-3A144BE8087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10</a:t>
            </a:fld>
            <a:endParaRPr lang="es-ES" dirty="0"/>
          </a:p>
        </p:txBody>
      </p:sp>
      <p:sp>
        <p:nvSpPr>
          <p:cNvPr id="59" name="Título 3">
            <a:extLst>
              <a:ext uri="{FF2B5EF4-FFF2-40B4-BE49-F238E27FC236}">
                <a16:creationId xmlns:a16="http://schemas.microsoft.com/office/drawing/2014/main" id="{0728EC17-30C1-7821-780A-083D2D73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59" y="549275"/>
            <a:ext cx="8980445" cy="361004"/>
          </a:xfrm>
        </p:spPr>
        <p:txBody>
          <a:bodyPr/>
          <a:lstStyle/>
          <a:p>
            <a:r>
              <a:rPr lang="pt-PT" sz="2400" dirty="0"/>
              <a:t>Santander / ATM -  Management Modernization</a:t>
            </a:r>
          </a:p>
        </p:txBody>
      </p:sp>
      <p:sp>
        <p:nvSpPr>
          <p:cNvPr id="98" name="Title 1">
            <a:extLst>
              <a:ext uri="{FF2B5EF4-FFF2-40B4-BE49-F238E27FC236}">
                <a16:creationId xmlns:a16="http://schemas.microsoft.com/office/drawing/2014/main" id="{E1A92933-293E-1389-F4AA-877905A25A49}"/>
              </a:ext>
            </a:extLst>
          </p:cNvPr>
          <p:cNvSpPr txBox="1">
            <a:spLocks/>
          </p:cNvSpPr>
          <p:nvPr/>
        </p:nvSpPr>
        <p:spPr>
          <a:xfrm>
            <a:off x="334962" y="980728"/>
            <a:ext cx="468091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inden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s-ES" sz="1000" cap="all" baseline="0">
                <a:solidFill>
                  <a:schemeClr val="bg1"/>
                </a:solidFill>
              </a:defRPr>
            </a:lvl1pPr>
            <a:lvl2pPr marL="35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2pPr>
            <a:lvl3pPr marL="53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3pPr>
            <a:lvl4pPr marL="68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 marL="86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pt-PT" sz="1400" dirty="0">
                <a:latin typeface="ForFuture Sans (Body)"/>
                <a:sym typeface="Knockout HTF26-JuniorFlyweight"/>
              </a:rPr>
              <a:t>PONTOS: </a:t>
            </a:r>
            <a:r>
              <a:rPr lang="pt-PT" sz="1400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Principais bugs </a:t>
            </a:r>
            <a:r>
              <a:rPr lang="pt-PT" sz="1400" b="1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under analysis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5EF4181-B8FE-9D48-5817-BA969C4D2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917486"/>
              </p:ext>
            </p:extLst>
          </p:nvPr>
        </p:nvGraphicFramePr>
        <p:xfrm>
          <a:off x="335756" y="1484784"/>
          <a:ext cx="11520487" cy="125765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64951">
                  <a:extLst>
                    <a:ext uri="{9D8B030D-6E8A-4147-A177-3AD203B41FA5}">
                      <a16:colId xmlns:a16="http://schemas.microsoft.com/office/drawing/2014/main" val="3770673058"/>
                    </a:ext>
                  </a:extLst>
                </a:gridCol>
                <a:gridCol w="2375807">
                  <a:extLst>
                    <a:ext uri="{9D8B030D-6E8A-4147-A177-3AD203B41FA5}">
                      <a16:colId xmlns:a16="http://schemas.microsoft.com/office/drawing/2014/main" val="3953165012"/>
                    </a:ext>
                  </a:extLst>
                </a:gridCol>
                <a:gridCol w="6840760">
                  <a:extLst>
                    <a:ext uri="{9D8B030D-6E8A-4147-A177-3AD203B41FA5}">
                      <a16:colId xmlns:a16="http://schemas.microsoft.com/office/drawing/2014/main" val="4098599538"/>
                    </a:ext>
                  </a:extLst>
                </a:gridCol>
                <a:gridCol w="1438969">
                  <a:extLst>
                    <a:ext uri="{9D8B030D-6E8A-4147-A177-3AD203B41FA5}">
                      <a16:colId xmlns:a16="http://schemas.microsoft.com/office/drawing/2014/main" val="1432287253"/>
                    </a:ext>
                  </a:extLst>
                </a:gridCol>
              </a:tblGrid>
              <a:tr h="424928">
                <a:tc>
                  <a:txBody>
                    <a:bodyPr/>
                    <a:lstStyle/>
                    <a:p>
                      <a:pPr algn="ctr"/>
                      <a:r>
                        <a:rPr lang="es-ES" sz="1400" b="1" i="1" u="none" kern="1200" noProof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Bug Title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Bug Description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Equipa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582144"/>
                  </a:ext>
                </a:extLst>
              </a:tr>
              <a:tr h="832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i="0" u="non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Criar Parque de Máquinas</a:t>
                      </a:r>
                      <a:endParaRPr lang="pt-PT" sz="1200" b="0" i="0" u="none" kern="12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Ponto 6 - A mensagem de erro não informa que o erro é de campo em falta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1" i="0" u="none" strike="sngStrik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173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2606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5283286B-EE55-719E-2945-8CA52B0C80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5360" y="323548"/>
            <a:ext cx="8982000" cy="615553"/>
          </a:xfrm>
        </p:spPr>
        <p:txBody>
          <a:bodyPr/>
          <a:lstStyle/>
          <a:p>
            <a:r>
              <a:rPr lang="es-ES" dirty="0"/>
              <a:t>Operaciones </a:t>
            </a:r>
            <a:r>
              <a:rPr lang="es-ES" dirty="0" err="1"/>
              <a:t>Tech</a:t>
            </a:r>
            <a:endParaRPr lang="es-ES" dirty="0"/>
          </a:p>
          <a:p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FC1313C-3567-46FC-511B-78CEABE3AFD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pt-PT" dirty="0"/>
              <a:t>Minsait  /  Reporting de Projetos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713A1C7-D639-8097-AAF4-3A144BE8087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11</a:t>
            </a:fld>
            <a:endParaRPr lang="es-ES" dirty="0"/>
          </a:p>
        </p:txBody>
      </p:sp>
      <p:sp>
        <p:nvSpPr>
          <p:cNvPr id="59" name="Título 3">
            <a:extLst>
              <a:ext uri="{FF2B5EF4-FFF2-40B4-BE49-F238E27FC236}">
                <a16:creationId xmlns:a16="http://schemas.microsoft.com/office/drawing/2014/main" id="{0728EC17-30C1-7821-780A-083D2D73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59" y="549275"/>
            <a:ext cx="8980445" cy="361004"/>
          </a:xfrm>
        </p:spPr>
        <p:txBody>
          <a:bodyPr/>
          <a:lstStyle/>
          <a:p>
            <a:r>
              <a:rPr lang="pt-PT" sz="2400" dirty="0"/>
              <a:t>Santander / ATM -  Management Modernization</a:t>
            </a:r>
          </a:p>
        </p:txBody>
      </p:sp>
      <p:sp>
        <p:nvSpPr>
          <p:cNvPr id="98" name="Title 1">
            <a:extLst>
              <a:ext uri="{FF2B5EF4-FFF2-40B4-BE49-F238E27FC236}">
                <a16:creationId xmlns:a16="http://schemas.microsoft.com/office/drawing/2014/main" id="{E1A92933-293E-1389-F4AA-877905A25A49}"/>
              </a:ext>
            </a:extLst>
          </p:cNvPr>
          <p:cNvSpPr txBox="1">
            <a:spLocks/>
          </p:cNvSpPr>
          <p:nvPr/>
        </p:nvSpPr>
        <p:spPr>
          <a:xfrm>
            <a:off x="334962" y="980728"/>
            <a:ext cx="468091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inden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s-ES" sz="1000" cap="all" baseline="0">
                <a:solidFill>
                  <a:schemeClr val="bg1"/>
                </a:solidFill>
              </a:defRPr>
            </a:lvl1pPr>
            <a:lvl2pPr marL="35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2pPr>
            <a:lvl3pPr marL="53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3pPr>
            <a:lvl4pPr marL="68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 marL="86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pt-PT" sz="1400" dirty="0">
                <a:latin typeface="ForFuture Sans (Body)"/>
                <a:sym typeface="Knockout HTF26-JuniorFlyweight"/>
              </a:rPr>
              <a:t>PONTOS: </a:t>
            </a:r>
            <a:r>
              <a:rPr lang="pt-PT" sz="1400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Principais bugs NEW</a:t>
            </a:r>
            <a:endParaRPr lang="pt-PT" sz="1400" b="1" dirty="0">
              <a:solidFill>
                <a:schemeClr val="accent1"/>
              </a:solidFill>
              <a:latin typeface="ForFuture Sans (Body)"/>
              <a:ea typeface="+mj-ea"/>
              <a:cs typeface="+mj-cs"/>
              <a:sym typeface="Knockout HTF26-JuniorFlyweigh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5EF4181-B8FE-9D48-5817-BA969C4D2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630328"/>
              </p:ext>
            </p:extLst>
          </p:nvPr>
        </p:nvGraphicFramePr>
        <p:xfrm>
          <a:off x="311298" y="1266620"/>
          <a:ext cx="11520487" cy="518671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64951">
                  <a:extLst>
                    <a:ext uri="{9D8B030D-6E8A-4147-A177-3AD203B41FA5}">
                      <a16:colId xmlns:a16="http://schemas.microsoft.com/office/drawing/2014/main" val="3770673058"/>
                    </a:ext>
                  </a:extLst>
                </a:gridCol>
                <a:gridCol w="2375807">
                  <a:extLst>
                    <a:ext uri="{9D8B030D-6E8A-4147-A177-3AD203B41FA5}">
                      <a16:colId xmlns:a16="http://schemas.microsoft.com/office/drawing/2014/main" val="3953165012"/>
                    </a:ext>
                  </a:extLst>
                </a:gridCol>
                <a:gridCol w="6840760">
                  <a:extLst>
                    <a:ext uri="{9D8B030D-6E8A-4147-A177-3AD203B41FA5}">
                      <a16:colId xmlns:a16="http://schemas.microsoft.com/office/drawing/2014/main" val="4098599538"/>
                    </a:ext>
                  </a:extLst>
                </a:gridCol>
                <a:gridCol w="1438969">
                  <a:extLst>
                    <a:ext uri="{9D8B030D-6E8A-4147-A177-3AD203B41FA5}">
                      <a16:colId xmlns:a16="http://schemas.microsoft.com/office/drawing/2014/main" val="1432287253"/>
                    </a:ext>
                  </a:extLst>
                </a:gridCol>
              </a:tblGrid>
              <a:tr h="433935">
                <a:tc>
                  <a:txBody>
                    <a:bodyPr/>
                    <a:lstStyle/>
                    <a:p>
                      <a:pPr algn="ctr"/>
                      <a:r>
                        <a:rPr lang="es-ES" sz="1400" b="1" i="1" u="none" kern="1200" noProof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Bug Title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Bug Description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Equipa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582144"/>
                  </a:ext>
                </a:extLst>
              </a:tr>
              <a:tr h="7426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286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Criar Parque de Máquinas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User: Selfbanking. Depois de inserido o excel, escolhemos um máquina para editar. Preenchemos os campos em falta (Não consigo preencher Modelo, Versão ATM e tipo de cofre).Quando faço adicionar diz-me que estes campos são de preenchimento obrigatório.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56479"/>
                  </a:ext>
                </a:extLst>
              </a:tr>
              <a:tr h="5540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400" b="1" i="0" u="none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272</a:t>
                      </a:r>
                    </a:p>
                  </a:txBody>
                  <a:tcPr marL="7620" marR="7620" marT="762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Rendas</a:t>
                      </a:r>
                    </a:p>
                  </a:txBody>
                  <a:tcPr marL="7620" marR="7620" marT="762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Quando carregamos ficheiro em formato .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xls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para assignar vários locais a uma renda, dá uma mensagem de erro (antigo bug 221)</a:t>
                      </a:r>
                    </a:p>
                  </a:txBody>
                  <a:tcPr marL="7620" marR="7620" marT="762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606730"/>
                  </a:ext>
                </a:extLst>
              </a:tr>
              <a:tr h="7353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217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Parque Máquinas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 campo "Reservado" na tab "Dados complementares" não está a funcionar. Não é preenchido automáticamente com o nome da ATM onde a máquina está alocada/reservada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485816"/>
                  </a:ext>
                </a:extLst>
              </a:tr>
              <a:tr h="6203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Financeira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Selfbanking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Menu Financeira, Faturas SIBS pretendemos Faturas</a:t>
                      </a:r>
                      <a:endParaRPr kumimoji="0" lang="pt-P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F062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761376"/>
                  </a:ext>
                </a:extLst>
              </a:tr>
              <a:tr h="5882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Financeira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Selfbanking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Menu Financeira, em faturação Data de Pedido - Data de lançamento (data que a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gesban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paga= data do processamento)</a:t>
                      </a:r>
                      <a:endParaRPr kumimoji="0" lang="pt-P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F062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94535"/>
                  </a:ext>
                </a:extLst>
              </a:tr>
              <a:tr h="6618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310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Manutenção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Selfbanking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Menu Manutenção. Lista Ficha de Local no filtro deverá de aparecer um filtro com o NIF do cliente</a:t>
                      </a:r>
                      <a:endParaRPr kumimoji="0" lang="pt-P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F062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977618"/>
                  </a:ext>
                </a:extLst>
              </a:tr>
              <a:tr h="8503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311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Manutenção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Selfbanking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Menu Manutenção. Na Ficha de Local nos dados básicos ao lado do campo Cliente BST aparecer o campo do NIF do cliente (informação que deverá de vir preenchida da informação do contrato).</a:t>
                      </a:r>
                      <a:endParaRPr kumimoji="0" lang="pt-P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F062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463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2852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B1460-6805-0091-149A-D96E314E8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B5C5190A-053C-F4F1-9F9C-7E0EE06FFA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5360" y="323548"/>
            <a:ext cx="8982000" cy="615553"/>
          </a:xfrm>
        </p:spPr>
        <p:txBody>
          <a:bodyPr/>
          <a:lstStyle/>
          <a:p>
            <a:r>
              <a:rPr lang="es-ES" dirty="0"/>
              <a:t>Operaciones </a:t>
            </a:r>
            <a:r>
              <a:rPr lang="es-ES" dirty="0" err="1"/>
              <a:t>Tech</a:t>
            </a:r>
            <a:endParaRPr lang="es-ES" dirty="0"/>
          </a:p>
          <a:p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C2076ADC-2E4A-7C65-8DC8-8AD7B48EE51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pt-PT" dirty="0"/>
              <a:t>Minsait  /  Reporting de Projetos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97DBED8-AE47-0452-B062-773E26C1222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12</a:t>
            </a:fld>
            <a:endParaRPr lang="es-ES" dirty="0"/>
          </a:p>
        </p:txBody>
      </p:sp>
      <p:sp>
        <p:nvSpPr>
          <p:cNvPr id="59" name="Título 3">
            <a:extLst>
              <a:ext uri="{FF2B5EF4-FFF2-40B4-BE49-F238E27FC236}">
                <a16:creationId xmlns:a16="http://schemas.microsoft.com/office/drawing/2014/main" id="{D8D25AC6-89B8-D9D9-92B4-EA71554A1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59" y="549275"/>
            <a:ext cx="8980445" cy="361004"/>
          </a:xfrm>
        </p:spPr>
        <p:txBody>
          <a:bodyPr/>
          <a:lstStyle/>
          <a:p>
            <a:r>
              <a:rPr lang="pt-PT" sz="2400" dirty="0"/>
              <a:t>Santander / ATM -  Management Modernization</a:t>
            </a:r>
          </a:p>
        </p:txBody>
      </p:sp>
      <p:sp>
        <p:nvSpPr>
          <p:cNvPr id="98" name="Title 1">
            <a:extLst>
              <a:ext uri="{FF2B5EF4-FFF2-40B4-BE49-F238E27FC236}">
                <a16:creationId xmlns:a16="http://schemas.microsoft.com/office/drawing/2014/main" id="{BE8B5F3E-6B0A-02A1-5A97-DBBB69566F34}"/>
              </a:ext>
            </a:extLst>
          </p:cNvPr>
          <p:cNvSpPr txBox="1">
            <a:spLocks/>
          </p:cNvSpPr>
          <p:nvPr/>
        </p:nvSpPr>
        <p:spPr>
          <a:xfrm>
            <a:off x="334962" y="980728"/>
            <a:ext cx="468091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inden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s-ES" sz="1000" cap="all" baseline="0">
                <a:solidFill>
                  <a:schemeClr val="bg1"/>
                </a:solidFill>
              </a:defRPr>
            </a:lvl1pPr>
            <a:lvl2pPr marL="35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2pPr>
            <a:lvl3pPr marL="53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3pPr>
            <a:lvl4pPr marL="68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 marL="86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pt-PT" sz="1400" dirty="0">
                <a:latin typeface="ForFuture Sans (Body)"/>
                <a:sym typeface="Knockout HTF26-JuniorFlyweight"/>
              </a:rPr>
              <a:t>PONTOS: </a:t>
            </a:r>
            <a:r>
              <a:rPr lang="pt-PT" sz="1400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Principais bugs NEW</a:t>
            </a:r>
            <a:endParaRPr lang="pt-PT" sz="1400" b="1" dirty="0">
              <a:solidFill>
                <a:schemeClr val="accent1"/>
              </a:solidFill>
              <a:latin typeface="ForFuture Sans (Body)"/>
              <a:ea typeface="+mj-ea"/>
              <a:cs typeface="+mj-cs"/>
              <a:sym typeface="Knockout HTF26-JuniorFlyweigh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50EA3F5-7087-EB43-5449-2F7F2D24F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961899"/>
              </p:ext>
            </p:extLst>
          </p:nvPr>
        </p:nvGraphicFramePr>
        <p:xfrm>
          <a:off x="334962" y="1266620"/>
          <a:ext cx="11496823" cy="528968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63174">
                  <a:extLst>
                    <a:ext uri="{9D8B030D-6E8A-4147-A177-3AD203B41FA5}">
                      <a16:colId xmlns:a16="http://schemas.microsoft.com/office/drawing/2014/main" val="3770673058"/>
                    </a:ext>
                  </a:extLst>
                </a:gridCol>
                <a:gridCol w="2370927">
                  <a:extLst>
                    <a:ext uri="{9D8B030D-6E8A-4147-A177-3AD203B41FA5}">
                      <a16:colId xmlns:a16="http://schemas.microsoft.com/office/drawing/2014/main" val="3953165012"/>
                    </a:ext>
                  </a:extLst>
                </a:gridCol>
                <a:gridCol w="6826709">
                  <a:extLst>
                    <a:ext uri="{9D8B030D-6E8A-4147-A177-3AD203B41FA5}">
                      <a16:colId xmlns:a16="http://schemas.microsoft.com/office/drawing/2014/main" val="4098599538"/>
                    </a:ext>
                  </a:extLst>
                </a:gridCol>
                <a:gridCol w="1436013">
                  <a:extLst>
                    <a:ext uri="{9D8B030D-6E8A-4147-A177-3AD203B41FA5}">
                      <a16:colId xmlns:a16="http://schemas.microsoft.com/office/drawing/2014/main" val="1432287253"/>
                    </a:ext>
                  </a:extLst>
                </a:gridCol>
              </a:tblGrid>
              <a:tr h="419528">
                <a:tc>
                  <a:txBody>
                    <a:bodyPr/>
                    <a:lstStyle/>
                    <a:p>
                      <a:pPr algn="ctr"/>
                      <a:r>
                        <a:rPr lang="es-ES" sz="1400" b="1" i="1" u="none" kern="1200" noProof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Bug Title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Bug Description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Equipa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582144"/>
                  </a:ext>
                </a:extLst>
              </a:tr>
              <a:tr h="626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312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Manutenção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Selfbanking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Menu Manutenção. na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tab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operações no separador movimentos, pretendemos que fique com a seguinte ordem e informação. Código Local, BAA, Nome ATM, Balcão de Apoio. (Precisamos de perceber do que se trata o "Lugar")</a:t>
                      </a:r>
                      <a:endParaRPr kumimoji="0" lang="pt-P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F062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56479"/>
                  </a:ext>
                </a:extLst>
              </a:tr>
              <a:tr h="5819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400" b="1" i="0" u="none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313</a:t>
                      </a:r>
                    </a:p>
                  </a:txBody>
                  <a:tcPr marL="7620" marR="7620" marT="762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Manutenção</a:t>
                      </a:r>
                    </a:p>
                  </a:txBody>
                  <a:tcPr marL="7620" marR="7620" marT="762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Selfbanking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Menu Manutenção. na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tab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operações no separador movimentos no consultar movimentos falta um totalizador por tipo de movimentos e um total de todos por máquina por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periodo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ou seja todos os movimentos feitos nesse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periodo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nessa máquina. Falta também um total geral do parque.</a:t>
                      </a:r>
                    </a:p>
                  </a:txBody>
                  <a:tcPr marL="7620" marR="7620" marT="762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606730"/>
                  </a:ext>
                </a:extLst>
              </a:tr>
              <a:tr h="4622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314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Manutenção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Selfbanking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Menu Manutenção. na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tab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operações no separador movimentos no consultar movimentos deve ter um filtro com as seguintes opções: Cartões OIC, Cartões BST e Todos</a:t>
                      </a:r>
                      <a:endParaRPr kumimoji="0" lang="pt-P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F062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485816"/>
                  </a:ext>
                </a:extLst>
              </a:tr>
              <a:tr h="4873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315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Manutenção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Selfbanking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Menu Manutenção. na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tab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operações no separador Fechos, pretendemos que fique com a seguinte ordem e informação. Código Local, BAA, Nome ATM, P.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Contabilistico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e data</a:t>
                      </a:r>
                      <a:endParaRPr kumimoji="0" lang="pt-P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F062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761376"/>
                  </a:ext>
                </a:extLst>
              </a:tr>
              <a:tr h="4873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316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Manutenção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Selfbanking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Menu Manutenção. na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tab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operações no separador Abastecimentos, pretendemos que fique com a seguinte ordem e informação. Código Local, BAA, Nome ATM, P.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Contabilistico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e data</a:t>
                      </a:r>
                      <a:endParaRPr kumimoji="0" lang="pt-P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F062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94535"/>
                  </a:ext>
                </a:extLst>
              </a:tr>
              <a:tr h="5106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317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Menu Financeira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Selfbanking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Menu Financeira.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Tab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Processamento. Não conseguimos perceber qual o estado do fecho do mês.</a:t>
                      </a:r>
                      <a:endParaRPr kumimoji="0" lang="pt-P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F062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977618"/>
                  </a:ext>
                </a:extLst>
              </a:tr>
              <a:tr h="3944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318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Menu Financeira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Selfbanking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Menu Financeira.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Tab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Processamento. Quando filtramos por mês, não retorna resultados.</a:t>
                      </a:r>
                      <a:endParaRPr kumimoji="0" lang="pt-P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F062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463111"/>
                  </a:ext>
                </a:extLst>
              </a:tr>
              <a:tr h="464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319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Menu Financeira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Selfbanking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Menu Financeira.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Tab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Processamento. Na pesquisa na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combobox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"Estados" todos os estados estão em inglês, pretendemos que os mesmos fiquem em Português</a:t>
                      </a:r>
                      <a:endParaRPr kumimoji="0" lang="pt-P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F062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168371"/>
                  </a:ext>
                </a:extLst>
              </a:tr>
              <a:tr h="8221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320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Menu Financeira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Selfbanking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Menu Manutenção.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Tab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Erros de Operações. Ao assignar o erro de operações com o BAA "0018033401", seleciono o Balcão de apoio e o local , </a:t>
                      </a:r>
                      <a:r>
                        <a:rPr kumimoji="0" lang="pt-PT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confimo</a:t>
                      </a:r>
                      <a:r>
                        <a:rPr kumimoji="0" lang="pt-PT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e nada acontece. O erro continua</a:t>
                      </a:r>
                      <a:endParaRPr kumimoji="0" lang="pt-PT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F062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234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280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5283286B-EE55-719E-2945-8CA52B0C80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5360" y="323548"/>
            <a:ext cx="8982000" cy="615553"/>
          </a:xfrm>
        </p:spPr>
        <p:txBody>
          <a:bodyPr/>
          <a:lstStyle/>
          <a:p>
            <a:r>
              <a:rPr lang="es-ES" dirty="0"/>
              <a:t>Operaciones </a:t>
            </a:r>
            <a:r>
              <a:rPr lang="es-ES" dirty="0" err="1"/>
              <a:t>Tech</a:t>
            </a:r>
            <a:endParaRPr lang="es-ES" dirty="0"/>
          </a:p>
          <a:p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FC1313C-3567-46FC-511B-78CEABE3AFD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pt-PT" dirty="0"/>
              <a:t>Minsait  /  Reporting de Projetos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713A1C7-D639-8097-AAF4-3A144BE8087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13</a:t>
            </a:fld>
            <a:endParaRPr lang="es-ES" dirty="0"/>
          </a:p>
        </p:txBody>
      </p:sp>
      <p:sp>
        <p:nvSpPr>
          <p:cNvPr id="59" name="Título 3">
            <a:extLst>
              <a:ext uri="{FF2B5EF4-FFF2-40B4-BE49-F238E27FC236}">
                <a16:creationId xmlns:a16="http://schemas.microsoft.com/office/drawing/2014/main" id="{0728EC17-30C1-7821-780A-083D2D73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59" y="549275"/>
            <a:ext cx="8980445" cy="361004"/>
          </a:xfrm>
        </p:spPr>
        <p:txBody>
          <a:bodyPr/>
          <a:lstStyle/>
          <a:p>
            <a:r>
              <a:rPr lang="pt-PT" sz="2400" dirty="0"/>
              <a:t>Santander / ATM -  Management Modernization</a:t>
            </a:r>
          </a:p>
        </p:txBody>
      </p:sp>
      <p:sp>
        <p:nvSpPr>
          <p:cNvPr id="98" name="Title 1">
            <a:extLst>
              <a:ext uri="{FF2B5EF4-FFF2-40B4-BE49-F238E27FC236}">
                <a16:creationId xmlns:a16="http://schemas.microsoft.com/office/drawing/2014/main" id="{E1A92933-293E-1389-F4AA-877905A25A49}"/>
              </a:ext>
            </a:extLst>
          </p:cNvPr>
          <p:cNvSpPr txBox="1">
            <a:spLocks/>
          </p:cNvSpPr>
          <p:nvPr/>
        </p:nvSpPr>
        <p:spPr>
          <a:xfrm>
            <a:off x="334962" y="980728"/>
            <a:ext cx="468091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inden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s-ES" sz="1000" cap="all" baseline="0">
                <a:solidFill>
                  <a:schemeClr val="bg1"/>
                </a:solidFill>
              </a:defRPr>
            </a:lvl1pPr>
            <a:lvl2pPr marL="35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2pPr>
            <a:lvl3pPr marL="53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3pPr>
            <a:lvl4pPr marL="68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 marL="86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pt-PT" sz="1400" dirty="0">
                <a:latin typeface="ForFuture Sans (Body)"/>
                <a:sym typeface="Knockout HTF26-JuniorFlyweight"/>
              </a:rPr>
              <a:t>PONTOS: </a:t>
            </a:r>
            <a:r>
              <a:rPr lang="pt-PT" sz="1400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distribuição actual bugs – por status</a:t>
            </a:r>
            <a:endParaRPr lang="pt-PT" sz="1400" b="1" dirty="0">
              <a:solidFill>
                <a:schemeClr val="accent1"/>
              </a:solidFill>
              <a:latin typeface="ForFuture Sans (Body)"/>
              <a:ea typeface="+mj-ea"/>
              <a:cs typeface="+mj-cs"/>
              <a:sym typeface="Knockout HTF26-JuniorFlyweigh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5EF4181-B8FE-9D48-5817-BA969C4D2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186847"/>
              </p:ext>
            </p:extLst>
          </p:nvPr>
        </p:nvGraphicFramePr>
        <p:xfrm>
          <a:off x="306066" y="1375817"/>
          <a:ext cx="11520487" cy="498961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51732">
                  <a:extLst>
                    <a:ext uri="{9D8B030D-6E8A-4147-A177-3AD203B41FA5}">
                      <a16:colId xmlns:a16="http://schemas.microsoft.com/office/drawing/2014/main" val="377067305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95316501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4098599538"/>
                    </a:ext>
                  </a:extLst>
                </a:gridCol>
                <a:gridCol w="821778">
                  <a:extLst>
                    <a:ext uri="{9D8B030D-6E8A-4147-A177-3AD203B41FA5}">
                      <a16:colId xmlns:a16="http://schemas.microsoft.com/office/drawing/2014/main" val="316069488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4096311478"/>
                    </a:ext>
                  </a:extLst>
                </a:gridCol>
                <a:gridCol w="7170713">
                  <a:extLst>
                    <a:ext uri="{9D8B030D-6E8A-4147-A177-3AD203B41FA5}">
                      <a16:colId xmlns:a16="http://schemas.microsoft.com/office/drawing/2014/main" val="1432287253"/>
                    </a:ext>
                  </a:extLst>
                </a:gridCol>
              </a:tblGrid>
              <a:tr h="311279">
                <a:tc>
                  <a:txBody>
                    <a:bodyPr/>
                    <a:lstStyle/>
                    <a:p>
                      <a:pPr algn="ctr"/>
                      <a:endParaRPr lang="es-ES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PT" sz="1400" b="1" i="0" u="none" kern="1200" noProof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08/Out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PT" sz="1400" b="1" i="0" u="none" kern="1200" noProof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15/out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364618"/>
                  </a:ext>
                </a:extLst>
              </a:tr>
              <a:tr h="444624">
                <a:tc>
                  <a:txBody>
                    <a:bodyPr/>
                    <a:lstStyle/>
                    <a:p>
                      <a:pPr algn="ctr"/>
                      <a:r>
                        <a:rPr lang="es-ES" sz="1400" b="1" i="1" u="none" kern="1200" noProof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Estado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Quanti</a:t>
                      </a:r>
                    </a:p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dade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%Total Bugs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Quanti</a:t>
                      </a:r>
                    </a:p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dade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%Total Bugs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i="1" u="none" kern="1200" noProof="0" dirty="0">
                          <a:solidFill>
                            <a:srgbClr val="FFFFFF"/>
                          </a:solidFill>
                        </a:rPr>
                        <a:t>Ações</a:t>
                      </a:r>
                      <a:endParaRPr lang="pt-PT" sz="1400" b="1" i="1" u="none" kern="1200" noProof="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582144"/>
                  </a:ext>
                </a:extLst>
              </a:tr>
              <a:tr h="4689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200" b="1" i="0" u="none" kern="120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Closed</a:t>
                      </a:r>
                      <a:endParaRPr lang="es-ES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38%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0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45974"/>
                  </a:ext>
                </a:extLst>
              </a:tr>
              <a:tr h="4901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200" b="1" i="0" u="none" kern="120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Fixed</a:t>
                      </a:r>
                      <a:endParaRPr lang="es-ES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10%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12%</a:t>
                      </a: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0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102892"/>
                  </a:ext>
                </a:extLst>
              </a:tr>
              <a:tr h="4901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200" b="1" i="0" u="none" kern="120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Opened</a:t>
                      </a:r>
                      <a:endParaRPr lang="es-ES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0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Em análise pela</a:t>
                      </a:r>
                      <a:r>
                        <a:rPr lang="pt-PT" sz="1200" b="0" i="0" u="none" kern="1200" baseline="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PT" sz="1200" b="0" i="0" u="none" kern="1200" baseline="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Minsait</a:t>
                      </a:r>
                      <a:endParaRPr lang="pt-PT" sz="1200" b="0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56479"/>
                  </a:ext>
                </a:extLst>
              </a:tr>
              <a:tr h="4901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New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10%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45%</a:t>
                      </a: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0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Em análise pela</a:t>
                      </a:r>
                      <a:r>
                        <a:rPr lang="pt-PT" sz="1200" b="0" i="0" u="none" kern="1200" baseline="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PT" sz="1200" b="0" i="0" u="none" kern="1200" baseline="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Minsait</a:t>
                      </a:r>
                      <a:endParaRPr lang="pt-PT" sz="1200" b="0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701191"/>
                  </a:ext>
                </a:extLst>
              </a:tr>
              <a:tr h="4901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200" b="1" i="0" u="none" kern="120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Pending</a:t>
                      </a:r>
                      <a:r>
                        <a:rPr lang="es-ES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200" b="1" i="0" u="none" kern="120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Info</a:t>
                      </a:r>
                      <a:endParaRPr lang="es-ES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0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Marcar sessões de esclarecimentos asap</a:t>
                      </a: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876396"/>
                  </a:ext>
                </a:extLst>
              </a:tr>
              <a:tr h="5602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200" b="1" i="0" u="none" kern="120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Under</a:t>
                      </a:r>
                      <a:r>
                        <a:rPr lang="es-ES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200" b="1" i="0" u="none" kern="120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Analysis</a:t>
                      </a:r>
                      <a:endParaRPr lang="es-ES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PT" sz="1200" b="0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Agilizar rapidamente alguma dúvida com o Banco</a:t>
                      </a: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172925"/>
                  </a:ext>
                </a:extLst>
              </a:tr>
              <a:tr h="5602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200" b="1" i="0" u="none" kern="120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Change</a:t>
                      </a:r>
                      <a:r>
                        <a:rPr lang="es-ES" sz="1200" b="1" i="0" u="none" kern="1200" baseline="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200" b="1" i="0" u="none" kern="1200" baseline="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Request</a:t>
                      </a:r>
                      <a:endParaRPr lang="es-ES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22%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i="0" u="non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F062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0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2712"/>
                  </a:ext>
                </a:extLst>
              </a:tr>
              <a:tr h="6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200" b="1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0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i="0" u="non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0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PT" sz="1200" b="1" i="0" u="non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920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0959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Marcador de texto 10">
            <a:extLst>
              <a:ext uri="{FF2B5EF4-FFF2-40B4-BE49-F238E27FC236}">
                <a16:creationId xmlns:a16="http://schemas.microsoft.com/office/drawing/2014/main" id="{BD6C5067-3FAD-4075-B4E4-96E7EBAD8971}"/>
              </a:ext>
            </a:extLst>
          </p:cNvPr>
          <p:cNvSpPr txBox="1">
            <a:spLocks/>
          </p:cNvSpPr>
          <p:nvPr/>
        </p:nvSpPr>
        <p:spPr>
          <a:xfrm>
            <a:off x="335360" y="323548"/>
            <a:ext cx="8982000" cy="153888"/>
          </a:xfrm>
          <a:prstGeom prst="rect">
            <a:avLst/>
          </a:prstGeom>
        </p:spPr>
        <p:txBody>
          <a:bodyPr/>
          <a:lstStyle>
            <a:lvl1pPr marL="144000" indent="-1440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14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4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1000" cap="all" dirty="0">
                <a:solidFill>
                  <a:schemeClr val="bg1"/>
                </a:solidFill>
              </a:rPr>
              <a:t>Operaciones Tech</a:t>
            </a:r>
          </a:p>
        </p:txBody>
      </p:sp>
      <p:sp>
        <p:nvSpPr>
          <p:cNvPr id="60" name="Título 3">
            <a:extLst>
              <a:ext uri="{FF2B5EF4-FFF2-40B4-BE49-F238E27FC236}">
                <a16:creationId xmlns:a16="http://schemas.microsoft.com/office/drawing/2014/main" id="{9399270F-CDE3-4F81-B53A-F48767E26786}"/>
              </a:ext>
            </a:extLst>
          </p:cNvPr>
          <p:cNvSpPr txBox="1">
            <a:spLocks/>
          </p:cNvSpPr>
          <p:nvPr/>
        </p:nvSpPr>
        <p:spPr>
          <a:xfrm>
            <a:off x="335359" y="549275"/>
            <a:ext cx="8980445" cy="3610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400" dirty="0">
                <a:solidFill>
                  <a:schemeClr val="bg1"/>
                </a:solidFill>
              </a:rPr>
              <a:t>Santander / ATM -  Management Modernization</a:t>
            </a:r>
          </a:p>
          <a:p>
            <a:r>
              <a:rPr lang="pt-PT" sz="2400" dirty="0">
                <a:solidFill>
                  <a:schemeClr val="bg1"/>
                </a:solidFill>
              </a:rPr>
              <a:t>Plano de Trabalho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8112223" y="400492"/>
            <a:ext cx="3346839" cy="76838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pt-PT" sz="1200" b="1" dirty="0">
                <a:solidFill>
                  <a:schemeClr val="bg1"/>
                </a:solidFill>
              </a:rPr>
              <a:t>Nota</a:t>
            </a:r>
            <a:r>
              <a:rPr lang="pt-PT" sz="1200" dirty="0">
                <a:solidFill>
                  <a:schemeClr val="bg1"/>
                </a:solidFill>
              </a:rPr>
              <a:t>: A nossa estimativa de desenvolvimento CR</a:t>
            </a:r>
          </a:p>
          <a:p>
            <a:r>
              <a:rPr lang="pt-PT" sz="1200" dirty="0">
                <a:solidFill>
                  <a:schemeClr val="bg1"/>
                </a:solidFill>
              </a:rPr>
              <a:t>para este plano terá que ser inferior à 200 </a:t>
            </a:r>
            <a:r>
              <a:rPr lang="pt-PT" sz="1200" dirty="0" err="1">
                <a:solidFill>
                  <a:schemeClr val="bg1"/>
                </a:solidFill>
              </a:rPr>
              <a:t>hrs</a:t>
            </a:r>
            <a:endParaRPr lang="pt-PT" sz="1200" dirty="0">
              <a:solidFill>
                <a:schemeClr val="bg1"/>
              </a:solidFill>
            </a:endParaRPr>
          </a:p>
          <a:p>
            <a:r>
              <a:rPr lang="pt-PT" sz="1200" dirty="0">
                <a:solidFill>
                  <a:schemeClr val="bg1"/>
                </a:solidFill>
              </a:rPr>
              <a:t>(dois programadores e um analista) 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EAECB4E-641F-3AFB-09F0-E0C4C1750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504" y="1168874"/>
            <a:ext cx="8712968" cy="557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16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5283286B-EE55-719E-2945-8CA52B0C80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5360" y="323548"/>
            <a:ext cx="8982000" cy="615553"/>
          </a:xfrm>
        </p:spPr>
        <p:txBody>
          <a:bodyPr/>
          <a:lstStyle/>
          <a:p>
            <a:r>
              <a:rPr lang="es-ES" dirty="0"/>
              <a:t>Operaciones </a:t>
            </a:r>
            <a:r>
              <a:rPr lang="es-ES" dirty="0" err="1"/>
              <a:t>Tech</a:t>
            </a:r>
            <a:endParaRPr lang="es-ES" dirty="0"/>
          </a:p>
          <a:p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FC1313C-3567-46FC-511B-78CEABE3AFD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pt-PT" dirty="0"/>
              <a:t>Minsait  /  Reporting de Projetos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713A1C7-D639-8097-AAF4-3A144BE8087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15</a:t>
            </a:fld>
            <a:endParaRPr lang="es-ES" dirty="0"/>
          </a:p>
        </p:txBody>
      </p:sp>
      <p:sp>
        <p:nvSpPr>
          <p:cNvPr id="59" name="Título 3">
            <a:extLst>
              <a:ext uri="{FF2B5EF4-FFF2-40B4-BE49-F238E27FC236}">
                <a16:creationId xmlns:a16="http://schemas.microsoft.com/office/drawing/2014/main" id="{0728EC17-30C1-7821-780A-083D2D73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59" y="549275"/>
            <a:ext cx="8980445" cy="361004"/>
          </a:xfrm>
        </p:spPr>
        <p:txBody>
          <a:bodyPr/>
          <a:lstStyle/>
          <a:p>
            <a:r>
              <a:rPr lang="pt-PT" sz="2400" dirty="0"/>
              <a:t>Santander / ATM -  Management Modernization</a:t>
            </a:r>
          </a:p>
        </p:txBody>
      </p:sp>
      <p:sp>
        <p:nvSpPr>
          <p:cNvPr id="98" name="Title 1">
            <a:extLst>
              <a:ext uri="{FF2B5EF4-FFF2-40B4-BE49-F238E27FC236}">
                <a16:creationId xmlns:a16="http://schemas.microsoft.com/office/drawing/2014/main" id="{E1A92933-293E-1389-F4AA-877905A25A49}"/>
              </a:ext>
            </a:extLst>
          </p:cNvPr>
          <p:cNvSpPr txBox="1">
            <a:spLocks/>
          </p:cNvSpPr>
          <p:nvPr/>
        </p:nvSpPr>
        <p:spPr>
          <a:xfrm>
            <a:off x="178734" y="1028284"/>
            <a:ext cx="468091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inden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s-ES" sz="1000" cap="all" baseline="0">
                <a:solidFill>
                  <a:schemeClr val="bg1"/>
                </a:solidFill>
              </a:defRPr>
            </a:lvl1pPr>
            <a:lvl2pPr marL="35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2pPr>
            <a:lvl3pPr marL="53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3pPr>
            <a:lvl4pPr marL="68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 marL="86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pt-PT" sz="1400" dirty="0">
                <a:latin typeface="ForFuture Sans (Body)"/>
                <a:sym typeface="Knockout HTF26-JuniorFlyweight"/>
              </a:rPr>
              <a:t>PONTOS:</a:t>
            </a:r>
            <a:endParaRPr lang="pt-PT" sz="1400" dirty="0">
              <a:solidFill>
                <a:schemeClr val="accent1"/>
              </a:solidFill>
              <a:latin typeface="ForFuture Sans (Body)"/>
              <a:ea typeface="+mj-ea"/>
              <a:cs typeface="+mj-cs"/>
              <a:sym typeface="Knockout HTF26-JuniorFlyweight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767408" y="1988840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pt-PT" sz="1200" dirty="0" err="1"/>
          </a:p>
        </p:txBody>
      </p:sp>
      <p:sp>
        <p:nvSpPr>
          <p:cNvPr id="7" name="CaixaDeTexto 6"/>
          <p:cNvSpPr txBox="1"/>
          <p:nvPr/>
        </p:nvSpPr>
        <p:spPr>
          <a:xfrm>
            <a:off x="1487488" y="1834600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bg2"/>
                </a:solidFill>
              </a:rPr>
              <a:t>Data limite para entrega dos requisitos e fluxos dos dois </a:t>
            </a:r>
            <a:r>
              <a:rPr lang="pt-PT" sz="1200" dirty="0" err="1">
                <a:solidFill>
                  <a:schemeClr val="bg2"/>
                </a:solidFill>
              </a:rPr>
              <a:t>changes</a:t>
            </a:r>
            <a:r>
              <a:rPr lang="pt-PT" sz="1200" dirty="0">
                <a:solidFill>
                  <a:schemeClr val="bg2"/>
                </a:solidFill>
              </a:rPr>
              <a:t> </a:t>
            </a:r>
            <a:r>
              <a:rPr lang="pt-PT" sz="1200" dirty="0" err="1">
                <a:solidFill>
                  <a:schemeClr val="bg2"/>
                </a:solidFill>
              </a:rPr>
              <a:t>requests</a:t>
            </a:r>
            <a:r>
              <a:rPr lang="pt-PT" sz="1200" dirty="0">
                <a:solidFill>
                  <a:schemeClr val="bg2"/>
                </a:solidFill>
              </a:rPr>
              <a:t> do slide seguinte deve ser entregue no limite até 17.10.2025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PT" sz="1200" dirty="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bg2"/>
                </a:solidFill>
              </a:rPr>
              <a:t>Após a entrega será realizado análise por parte da equipa do projeto, na qual pode ser necessário algumas sessões de esclarecimentos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PT" sz="1200" dirty="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bg2"/>
                </a:solidFill>
              </a:rPr>
              <a:t>Depois desta avaliação, a previsão de entrega do documento de estimativa é de duas semanas por parte da equipa de projeto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PT" sz="1200" dirty="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bg2"/>
                </a:solidFill>
              </a:rPr>
              <a:t>Após receber a aprovação da estimativa por parte do Santander, a </a:t>
            </a:r>
            <a:r>
              <a:rPr lang="pt-PT" sz="1200" dirty="0" err="1">
                <a:solidFill>
                  <a:schemeClr val="bg2"/>
                </a:solidFill>
              </a:rPr>
              <a:t>Minsait</a:t>
            </a:r>
            <a:r>
              <a:rPr lang="pt-PT" sz="1200" dirty="0">
                <a:solidFill>
                  <a:schemeClr val="bg2"/>
                </a:solidFill>
              </a:rPr>
              <a:t> irá indicar o inicio dos desenvolvimentos e fim (mediante disponibilidade)</a:t>
            </a:r>
          </a:p>
          <a:p>
            <a:endParaRPr lang="pt-PT" sz="1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898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5283286B-EE55-719E-2945-8CA52B0C80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5360" y="323548"/>
            <a:ext cx="8982000" cy="615553"/>
          </a:xfrm>
        </p:spPr>
        <p:txBody>
          <a:bodyPr/>
          <a:lstStyle/>
          <a:p>
            <a:r>
              <a:rPr lang="es-ES" dirty="0"/>
              <a:t>Operaciones </a:t>
            </a:r>
            <a:r>
              <a:rPr lang="es-ES" dirty="0" err="1"/>
              <a:t>Tech</a:t>
            </a:r>
            <a:endParaRPr lang="es-ES" dirty="0"/>
          </a:p>
          <a:p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FC1313C-3567-46FC-511B-78CEABE3AFD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pt-PT" dirty="0"/>
              <a:t>Minsait  /  Reporting de Projetos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713A1C7-D639-8097-AAF4-3A144BE8087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16</a:t>
            </a:fld>
            <a:endParaRPr lang="es-ES" dirty="0"/>
          </a:p>
        </p:txBody>
      </p:sp>
      <p:sp>
        <p:nvSpPr>
          <p:cNvPr id="59" name="Título 3">
            <a:extLst>
              <a:ext uri="{FF2B5EF4-FFF2-40B4-BE49-F238E27FC236}">
                <a16:creationId xmlns:a16="http://schemas.microsoft.com/office/drawing/2014/main" id="{0728EC17-30C1-7821-780A-083D2D73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59" y="549275"/>
            <a:ext cx="8980445" cy="361004"/>
          </a:xfrm>
        </p:spPr>
        <p:txBody>
          <a:bodyPr/>
          <a:lstStyle/>
          <a:p>
            <a:r>
              <a:rPr lang="pt-PT" sz="2400" dirty="0"/>
              <a:t>Santander / ATM -  Management Modernization</a:t>
            </a:r>
          </a:p>
        </p:txBody>
      </p:sp>
      <p:sp>
        <p:nvSpPr>
          <p:cNvPr id="98" name="Title 1">
            <a:extLst>
              <a:ext uri="{FF2B5EF4-FFF2-40B4-BE49-F238E27FC236}">
                <a16:creationId xmlns:a16="http://schemas.microsoft.com/office/drawing/2014/main" id="{E1A92933-293E-1389-F4AA-877905A25A49}"/>
              </a:ext>
            </a:extLst>
          </p:cNvPr>
          <p:cNvSpPr txBox="1">
            <a:spLocks/>
          </p:cNvSpPr>
          <p:nvPr/>
        </p:nvSpPr>
        <p:spPr>
          <a:xfrm>
            <a:off x="178734" y="1028284"/>
            <a:ext cx="468091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inden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s-ES" sz="1000" cap="all" baseline="0">
                <a:solidFill>
                  <a:schemeClr val="bg1"/>
                </a:solidFill>
              </a:defRPr>
            </a:lvl1pPr>
            <a:lvl2pPr marL="35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2pPr>
            <a:lvl3pPr marL="53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200" dirty="0" smtClean="0"/>
            </a:lvl3pPr>
            <a:lvl4pPr marL="68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 marL="86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pt-PT" sz="1400" dirty="0">
                <a:latin typeface="ForFuture Sans (Body)"/>
                <a:sym typeface="Knockout HTF26-JuniorFlyweight"/>
              </a:rPr>
              <a:t>PONTOS: </a:t>
            </a:r>
            <a:r>
              <a:rPr lang="pt-PT" sz="1400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Principais </a:t>
            </a:r>
            <a:r>
              <a:rPr lang="pt-PT" sz="1400" dirty="0" err="1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Change</a:t>
            </a:r>
            <a:r>
              <a:rPr lang="pt-PT" sz="1400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 </a:t>
            </a:r>
            <a:r>
              <a:rPr lang="pt-PT" sz="1400" dirty="0" err="1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request</a:t>
            </a:r>
            <a:r>
              <a:rPr lang="pt-PT" sz="1400" b="1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 </a:t>
            </a:r>
            <a:r>
              <a:rPr lang="pt-PT" sz="1400" dirty="0">
                <a:solidFill>
                  <a:schemeClr val="accent1"/>
                </a:solidFill>
                <a:latin typeface="ForFuture Sans (Body)"/>
                <a:ea typeface="+mj-ea"/>
                <a:cs typeface="+mj-cs"/>
                <a:sym typeface="Knockout HTF26-JuniorFlyweight"/>
              </a:rPr>
              <a:t>analysis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767408" y="1988840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pt-PT" sz="1200" dirty="0" err="1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501944"/>
              </p:ext>
            </p:extLst>
          </p:nvPr>
        </p:nvGraphicFramePr>
        <p:xfrm>
          <a:off x="623392" y="1954560"/>
          <a:ext cx="9721080" cy="834622"/>
        </p:xfrm>
        <a:graphic>
          <a:graphicData uri="http://schemas.openxmlformats.org/drawingml/2006/table">
            <a:tbl>
              <a:tblPr/>
              <a:tblGrid>
                <a:gridCol w="542102">
                  <a:extLst>
                    <a:ext uri="{9D8B030D-6E8A-4147-A177-3AD203B41FA5}">
                      <a16:colId xmlns:a16="http://schemas.microsoft.com/office/drawing/2014/main" val="3223090690"/>
                    </a:ext>
                  </a:extLst>
                </a:gridCol>
                <a:gridCol w="183764">
                  <a:extLst>
                    <a:ext uri="{9D8B030D-6E8A-4147-A177-3AD203B41FA5}">
                      <a16:colId xmlns:a16="http://schemas.microsoft.com/office/drawing/2014/main" val="183246850"/>
                    </a:ext>
                  </a:extLst>
                </a:gridCol>
                <a:gridCol w="1470106">
                  <a:extLst>
                    <a:ext uri="{9D8B030D-6E8A-4147-A177-3AD203B41FA5}">
                      <a16:colId xmlns:a16="http://schemas.microsoft.com/office/drawing/2014/main" val="1314912018"/>
                    </a:ext>
                  </a:extLst>
                </a:gridCol>
                <a:gridCol w="7525108">
                  <a:extLst>
                    <a:ext uri="{9D8B030D-6E8A-4147-A177-3AD203B41FA5}">
                      <a16:colId xmlns:a16="http://schemas.microsoft.com/office/drawing/2014/main" val="366440902"/>
                    </a:ext>
                  </a:extLst>
                </a:gridCol>
              </a:tblGrid>
              <a:tr h="834622">
                <a:tc>
                  <a:txBody>
                    <a:bodyPr/>
                    <a:lstStyle/>
                    <a:p>
                      <a:pPr algn="r" fontAlgn="b"/>
                      <a:r>
                        <a:rPr lang="pt-PT" sz="1200" b="0" i="0" u="none" strike="noStrike" kern="1200" dirty="0"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6532" marR="6532" marT="6532" marB="39195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200" b="0" i="0" u="none" strike="noStrike" kern="12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532" marR="6532" marT="6532" marB="39195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b="0" i="0" u="none" strike="noStrike" kern="1200" dirty="0"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Criar/Editar Ficha de Local </a:t>
                      </a:r>
                    </a:p>
                  </a:txBody>
                  <a:tcPr marL="6532" marR="6532" marT="6532" marB="39195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Ponto 3 - Não verificamos a existência da informação se existe ou não protocolo e com quem (informação não está na proposta e queremos que esteja)</a:t>
                      </a:r>
                    </a:p>
                  </a:txBody>
                  <a:tcPr marL="6532" marR="6532" marT="6532" marB="39195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75349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098011"/>
              </p:ext>
            </p:extLst>
          </p:nvPr>
        </p:nvGraphicFramePr>
        <p:xfrm>
          <a:off x="623392" y="3065018"/>
          <a:ext cx="9721080" cy="739624"/>
        </p:xfrm>
        <a:graphic>
          <a:graphicData uri="http://schemas.openxmlformats.org/drawingml/2006/table">
            <a:tbl>
              <a:tblPr/>
              <a:tblGrid>
                <a:gridCol w="542101">
                  <a:extLst>
                    <a:ext uri="{9D8B030D-6E8A-4147-A177-3AD203B41FA5}">
                      <a16:colId xmlns:a16="http://schemas.microsoft.com/office/drawing/2014/main" val="2306532437"/>
                    </a:ext>
                  </a:extLst>
                </a:gridCol>
                <a:gridCol w="183764">
                  <a:extLst>
                    <a:ext uri="{9D8B030D-6E8A-4147-A177-3AD203B41FA5}">
                      <a16:colId xmlns:a16="http://schemas.microsoft.com/office/drawing/2014/main" val="1263705238"/>
                    </a:ext>
                  </a:extLst>
                </a:gridCol>
                <a:gridCol w="1470107">
                  <a:extLst>
                    <a:ext uri="{9D8B030D-6E8A-4147-A177-3AD203B41FA5}">
                      <a16:colId xmlns:a16="http://schemas.microsoft.com/office/drawing/2014/main" val="3542588672"/>
                    </a:ext>
                  </a:extLst>
                </a:gridCol>
                <a:gridCol w="7525108">
                  <a:extLst>
                    <a:ext uri="{9D8B030D-6E8A-4147-A177-3AD203B41FA5}">
                      <a16:colId xmlns:a16="http://schemas.microsoft.com/office/drawing/2014/main" val="1397853082"/>
                    </a:ext>
                  </a:extLst>
                </a:gridCol>
              </a:tblGrid>
              <a:tr h="739624">
                <a:tc>
                  <a:txBody>
                    <a:bodyPr/>
                    <a:lstStyle/>
                    <a:p>
                      <a:pPr algn="r" fontAlgn="b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47</a:t>
                      </a:r>
                    </a:p>
                  </a:txBody>
                  <a:tcPr marL="6532" marR="6532" marT="6532" marB="39195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532" marR="6532" marT="6532" marB="39195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Criar Parque de Máquinas</a:t>
                      </a:r>
                    </a:p>
                  </a:txBody>
                  <a:tcPr marL="6532" marR="6532" marT="6532" marB="39195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Depois de importado o ficheiro com sucesso, os campos não são todos preenchidos conforme </a:t>
                      </a:r>
                      <a:r>
                        <a:rPr lang="pt-P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info</a:t>
                      </a:r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em </a:t>
                      </a:r>
                      <a:r>
                        <a:rPr lang="pt-P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excel</a:t>
                      </a:r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6532" marR="6532" marT="6532" marB="39195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158996"/>
                  </a:ext>
                </a:extLst>
              </a:tr>
            </a:tbl>
          </a:graphicData>
        </a:graphic>
      </p:graphicFrame>
      <p:sp>
        <p:nvSpPr>
          <p:cNvPr id="7" name="CaixaDeTexto 6"/>
          <p:cNvSpPr txBox="1"/>
          <p:nvPr/>
        </p:nvSpPr>
        <p:spPr>
          <a:xfrm>
            <a:off x="1127448" y="4509120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pt-PT" sz="1200" dirty="0">
                <a:solidFill>
                  <a:schemeClr val="bg2"/>
                </a:solidFill>
              </a:rPr>
              <a:t>Após reunião dia 30 de setembro ficou definido que estes são os </a:t>
            </a:r>
            <a:r>
              <a:rPr lang="pt-PT" sz="1200" dirty="0" err="1">
                <a:solidFill>
                  <a:schemeClr val="bg2"/>
                </a:solidFill>
              </a:rPr>
              <a:t>changes</a:t>
            </a:r>
            <a:r>
              <a:rPr lang="pt-PT" sz="1200" dirty="0">
                <a:solidFill>
                  <a:schemeClr val="bg2"/>
                </a:solidFill>
              </a:rPr>
              <a:t> </a:t>
            </a:r>
            <a:r>
              <a:rPr lang="pt-PT" sz="1200" dirty="0" err="1">
                <a:solidFill>
                  <a:schemeClr val="bg2"/>
                </a:solidFill>
              </a:rPr>
              <a:t>requests</a:t>
            </a:r>
            <a:r>
              <a:rPr lang="pt-PT" sz="1200" dirty="0">
                <a:solidFill>
                  <a:schemeClr val="bg2"/>
                </a:solidFill>
              </a:rPr>
              <a:t> impeditivos para a boa utilização da </a:t>
            </a:r>
            <a:r>
              <a:rPr lang="pt-PT" sz="1200" dirty="0" err="1">
                <a:solidFill>
                  <a:schemeClr val="bg2"/>
                </a:solidFill>
              </a:rPr>
              <a:t>app</a:t>
            </a:r>
            <a:r>
              <a:rPr lang="pt-PT" sz="1200" dirty="0">
                <a:solidFill>
                  <a:schemeClr val="bg2"/>
                </a:solidFill>
              </a:rPr>
              <a:t>.</a:t>
            </a:r>
          </a:p>
          <a:p>
            <a:r>
              <a:rPr lang="pt-PT" sz="1200" dirty="0">
                <a:solidFill>
                  <a:schemeClr val="bg2"/>
                </a:solidFill>
              </a:rPr>
              <a:t>Equipa de projeto aguarda a definição dos requisitos e fluxos funcionais para dar seguimento.</a:t>
            </a:r>
          </a:p>
        </p:txBody>
      </p:sp>
    </p:spTree>
    <p:extLst>
      <p:ext uri="{BB962C8B-B14F-4D97-AF65-F5344CB8AC3E}">
        <p14:creationId xmlns:p14="http://schemas.microsoft.com/office/powerpoint/2010/main" val="2024496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3098014"/>
      </p:ext>
    </p:extLst>
  </p:cSld>
  <p:clrMapOvr>
    <a:masterClrMapping/>
  </p:clrMapOvr>
</p:sld>
</file>

<file path=ppt/theme/theme1.xml><?xml version="1.0" encoding="utf-8"?>
<a:theme xmlns:a="http://schemas.openxmlformats.org/drawingml/2006/main" name="INDRA THEME">
  <a:themeElements>
    <a:clrScheme name="MINSAIT COLORS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INDRA Fonts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80000" tIns="180000" rIns="180000" bIns="180000" rtlCol="0" anchor="t" anchorCtr="0"/>
      <a:lstStyle>
        <a:defPPr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ción2" id="{60C33BEA-310F-6849-ADE9-80BA4A8B6D1D}" vid="{0502B0EF-D9EA-3A48-862B-4DB8A07E82CF}"/>
    </a:ext>
  </a:extLst>
</a:theme>
</file>

<file path=ppt/theme/theme2.xml><?xml version="1.0" encoding="utf-8"?>
<a:theme xmlns:a="http://schemas.openxmlformats.org/drawingml/2006/main" name="1_INDRA THEME">
  <a:themeElements>
    <a:clrScheme name="MINSAIT COLORS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INDRA Fonts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80000" tIns="180000" rIns="180000" bIns="180000" rtlCol="0" anchor="t" anchorCtr="0"/>
      <a:lstStyle>
        <a:defPPr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ción2" id="{60C33BEA-310F-6849-ADE9-80BA4A8B6D1D}" vid="{0502B0EF-D9EA-3A48-862B-4DB8A07E82CF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MINSAIT COLORS">
    <a:dk1>
      <a:srgbClr val="4F062A"/>
    </a:dk1>
    <a:lt1>
      <a:srgbClr val="FFFFFF"/>
    </a:lt1>
    <a:dk2>
      <a:srgbClr val="260717"/>
    </a:dk2>
    <a:lt2>
      <a:srgbClr val="E3E2DA"/>
    </a:lt2>
    <a:accent1>
      <a:srgbClr val="FF0054"/>
    </a:accent1>
    <a:accent2>
      <a:srgbClr val="44B757"/>
    </a:accent2>
    <a:accent3>
      <a:srgbClr val="8661F5"/>
    </a:accent3>
    <a:accent4>
      <a:srgbClr val="E56813"/>
    </a:accent4>
    <a:accent5>
      <a:srgbClr val="00B0BD"/>
    </a:accent5>
    <a:accent6>
      <a:srgbClr val="EF659D"/>
    </a:accent6>
    <a:hlink>
      <a:srgbClr val="FF0054"/>
    </a:hlink>
    <a:folHlink>
      <a:srgbClr val="A4003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4EAE4E67F3794DAF5310EDA3062222" ma:contentTypeVersion="13" ma:contentTypeDescription="Create a new document." ma:contentTypeScope="" ma:versionID="cb59d8044fa94695e4026c2b643e98b8">
  <xsd:schema xmlns:xsd="http://www.w3.org/2001/XMLSchema" xmlns:xs="http://www.w3.org/2001/XMLSchema" xmlns:p="http://schemas.microsoft.com/office/2006/metadata/properties" xmlns:ns1="http://schemas.microsoft.com/sharepoint/v3" xmlns:ns3="5d013488-e40c-4bca-921d-6828255d4860" targetNamespace="http://schemas.microsoft.com/office/2006/metadata/properties" ma:root="true" ma:fieldsID="cb8450d42b56e8368d6beedd4f1b511c" ns1:_="" ns3:_="">
    <xsd:import namespace="http://schemas.microsoft.com/sharepoint/v3"/>
    <xsd:import namespace="5d013488-e40c-4bca-921d-6828255d486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1:_ip_UnifiedCompliancePolicyProperties" minOccurs="0"/>
                <xsd:element ref="ns1:_ip_UnifiedCompliancePolicyUIAc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013488-e40c-4bca-921d-6828255d486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activity xmlns="5d013488-e40c-4bca-921d-6828255d4860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CECCD453-B85B-47DA-8503-BE4A219847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B76C4C-E792-4801-8711-760272F722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d013488-e40c-4bca-921d-6828255d48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0896D43-4AD1-43D5-9F36-DC58FAB50930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5d013488-e40c-4bca-921d-6828255d4860"/>
    <ds:schemaRef ds:uri="http://purl.org/dc/dcmitype/"/>
    <ds:schemaRef ds:uri="http://www.w3.org/XML/1998/namespace"/>
    <ds:schemaRef ds:uri="http://schemas.microsoft.com/sharepoint/v3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docMetadata/LabelInfo.xml><?xml version="1.0" encoding="utf-8"?>
<clbl:labelList xmlns:clbl="http://schemas.microsoft.com/office/2020/mipLabelMetadata">
  <clbl:label id="{7808e005-1489-4374-954b-d3b08f193920}" enabled="0" method="" siteId="{7808e005-1489-4374-954b-d3b08f19392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PPT_MINSAIT_v2_16122024</Template>
  <TotalTime>23088</TotalTime>
  <Words>2019</Words>
  <Application>Microsoft Office PowerPoint</Application>
  <PresentationFormat>Ecrã Panorâmico</PresentationFormat>
  <Paragraphs>348</Paragraphs>
  <Slides>17</Slides>
  <Notes>3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dos diapositivos</vt:lpstr>
      </vt:variant>
      <vt:variant>
        <vt:i4>17</vt:i4>
      </vt:variant>
    </vt:vector>
  </HeadingPairs>
  <TitlesOfParts>
    <vt:vector size="29" baseType="lpstr">
      <vt:lpstr>Arial</vt:lpstr>
      <vt:lpstr>Bankinter Sans</vt:lpstr>
      <vt:lpstr>Bankinter Text</vt:lpstr>
      <vt:lpstr>Calibri</vt:lpstr>
      <vt:lpstr>ForFuture Sans</vt:lpstr>
      <vt:lpstr>ForFuture Sans (Body)</vt:lpstr>
      <vt:lpstr>Knockout HTF26-JuniorFlyweight</vt:lpstr>
      <vt:lpstr>Soho Gothic Pro Light</vt:lpstr>
      <vt:lpstr>Trebuchet MS</vt:lpstr>
      <vt:lpstr>Wingdings</vt:lpstr>
      <vt:lpstr>INDRA THEME</vt:lpstr>
      <vt:lpstr>1_INDRA THEME</vt:lpstr>
      <vt:lpstr>Seguimento de Projeto ATM   Management Modernization</vt:lpstr>
      <vt:lpstr>Santander / ATM -  Management Modernization</vt:lpstr>
      <vt:lpstr>Santander / ATM -  Management Modernization</vt:lpstr>
      <vt:lpstr>Santander / ATM -  Management Modernization</vt:lpstr>
      <vt:lpstr>Santander / ATM -  Management Modernization</vt:lpstr>
      <vt:lpstr>Santander / ATM -  Management Modernization</vt:lpstr>
      <vt:lpstr>Santander / ATM -  Management Modernization</vt:lpstr>
      <vt:lpstr>Santander / ATM -  Management Modernization</vt:lpstr>
      <vt:lpstr>Santander / ATM -  Management Modernization</vt:lpstr>
      <vt:lpstr>Santander / ATM -  Management Modernization</vt:lpstr>
      <vt:lpstr>Santander / ATM -  Management Modernization</vt:lpstr>
      <vt:lpstr>Santander / ATM -  Management Modernization</vt:lpstr>
      <vt:lpstr>Santander / ATM -  Management Modernization</vt:lpstr>
      <vt:lpstr>Apresentação do PowerPoint</vt:lpstr>
      <vt:lpstr>Santander / ATM -  Management Modernization</vt:lpstr>
      <vt:lpstr>Santander / ATM -  Management Modernization</vt:lpstr>
      <vt:lpstr>Apresentação do PowerPoint</vt:lpstr>
    </vt:vector>
  </TitlesOfParts>
  <Manager/>
  <Company>Indra Sistemas 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 V.02</dc:title>
  <dc:creator>López Escuredo, Noa</dc:creator>
  <cp:lastModifiedBy>Tatiana Cabreira de Severo Pasquini</cp:lastModifiedBy>
  <cp:revision>577</cp:revision>
  <dcterms:created xsi:type="dcterms:W3CDTF">2025-02-19T09:04:06Z</dcterms:created>
  <dcterms:modified xsi:type="dcterms:W3CDTF">2025-10-22T14:19:42Z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b88ec2-a72b-4523-9e84-0458a1764731_Enabled">
    <vt:lpwstr>true</vt:lpwstr>
  </property>
  <property fmtid="{D5CDD505-2E9C-101B-9397-08002B2CF9AE}" pid="3" name="MSIP_Label_41b88ec2-a72b-4523-9e84-0458a1764731_SetDate">
    <vt:lpwstr>2025-10-01T16:04:05Z</vt:lpwstr>
  </property>
  <property fmtid="{D5CDD505-2E9C-101B-9397-08002B2CF9AE}" pid="4" name="MSIP_Label_41b88ec2-a72b-4523-9e84-0458a1764731_Method">
    <vt:lpwstr>Privileged</vt:lpwstr>
  </property>
  <property fmtid="{D5CDD505-2E9C-101B-9397-08002B2CF9AE}" pid="5" name="MSIP_Label_41b88ec2-a72b-4523-9e84-0458a1764731_Name">
    <vt:lpwstr>Public O365</vt:lpwstr>
  </property>
  <property fmtid="{D5CDD505-2E9C-101B-9397-08002B2CF9AE}" pid="6" name="MSIP_Label_41b88ec2-a72b-4523-9e84-0458a1764731_SiteId">
    <vt:lpwstr>35595a02-4d6d-44ac-99e1-f9ab4cd872db</vt:lpwstr>
  </property>
  <property fmtid="{D5CDD505-2E9C-101B-9397-08002B2CF9AE}" pid="7" name="MSIP_Label_41b88ec2-a72b-4523-9e84-0458a1764731_ActionId">
    <vt:lpwstr>e9fee6d8-09c7-4ac7-a062-c8fcae3b1fc5</vt:lpwstr>
  </property>
  <property fmtid="{D5CDD505-2E9C-101B-9397-08002B2CF9AE}" pid="8" name="MSIP_Label_41b88ec2-a72b-4523-9e84-0458a1764731_ContentBits">
    <vt:lpwstr>0</vt:lpwstr>
  </property>
  <property fmtid="{D5CDD505-2E9C-101B-9397-08002B2CF9AE}" pid="9" name="ContentTypeId">
    <vt:lpwstr>0x010100F44EAE4E67F3794DAF5310EDA3062222</vt:lpwstr>
  </property>
</Properties>
</file>