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56" r:id="rId5"/>
    <p:sldId id="398" r:id="rId6"/>
    <p:sldId id="399" r:id="rId7"/>
    <p:sldId id="400" r:id="rId8"/>
    <p:sldId id="358" r:id="rId9"/>
    <p:sldId id="401" r:id="rId10"/>
    <p:sldId id="458" r:id="rId11"/>
    <p:sldId id="403" r:id="rId12"/>
    <p:sldId id="459" r:id="rId13"/>
    <p:sldId id="413" r:id="rId14"/>
    <p:sldId id="442" r:id="rId15"/>
    <p:sldId id="415" r:id="rId16"/>
    <p:sldId id="450" r:id="rId17"/>
    <p:sldId id="465" r:id="rId18"/>
    <p:sldId id="464" r:id="rId19"/>
    <p:sldId id="354" r:id="rId20"/>
    <p:sldId id="443" r:id="rId21"/>
    <p:sldId id="444" r:id="rId22"/>
    <p:sldId id="421" r:id="rId23"/>
    <p:sldId id="460" r:id="rId24"/>
    <p:sldId id="461" r:id="rId25"/>
    <p:sldId id="462" r:id="rId26"/>
    <p:sldId id="463" r:id="rId27"/>
    <p:sldId id="424" r:id="rId28"/>
    <p:sldId id="425" r:id="rId29"/>
    <p:sldId id="265" r:id="rId30"/>
  </p:sldIdLst>
  <p:sldSz cx="12192000" cy="6858000"/>
  <p:notesSz cx="7315200" cy="96012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5050"/>
    <a:srgbClr val="3C3C3B"/>
    <a:srgbClr val="DEEDF2"/>
    <a:srgbClr val="36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FCA875-4AD7-4D4A-9555-1CA0F89FF794}" v="26" dt="2025-07-24T08:59:53.8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22" autoAdjust="0"/>
    <p:restoredTop sz="94660" autoAdjust="0"/>
  </p:normalViewPr>
  <p:slideViewPr>
    <p:cSldViewPr snapToGrid="0" showGuides="1">
      <p:cViewPr varScale="1">
        <p:scale>
          <a:sx n="79" d="100"/>
          <a:sy n="79" d="100"/>
        </p:scale>
        <p:origin x="586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323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Manuel Bonomi Garay" userId="e5976aaf-238b-4683-a5fb-410162c2aff9" providerId="ADAL" clId="{BFFCA875-4AD7-4D4A-9555-1CA0F89FF794}"/>
    <pc:docChg chg="undo custSel addSld modSld">
      <pc:chgData name="Juan Manuel Bonomi Garay" userId="e5976aaf-238b-4683-a5fb-410162c2aff9" providerId="ADAL" clId="{BFFCA875-4AD7-4D4A-9555-1CA0F89FF794}" dt="2025-07-24T08:59:56.365" v="263" actId="1076"/>
      <pc:docMkLst>
        <pc:docMk/>
      </pc:docMkLst>
      <pc:sldChg chg="addSp modSp add mod">
        <pc:chgData name="Juan Manuel Bonomi Garay" userId="e5976aaf-238b-4683-a5fb-410162c2aff9" providerId="ADAL" clId="{BFFCA875-4AD7-4D4A-9555-1CA0F89FF794}" dt="2025-07-24T08:57:52.670" v="199" actId="1076"/>
        <pc:sldMkLst>
          <pc:docMk/>
          <pc:sldMk cId="255403769" sldId="354"/>
        </pc:sldMkLst>
        <pc:spChg chg="add mod">
          <ac:chgData name="Juan Manuel Bonomi Garay" userId="e5976aaf-238b-4683-a5fb-410162c2aff9" providerId="ADAL" clId="{BFFCA875-4AD7-4D4A-9555-1CA0F89FF794}" dt="2025-07-24T08:57:52.670" v="199" actId="1076"/>
          <ac:spMkLst>
            <pc:docMk/>
            <pc:sldMk cId="255403769" sldId="354"/>
            <ac:spMk id="2" creationId="{F0C9FB2B-6C71-244B-E34E-393C9F0DC44C}"/>
          </ac:spMkLst>
        </pc:spChg>
        <pc:spChg chg="mod">
          <ac:chgData name="Juan Manuel Bonomi Garay" userId="e5976aaf-238b-4683-a5fb-410162c2aff9" providerId="ADAL" clId="{BFFCA875-4AD7-4D4A-9555-1CA0F89FF794}" dt="2025-07-24T08:47:27.546" v="22" actId="20577"/>
          <ac:spMkLst>
            <pc:docMk/>
            <pc:sldMk cId="255403769" sldId="354"/>
            <ac:spMk id="10" creationId="{C5A6910C-A85B-4E78-920A-D86C8E059C1C}"/>
          </ac:spMkLst>
        </pc:spChg>
        <pc:spChg chg="mod">
          <ac:chgData name="Juan Manuel Bonomi Garay" userId="e5976aaf-238b-4683-a5fb-410162c2aff9" providerId="ADAL" clId="{BFFCA875-4AD7-4D4A-9555-1CA0F89FF794}" dt="2025-07-24T08:52:56.653" v="176" actId="1076"/>
          <ac:spMkLst>
            <pc:docMk/>
            <pc:sldMk cId="255403769" sldId="354"/>
            <ac:spMk id="11" creationId="{00000000-0000-0000-0000-000000000000}"/>
          </ac:spMkLst>
        </pc:spChg>
        <pc:graphicFrameChg chg="mod modGraphic">
          <ac:chgData name="Juan Manuel Bonomi Garay" userId="e5976aaf-238b-4683-a5fb-410162c2aff9" providerId="ADAL" clId="{BFFCA875-4AD7-4D4A-9555-1CA0F89FF794}" dt="2025-07-24T08:57:08.603" v="195" actId="313"/>
          <ac:graphicFrameMkLst>
            <pc:docMk/>
            <pc:sldMk cId="255403769" sldId="354"/>
            <ac:graphicFrameMk id="6" creationId="{00000000-0000-0000-0000-000000000000}"/>
          </ac:graphicFrameMkLst>
        </pc:graphicFrameChg>
        <pc:graphicFrameChg chg="mod modGraphic">
          <ac:chgData name="Juan Manuel Bonomi Garay" userId="e5976aaf-238b-4683-a5fb-410162c2aff9" providerId="ADAL" clId="{BFFCA875-4AD7-4D4A-9555-1CA0F89FF794}" dt="2025-07-24T08:57:09.374" v="196" actId="20577"/>
          <ac:graphicFrameMkLst>
            <pc:docMk/>
            <pc:sldMk cId="255403769" sldId="354"/>
            <ac:graphicFrameMk id="12" creationId="{00000000-0000-0000-0000-000000000000}"/>
          </ac:graphicFrameMkLst>
        </pc:graphicFrameChg>
      </pc:sldChg>
      <pc:sldChg chg="addSp modSp mod">
        <pc:chgData name="Juan Manuel Bonomi Garay" userId="e5976aaf-238b-4683-a5fb-410162c2aff9" providerId="ADAL" clId="{BFFCA875-4AD7-4D4A-9555-1CA0F89FF794}" dt="2025-07-24T08:59:48.638" v="261"/>
        <pc:sldMkLst>
          <pc:docMk/>
          <pc:sldMk cId="2517803519" sldId="398"/>
        </pc:sldMkLst>
        <pc:spChg chg="add mod">
          <ac:chgData name="Juan Manuel Bonomi Garay" userId="e5976aaf-238b-4683-a5fb-410162c2aff9" providerId="ADAL" clId="{BFFCA875-4AD7-4D4A-9555-1CA0F89FF794}" dt="2025-07-24T08:59:48.638" v="261"/>
          <ac:spMkLst>
            <pc:docMk/>
            <pc:sldMk cId="2517803519" sldId="398"/>
            <ac:spMk id="3" creationId="{F6528E50-86BF-4D46-B266-0DD8EC2C9238}"/>
          </ac:spMkLst>
        </pc:spChg>
        <pc:graphicFrameChg chg="mod modGraphic">
          <ac:chgData name="Juan Manuel Bonomi Garay" userId="e5976aaf-238b-4683-a5fb-410162c2aff9" providerId="ADAL" clId="{BFFCA875-4AD7-4D4A-9555-1CA0F89FF794}" dt="2025-07-24T08:58:53.553" v="254" actId="207"/>
          <ac:graphicFrameMkLst>
            <pc:docMk/>
            <pc:sldMk cId="2517803519" sldId="398"/>
            <ac:graphicFrameMk id="10" creationId="{00000000-0000-0000-0000-000000000000}"/>
          </ac:graphicFrameMkLst>
        </pc:graphicFrameChg>
      </pc:sldChg>
      <pc:sldChg chg="addSp delSp modSp mod">
        <pc:chgData name="Juan Manuel Bonomi Garay" userId="e5976aaf-238b-4683-a5fb-410162c2aff9" providerId="ADAL" clId="{BFFCA875-4AD7-4D4A-9555-1CA0F89FF794}" dt="2025-07-24T08:59:56.365" v="263" actId="1076"/>
        <pc:sldMkLst>
          <pc:docMk/>
          <pc:sldMk cId="1363848642" sldId="459"/>
        </pc:sldMkLst>
        <pc:spChg chg="mod">
          <ac:chgData name="Juan Manuel Bonomi Garay" userId="e5976aaf-238b-4683-a5fb-410162c2aff9" providerId="ADAL" clId="{BFFCA875-4AD7-4D4A-9555-1CA0F89FF794}" dt="2025-07-24T08:59:20.746" v="256" actId="208"/>
          <ac:spMkLst>
            <pc:docMk/>
            <pc:sldMk cId="1363848642" sldId="459"/>
            <ac:spMk id="2" creationId="{CAE234B8-5C5B-4A27-C38C-3DE00CE0D7EF}"/>
          </ac:spMkLst>
        </pc:spChg>
        <pc:spChg chg="add del mod">
          <ac:chgData name="Juan Manuel Bonomi Garay" userId="e5976aaf-238b-4683-a5fb-410162c2aff9" providerId="ADAL" clId="{BFFCA875-4AD7-4D4A-9555-1CA0F89FF794}" dt="2025-07-24T08:59:43.293" v="260"/>
          <ac:spMkLst>
            <pc:docMk/>
            <pc:sldMk cId="1363848642" sldId="459"/>
            <ac:spMk id="9" creationId="{EF2D0F3D-3604-42C7-3748-E40855EDD975}"/>
          </ac:spMkLst>
        </pc:spChg>
        <pc:spChg chg="add mod">
          <ac:chgData name="Juan Manuel Bonomi Garay" userId="e5976aaf-238b-4683-a5fb-410162c2aff9" providerId="ADAL" clId="{BFFCA875-4AD7-4D4A-9555-1CA0F89FF794}" dt="2025-07-24T08:59:56.365" v="263" actId="1076"/>
          <ac:spMkLst>
            <pc:docMk/>
            <pc:sldMk cId="1363848642" sldId="459"/>
            <ac:spMk id="10" creationId="{5903674B-CDD7-4A25-00B3-8B23BFDD2840}"/>
          </ac:spMkLst>
        </pc:spChg>
        <pc:spChg chg="mod">
          <ac:chgData name="Juan Manuel Bonomi Garay" userId="e5976aaf-238b-4683-a5fb-410162c2aff9" providerId="ADAL" clId="{BFFCA875-4AD7-4D4A-9555-1CA0F89FF794}" dt="2025-07-24T08:59:13.399" v="255" actId="208"/>
          <ac:spMkLst>
            <pc:docMk/>
            <pc:sldMk cId="1363848642" sldId="459"/>
            <ac:spMk id="16" creationId="{27C890A9-4EDA-ADFE-3262-776956976AC2}"/>
          </ac:spMkLst>
        </pc:spChg>
        <pc:spChg chg="del">
          <ac:chgData name="Juan Manuel Bonomi Garay" userId="e5976aaf-238b-4683-a5fb-410162c2aff9" providerId="ADAL" clId="{BFFCA875-4AD7-4D4A-9555-1CA0F89FF794}" dt="2025-07-24T08:56:02.993" v="180" actId="21"/>
          <ac:spMkLst>
            <pc:docMk/>
            <pc:sldMk cId="1363848642" sldId="459"/>
            <ac:spMk id="36" creationId="{CB6C0B42-11C9-05A9-B859-B25A87CD3508}"/>
          </ac:spMkLst>
        </pc:spChg>
        <pc:cxnChg chg="mod">
          <ac:chgData name="Juan Manuel Bonomi Garay" userId="e5976aaf-238b-4683-a5fb-410162c2aff9" providerId="ADAL" clId="{BFFCA875-4AD7-4D4A-9555-1CA0F89FF794}" dt="2025-07-24T08:59:13.399" v="255" actId="208"/>
          <ac:cxnSpMkLst>
            <pc:docMk/>
            <pc:sldMk cId="1363848642" sldId="459"/>
            <ac:cxnSpMk id="6" creationId="{7D3AB83A-B3E8-51A8-947A-67639BF396B4}"/>
          </ac:cxnSpMkLst>
        </pc:cxnChg>
        <pc:cxnChg chg="mod">
          <ac:chgData name="Juan Manuel Bonomi Garay" userId="e5976aaf-238b-4683-a5fb-410162c2aff9" providerId="ADAL" clId="{BFFCA875-4AD7-4D4A-9555-1CA0F89FF794}" dt="2025-07-24T08:59:13.399" v="255" actId="208"/>
          <ac:cxnSpMkLst>
            <pc:docMk/>
            <pc:sldMk cId="1363848642" sldId="459"/>
            <ac:cxnSpMk id="20" creationId="{5AD54427-00E4-E658-5208-190F56846FAB}"/>
          </ac:cxnSpMkLst>
        </pc:cxn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30/07/2025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5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5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30/07/2025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CDF888-48CE-4280-907F-0B5C72C7F9B3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9706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CDF888-48CE-4280-907F-0B5C72C7F9B3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3881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5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título do Modelo Global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 dirty="0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12269"/>
            <a:ext cx="18498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dirty="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00239"/>
            <a:ext cx="10635843" cy="4906665"/>
          </a:xfrm>
        </p:spPr>
        <p:txBody>
          <a:bodyPr>
            <a:normAutofit/>
          </a:bodyPr>
          <a:lstStyle>
            <a:lvl1pPr marL="432000" indent="-39600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PT" dirty="0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 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12269"/>
            <a:ext cx="18498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dirty="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832642" y="1104900"/>
            <a:ext cx="10648158" cy="1179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SzPct val="45000"/>
              <a:buFont typeface="Wingdings" panose="05000000000000000000" pitchFamily="2" charset="2"/>
              <a:buChar char="§"/>
            </a:pPr>
            <a:r>
              <a:rPr lang="pt-PT" sz="2000" b="0" dirty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cs typeface="Arial" pitchFamily="34" charset="0"/>
              </a:rPr>
              <a:t>Necessidades e proposta de solução</a:t>
            </a:r>
          </a:p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SzPct val="45000"/>
              <a:buFont typeface="Wingdings" panose="05000000000000000000" pitchFamily="2" charset="2"/>
              <a:buChar char="§"/>
            </a:pPr>
            <a:r>
              <a:rPr lang="pt-PT" sz="2000" b="0" dirty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cs typeface="Arial" pitchFamily="34" charset="0"/>
              </a:rPr>
              <a:t>Solução</a:t>
            </a:r>
            <a:r>
              <a:rPr lang="pt-PT" sz="2000" b="0" baseline="0" dirty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cs typeface="Arial" pitchFamily="34" charset="0"/>
              </a:rPr>
              <a:t> </a:t>
            </a:r>
            <a:r>
              <a:rPr lang="pt-PT" sz="2000" b="0" dirty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cs typeface="Arial" pitchFamily="34" charset="0"/>
              </a:rPr>
              <a:t>técnica</a:t>
            </a:r>
          </a:p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SzPct val="45000"/>
              <a:buFont typeface="Wingdings" panose="05000000000000000000" pitchFamily="2" charset="2"/>
              <a:buChar char="§"/>
            </a:pPr>
            <a:r>
              <a:rPr lang="pt-PT" sz="2000" b="0" dirty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cs typeface="Arial" pitchFamily="34" charset="0"/>
              </a:rPr>
              <a:t>Considerações</a:t>
            </a:r>
            <a:r>
              <a:rPr lang="pt-PT" sz="2000" b="0" baseline="0" dirty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cs typeface="Arial" pitchFamily="34" charset="0"/>
              </a:rPr>
              <a:t> e r</a:t>
            </a:r>
            <a:r>
              <a:rPr lang="pt-PT" sz="2000" b="0" dirty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cs typeface="Arial" pitchFamily="34" charset="0"/>
              </a:rPr>
              <a:t>eferências</a:t>
            </a:r>
          </a:p>
        </p:txBody>
      </p:sp>
    </p:spTree>
    <p:extLst>
      <p:ext uri="{BB962C8B-B14F-4D97-AF65-F5344CB8AC3E}">
        <p14:creationId xmlns:p14="http://schemas.microsoft.com/office/powerpoint/2010/main" val="306002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9" y="626373"/>
            <a:ext cx="4386194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o estilo de título do Modelo </a:t>
            </a:r>
            <a:br>
              <a:rPr lang="pt-PT" dirty="0"/>
            </a:br>
            <a:r>
              <a:rPr lang="pt-PT" dirty="0"/>
              <a:t>Global</a:t>
            </a:r>
            <a:endParaRPr lang="es-ES" dirty="0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0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5297557" cy="1606047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 do Modelo Global</a:t>
            </a:r>
            <a:endParaRPr lang="es-ES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2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 do Modelo Global</a:t>
            </a:r>
            <a:endParaRPr lang="es-ES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093562"/>
            <a:ext cx="10758733" cy="3083401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0" y="1109759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 dirty="0"/>
              <a:t>Editar os estilos </a:t>
            </a:r>
            <a:br>
              <a:rPr lang="pt-PT" dirty="0"/>
            </a:br>
            <a:r>
              <a:rPr lang="pt-PT" dirty="0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2" y="1126274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8"/>
            <a:ext cx="3911401" cy="118313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</a:t>
            </a:r>
            <a:endParaRPr lang="es-ES" dirty="0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2517170"/>
            <a:ext cx="3911401" cy="365979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5" y="1087438"/>
            <a:ext cx="6683550" cy="5122862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dirty="0" err="1"/>
              <a:t>Insira</a:t>
            </a:r>
            <a:r>
              <a:rPr lang="es-MX" dirty="0"/>
              <a:t> </a:t>
            </a:r>
            <a:r>
              <a:rPr lang="es-MX" dirty="0" err="1"/>
              <a:t>aqui</a:t>
            </a:r>
            <a:r>
              <a:rPr lang="es-MX" dirty="0"/>
              <a:t> </a:t>
            </a:r>
            <a:r>
              <a:rPr lang="es-MX" dirty="0" err="1"/>
              <a:t>seu</a:t>
            </a:r>
            <a:r>
              <a:rPr lang="es-MX" dirty="0"/>
              <a:t> gráfico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498516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07776"/>
            <a:ext cx="6612965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dirty="0" err="1"/>
              <a:t>Insira</a:t>
            </a:r>
            <a:r>
              <a:rPr lang="es-ES" dirty="0"/>
              <a:t> </a:t>
            </a:r>
            <a:r>
              <a:rPr lang="es-ES" dirty="0" err="1"/>
              <a:t>aqui</a:t>
            </a:r>
            <a:r>
              <a:rPr lang="es-ES" dirty="0"/>
              <a:t> </a:t>
            </a:r>
            <a:r>
              <a:rPr lang="es-ES" dirty="0" err="1"/>
              <a:t>sua</a:t>
            </a:r>
            <a:r>
              <a:rPr lang="es-ES" dirty="0"/>
              <a:t> </a:t>
            </a:r>
            <a:r>
              <a:rPr lang="es-ES" dirty="0" err="1"/>
              <a:t>tabela</a:t>
            </a:r>
            <a:endParaRPr lang="es-ES" dirty="0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191802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2" y="1191802"/>
            <a:ext cx="6456737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1993900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 dirty="0" err="1"/>
              <a:t>Insira</a:t>
            </a:r>
            <a:r>
              <a:rPr lang="es-ES" dirty="0"/>
              <a:t> </a:t>
            </a:r>
            <a:r>
              <a:rPr lang="es-ES" dirty="0" err="1"/>
              <a:t>aqui</a:t>
            </a:r>
            <a:r>
              <a:rPr lang="es-ES" dirty="0"/>
              <a:t> </a:t>
            </a:r>
            <a:r>
              <a:rPr lang="es-ES" dirty="0" err="1"/>
              <a:t>seu</a:t>
            </a:r>
            <a:r>
              <a:rPr lang="es-ES" dirty="0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3" y="1993900"/>
            <a:ext cx="6472718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 dirty="0" err="1"/>
              <a:t>Insira</a:t>
            </a:r>
            <a:r>
              <a:rPr lang="es-ES" dirty="0"/>
              <a:t> </a:t>
            </a:r>
            <a:r>
              <a:rPr lang="es-ES" dirty="0" err="1"/>
              <a:t>aqui</a:t>
            </a:r>
            <a:r>
              <a:rPr lang="es-ES" dirty="0"/>
              <a:t> </a:t>
            </a:r>
            <a:r>
              <a:rPr lang="es-ES" dirty="0" err="1"/>
              <a:t>seu</a:t>
            </a:r>
            <a:r>
              <a:rPr lang="es-ES" dirty="0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395" y="3685061"/>
            <a:ext cx="187151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1945649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noProof="0" dirty="0">
                <a:solidFill>
                  <a:schemeClr val="tx2"/>
                </a:solidFill>
              </a:rPr>
              <a:t>Nosso propósito é contribuir para que as pessoas e as empresas prosperem.</a:t>
            </a:r>
          </a:p>
          <a:p>
            <a:endParaRPr lang="pt-PT" sz="1400" noProof="0" dirty="0">
              <a:solidFill>
                <a:schemeClr val="tx2"/>
              </a:solidFill>
            </a:endParaRPr>
          </a:p>
          <a:p>
            <a:r>
              <a:rPr lang="pt-PT" sz="1400" noProof="0" dirty="0">
                <a:solidFill>
                  <a:schemeClr val="tx2"/>
                </a:solidFill>
              </a:rPr>
              <a:t>Nossa cultura se baseia na crença de que tudo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noProof="0" dirty="0">
                <a:solidFill>
                  <a:schemeClr val="accent1"/>
                </a:solidFill>
              </a:rPr>
              <a:t>Obrigada.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noProof="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708760D-8C00-4F57-B7EC-7A08C0C34F28}"/>
              </a:ext>
            </a:extLst>
          </p:cNvPr>
          <p:cNvSpPr txBox="1"/>
          <p:nvPr userDrawn="1"/>
        </p:nvSpPr>
        <p:spPr>
          <a:xfrm>
            <a:off x="821777" y="3469924"/>
            <a:ext cx="2598049" cy="248603"/>
          </a:xfrm>
          <a:custGeom>
            <a:avLst/>
            <a:gdLst/>
            <a:ahLst/>
            <a:cxnLst/>
            <a:rect l="l" t="t" r="r" b="b"/>
            <a:pathLst>
              <a:path w="2598049" h="248603">
                <a:moveTo>
                  <a:pt x="2526783" y="75686"/>
                </a:moveTo>
                <a:cubicBezTo>
                  <a:pt x="2512741" y="75859"/>
                  <a:pt x="2502360" y="80210"/>
                  <a:pt x="2495638" y="88738"/>
                </a:cubicBezTo>
                <a:cubicBezTo>
                  <a:pt x="2488917" y="97267"/>
                  <a:pt x="2485579" y="108937"/>
                  <a:pt x="2485625" y="123750"/>
                </a:cubicBezTo>
                <a:cubicBezTo>
                  <a:pt x="2485735" y="140663"/>
                  <a:pt x="2489383" y="153104"/>
                  <a:pt x="2496571" y="161075"/>
                </a:cubicBezTo>
                <a:cubicBezTo>
                  <a:pt x="2503758" y="169045"/>
                  <a:pt x="2513829" y="172993"/>
                  <a:pt x="2526783" y="172918"/>
                </a:cubicBezTo>
                <a:cubicBezTo>
                  <a:pt x="2540306" y="172762"/>
                  <a:pt x="2550411" y="168446"/>
                  <a:pt x="2557098" y="159970"/>
                </a:cubicBezTo>
                <a:cubicBezTo>
                  <a:pt x="2563785" y="151493"/>
                  <a:pt x="2567123" y="139788"/>
                  <a:pt x="2567112" y="124855"/>
                </a:cubicBezTo>
                <a:cubicBezTo>
                  <a:pt x="2566985" y="108062"/>
                  <a:pt x="2563371" y="95655"/>
                  <a:pt x="2556270" y="87633"/>
                </a:cubicBezTo>
                <a:cubicBezTo>
                  <a:pt x="2549168" y="79611"/>
                  <a:pt x="2539339" y="75629"/>
                  <a:pt x="2526783" y="75686"/>
                </a:cubicBezTo>
                <a:close/>
                <a:moveTo>
                  <a:pt x="1789633" y="75686"/>
                </a:moveTo>
                <a:cubicBezTo>
                  <a:pt x="1773935" y="75848"/>
                  <a:pt x="1762310" y="80359"/>
                  <a:pt x="1754760" y="89222"/>
                </a:cubicBezTo>
                <a:cubicBezTo>
                  <a:pt x="1747210" y="98084"/>
                  <a:pt x="1743458" y="110330"/>
                  <a:pt x="1743504" y="125959"/>
                </a:cubicBezTo>
                <a:cubicBezTo>
                  <a:pt x="1743412" y="140289"/>
                  <a:pt x="1746427" y="151821"/>
                  <a:pt x="1752550" y="160557"/>
                </a:cubicBezTo>
                <a:cubicBezTo>
                  <a:pt x="1758673" y="169292"/>
                  <a:pt x="1768456" y="173781"/>
                  <a:pt x="1781899" y="174023"/>
                </a:cubicBezTo>
                <a:cubicBezTo>
                  <a:pt x="1787826" y="173988"/>
                  <a:pt x="1793236" y="173090"/>
                  <a:pt x="1798127" y="171329"/>
                </a:cubicBezTo>
                <a:cubicBezTo>
                  <a:pt x="1803019" y="169568"/>
                  <a:pt x="1807461" y="167151"/>
                  <a:pt x="1811455" y="164078"/>
                </a:cubicBezTo>
                <a:lnTo>
                  <a:pt x="1811455" y="77344"/>
                </a:lnTo>
                <a:cubicBezTo>
                  <a:pt x="1808302" y="76791"/>
                  <a:pt x="1804941" y="76377"/>
                  <a:pt x="1801373" y="76101"/>
                </a:cubicBezTo>
                <a:cubicBezTo>
                  <a:pt x="1797805" y="75825"/>
                  <a:pt x="1793892" y="75686"/>
                  <a:pt x="1789633" y="75686"/>
                </a:cubicBezTo>
                <a:close/>
                <a:moveTo>
                  <a:pt x="1621908" y="75686"/>
                </a:moveTo>
                <a:cubicBezTo>
                  <a:pt x="1607866" y="75859"/>
                  <a:pt x="1597485" y="80210"/>
                  <a:pt x="1590763" y="88738"/>
                </a:cubicBezTo>
                <a:cubicBezTo>
                  <a:pt x="1584042" y="97267"/>
                  <a:pt x="1580704" y="108937"/>
                  <a:pt x="1580750" y="123750"/>
                </a:cubicBezTo>
                <a:cubicBezTo>
                  <a:pt x="1580859" y="140663"/>
                  <a:pt x="1584508" y="153104"/>
                  <a:pt x="1591696" y="161075"/>
                </a:cubicBezTo>
                <a:cubicBezTo>
                  <a:pt x="1598883" y="169045"/>
                  <a:pt x="1608954" y="172993"/>
                  <a:pt x="1621908" y="172918"/>
                </a:cubicBezTo>
                <a:cubicBezTo>
                  <a:pt x="1635431" y="172762"/>
                  <a:pt x="1645536" y="168446"/>
                  <a:pt x="1652223" y="159970"/>
                </a:cubicBezTo>
                <a:cubicBezTo>
                  <a:pt x="1658910" y="151493"/>
                  <a:pt x="1662248" y="139788"/>
                  <a:pt x="1662236" y="124855"/>
                </a:cubicBezTo>
                <a:cubicBezTo>
                  <a:pt x="1662110" y="108062"/>
                  <a:pt x="1658496" y="95655"/>
                  <a:pt x="1651395" y="87633"/>
                </a:cubicBezTo>
                <a:cubicBezTo>
                  <a:pt x="1644293" y="79611"/>
                  <a:pt x="1634464" y="75629"/>
                  <a:pt x="1621908" y="75686"/>
                </a:cubicBezTo>
                <a:close/>
                <a:moveTo>
                  <a:pt x="523075" y="75686"/>
                </a:moveTo>
                <a:cubicBezTo>
                  <a:pt x="519478" y="75698"/>
                  <a:pt x="515968" y="75882"/>
                  <a:pt x="512544" y="76239"/>
                </a:cubicBezTo>
                <a:cubicBezTo>
                  <a:pt x="509120" y="76596"/>
                  <a:pt x="505817" y="77056"/>
                  <a:pt x="502634" y="77620"/>
                </a:cubicBezTo>
                <a:lnTo>
                  <a:pt x="502634" y="169879"/>
                </a:lnTo>
                <a:cubicBezTo>
                  <a:pt x="510092" y="171859"/>
                  <a:pt x="517551" y="172872"/>
                  <a:pt x="525009" y="172918"/>
                </a:cubicBezTo>
                <a:cubicBezTo>
                  <a:pt x="540212" y="172877"/>
                  <a:pt x="551653" y="168746"/>
                  <a:pt x="559330" y="160522"/>
                </a:cubicBezTo>
                <a:cubicBezTo>
                  <a:pt x="567006" y="152299"/>
                  <a:pt x="570850" y="140225"/>
                  <a:pt x="570862" y="124302"/>
                </a:cubicBezTo>
                <a:cubicBezTo>
                  <a:pt x="571012" y="109346"/>
                  <a:pt x="567329" y="97549"/>
                  <a:pt x="559813" y="88911"/>
                </a:cubicBezTo>
                <a:cubicBezTo>
                  <a:pt x="552297" y="80273"/>
                  <a:pt x="540051" y="75865"/>
                  <a:pt x="523075" y="75686"/>
                </a:cubicBezTo>
                <a:close/>
                <a:moveTo>
                  <a:pt x="1225029" y="75134"/>
                </a:moveTo>
                <a:cubicBezTo>
                  <a:pt x="1214285" y="75163"/>
                  <a:pt x="1206010" y="78213"/>
                  <a:pt x="1200204" y="84284"/>
                </a:cubicBezTo>
                <a:cubicBezTo>
                  <a:pt x="1194397" y="90355"/>
                  <a:pt x="1190887" y="99275"/>
                  <a:pt x="1189673" y="111043"/>
                </a:cubicBezTo>
                <a:lnTo>
                  <a:pt x="1258176" y="111043"/>
                </a:lnTo>
                <a:cubicBezTo>
                  <a:pt x="1258107" y="99637"/>
                  <a:pt x="1255207" y="90821"/>
                  <a:pt x="1249475" y="84595"/>
                </a:cubicBezTo>
                <a:cubicBezTo>
                  <a:pt x="1243744" y="78368"/>
                  <a:pt x="1235595" y="75215"/>
                  <a:pt x="1225029" y="75134"/>
                </a:cubicBezTo>
                <a:close/>
                <a:moveTo>
                  <a:pt x="748779" y="75134"/>
                </a:moveTo>
                <a:cubicBezTo>
                  <a:pt x="738035" y="75163"/>
                  <a:pt x="729760" y="78213"/>
                  <a:pt x="723954" y="84284"/>
                </a:cubicBezTo>
                <a:cubicBezTo>
                  <a:pt x="718147" y="90355"/>
                  <a:pt x="714637" y="99275"/>
                  <a:pt x="713423" y="111043"/>
                </a:cubicBezTo>
                <a:lnTo>
                  <a:pt x="781926" y="111043"/>
                </a:lnTo>
                <a:cubicBezTo>
                  <a:pt x="781857" y="99637"/>
                  <a:pt x="778957" y="90821"/>
                  <a:pt x="773225" y="84595"/>
                </a:cubicBezTo>
                <a:cubicBezTo>
                  <a:pt x="767494" y="78368"/>
                  <a:pt x="759345" y="75215"/>
                  <a:pt x="748779" y="75134"/>
                </a:cubicBezTo>
                <a:close/>
                <a:moveTo>
                  <a:pt x="2090119" y="53036"/>
                </a:moveTo>
                <a:lnTo>
                  <a:pt x="2120503" y="53036"/>
                </a:lnTo>
                <a:lnTo>
                  <a:pt x="2120503" y="138942"/>
                </a:lnTo>
                <a:cubicBezTo>
                  <a:pt x="2120354" y="150630"/>
                  <a:pt x="2122656" y="159227"/>
                  <a:pt x="2127409" y="164735"/>
                </a:cubicBezTo>
                <a:cubicBezTo>
                  <a:pt x="2132162" y="170242"/>
                  <a:pt x="2140265" y="172969"/>
                  <a:pt x="2151717" y="172918"/>
                </a:cubicBezTo>
                <a:cubicBezTo>
                  <a:pt x="2157281" y="172923"/>
                  <a:pt x="2162656" y="172014"/>
                  <a:pt x="2167841" y="170190"/>
                </a:cubicBezTo>
                <a:cubicBezTo>
                  <a:pt x="2173026" y="168366"/>
                  <a:pt x="2177780" y="165592"/>
                  <a:pt x="2182101" y="161869"/>
                </a:cubicBezTo>
                <a:lnTo>
                  <a:pt x="2182101" y="53036"/>
                </a:lnTo>
                <a:lnTo>
                  <a:pt x="2212486" y="53036"/>
                </a:lnTo>
                <a:lnTo>
                  <a:pt x="2212486" y="195568"/>
                </a:lnTo>
                <a:lnTo>
                  <a:pt x="2184311" y="195568"/>
                </a:lnTo>
                <a:lnTo>
                  <a:pt x="2182654" y="177614"/>
                </a:lnTo>
                <a:cubicBezTo>
                  <a:pt x="2177993" y="183938"/>
                  <a:pt x="2172261" y="189037"/>
                  <a:pt x="2165459" y="192909"/>
                </a:cubicBezTo>
                <a:cubicBezTo>
                  <a:pt x="2158657" y="196782"/>
                  <a:pt x="2150577" y="198773"/>
                  <a:pt x="2141220" y="198883"/>
                </a:cubicBezTo>
                <a:cubicBezTo>
                  <a:pt x="2124468" y="198883"/>
                  <a:pt x="2111773" y="194463"/>
                  <a:pt x="2103136" y="185624"/>
                </a:cubicBezTo>
                <a:cubicBezTo>
                  <a:pt x="2094498" y="176785"/>
                  <a:pt x="2090159" y="163526"/>
                  <a:pt x="2090119" y="145848"/>
                </a:cubicBezTo>
                <a:close/>
                <a:moveTo>
                  <a:pt x="157925" y="53036"/>
                </a:moveTo>
                <a:lnTo>
                  <a:pt x="188309" y="53036"/>
                </a:lnTo>
                <a:lnTo>
                  <a:pt x="188309" y="195568"/>
                </a:lnTo>
                <a:lnTo>
                  <a:pt x="157925" y="195568"/>
                </a:lnTo>
                <a:close/>
                <a:moveTo>
                  <a:pt x="2527611" y="49721"/>
                </a:moveTo>
                <a:cubicBezTo>
                  <a:pt x="2543090" y="49861"/>
                  <a:pt x="2556052" y="53111"/>
                  <a:pt x="2566498" y="59471"/>
                </a:cubicBezTo>
                <a:cubicBezTo>
                  <a:pt x="2576943" y="65831"/>
                  <a:pt x="2584810" y="74462"/>
                  <a:pt x="2590099" y="85365"/>
                </a:cubicBezTo>
                <a:cubicBezTo>
                  <a:pt x="2595389" y="96267"/>
                  <a:pt x="2598038" y="108602"/>
                  <a:pt x="2598049" y="122369"/>
                </a:cubicBezTo>
                <a:cubicBezTo>
                  <a:pt x="2597830" y="146705"/>
                  <a:pt x="2591293" y="165500"/>
                  <a:pt x="2578437" y="178753"/>
                </a:cubicBezTo>
                <a:cubicBezTo>
                  <a:pt x="2565581" y="192006"/>
                  <a:pt x="2547718" y="198716"/>
                  <a:pt x="2524849" y="198883"/>
                </a:cubicBezTo>
                <a:cubicBezTo>
                  <a:pt x="2509635" y="198743"/>
                  <a:pt x="2496819" y="195493"/>
                  <a:pt x="2486403" y="189133"/>
                </a:cubicBezTo>
                <a:cubicBezTo>
                  <a:pt x="2475986" y="182773"/>
                  <a:pt x="2468102" y="174142"/>
                  <a:pt x="2462750" y="163240"/>
                </a:cubicBezTo>
                <a:cubicBezTo>
                  <a:pt x="2457397" y="152337"/>
                  <a:pt x="2454710" y="140003"/>
                  <a:pt x="2454688" y="126236"/>
                </a:cubicBezTo>
                <a:cubicBezTo>
                  <a:pt x="2454929" y="101899"/>
                  <a:pt x="2461490" y="83104"/>
                  <a:pt x="2474369" y="69851"/>
                </a:cubicBezTo>
                <a:cubicBezTo>
                  <a:pt x="2487248" y="56598"/>
                  <a:pt x="2504995" y="49888"/>
                  <a:pt x="2527611" y="49721"/>
                </a:cubicBezTo>
                <a:close/>
                <a:moveTo>
                  <a:pt x="2291686" y="49721"/>
                </a:moveTo>
                <a:cubicBezTo>
                  <a:pt x="2300376" y="49704"/>
                  <a:pt x="2308479" y="50222"/>
                  <a:pt x="2315994" y="51275"/>
                </a:cubicBezTo>
                <a:cubicBezTo>
                  <a:pt x="2323510" y="52328"/>
                  <a:pt x="2330508" y="54020"/>
                  <a:pt x="2336988" y="56351"/>
                </a:cubicBezTo>
                <a:cubicBezTo>
                  <a:pt x="2336734" y="60316"/>
                  <a:pt x="2336274" y="64263"/>
                  <a:pt x="2335606" y="68194"/>
                </a:cubicBezTo>
                <a:cubicBezTo>
                  <a:pt x="2334939" y="72124"/>
                  <a:pt x="2333926" y="76279"/>
                  <a:pt x="2332568" y="80659"/>
                </a:cubicBezTo>
                <a:cubicBezTo>
                  <a:pt x="2326117" y="78604"/>
                  <a:pt x="2319614" y="77119"/>
                  <a:pt x="2313059" y="76204"/>
                </a:cubicBezTo>
                <a:cubicBezTo>
                  <a:pt x="2306505" y="75289"/>
                  <a:pt x="2299657" y="74841"/>
                  <a:pt x="2292515" y="74858"/>
                </a:cubicBezTo>
                <a:cubicBezTo>
                  <a:pt x="2283043" y="74933"/>
                  <a:pt x="2276575" y="76302"/>
                  <a:pt x="2273110" y="78967"/>
                </a:cubicBezTo>
                <a:cubicBezTo>
                  <a:pt x="2269646" y="81631"/>
                  <a:pt x="2268012" y="85141"/>
                  <a:pt x="2268207" y="89498"/>
                </a:cubicBezTo>
                <a:cubicBezTo>
                  <a:pt x="2268190" y="94504"/>
                  <a:pt x="2269951" y="98510"/>
                  <a:pt x="2273490" y="101514"/>
                </a:cubicBezTo>
                <a:cubicBezTo>
                  <a:pt x="2277029" y="104517"/>
                  <a:pt x="2282450" y="107142"/>
                  <a:pt x="2289753" y="109386"/>
                </a:cubicBezTo>
                <a:lnTo>
                  <a:pt x="2304393" y="114082"/>
                </a:lnTo>
                <a:cubicBezTo>
                  <a:pt x="2317439" y="118104"/>
                  <a:pt x="2326980" y="123456"/>
                  <a:pt x="2333017" y="130137"/>
                </a:cubicBezTo>
                <a:cubicBezTo>
                  <a:pt x="2339053" y="136819"/>
                  <a:pt x="2342034" y="145554"/>
                  <a:pt x="2341960" y="156344"/>
                </a:cubicBezTo>
                <a:cubicBezTo>
                  <a:pt x="2341890" y="169114"/>
                  <a:pt x="2337056" y="179346"/>
                  <a:pt x="2327458" y="187040"/>
                </a:cubicBezTo>
                <a:cubicBezTo>
                  <a:pt x="2317859" y="194734"/>
                  <a:pt x="2303909" y="198681"/>
                  <a:pt x="2285610" y="198883"/>
                </a:cubicBezTo>
                <a:cubicBezTo>
                  <a:pt x="2275453" y="198906"/>
                  <a:pt x="2266418" y="198169"/>
                  <a:pt x="2258505" y="196673"/>
                </a:cubicBezTo>
                <a:cubicBezTo>
                  <a:pt x="2250592" y="195177"/>
                  <a:pt x="2243422" y="192783"/>
                  <a:pt x="2236994" y="189491"/>
                </a:cubicBezTo>
                <a:cubicBezTo>
                  <a:pt x="2237270" y="183863"/>
                  <a:pt x="2237754" y="178960"/>
                  <a:pt x="2238444" y="174782"/>
                </a:cubicBezTo>
                <a:cubicBezTo>
                  <a:pt x="2239135" y="170604"/>
                  <a:pt x="2240033" y="166944"/>
                  <a:pt x="2241137" y="163802"/>
                </a:cubicBezTo>
                <a:cubicBezTo>
                  <a:pt x="2247686" y="166985"/>
                  <a:pt x="2254891" y="169390"/>
                  <a:pt x="2262752" y="171019"/>
                </a:cubicBezTo>
                <a:cubicBezTo>
                  <a:pt x="2270613" y="172647"/>
                  <a:pt x="2277956" y="173464"/>
                  <a:pt x="2284781" y="173470"/>
                </a:cubicBezTo>
                <a:cubicBezTo>
                  <a:pt x="2293522" y="173516"/>
                  <a:pt x="2300209" y="172250"/>
                  <a:pt x="2304842" y="169672"/>
                </a:cubicBezTo>
                <a:cubicBezTo>
                  <a:pt x="2309474" y="167094"/>
                  <a:pt x="2311811" y="162928"/>
                  <a:pt x="2311851" y="157173"/>
                </a:cubicBezTo>
                <a:cubicBezTo>
                  <a:pt x="2311782" y="152189"/>
                  <a:pt x="2309848" y="148345"/>
                  <a:pt x="2306050" y="145640"/>
                </a:cubicBezTo>
                <a:cubicBezTo>
                  <a:pt x="2302252" y="142936"/>
                  <a:pt x="2297004" y="140611"/>
                  <a:pt x="2290305" y="138666"/>
                </a:cubicBezTo>
                <a:lnTo>
                  <a:pt x="2276218" y="134246"/>
                </a:lnTo>
                <a:cubicBezTo>
                  <a:pt x="2262458" y="129821"/>
                  <a:pt x="2252756" y="123963"/>
                  <a:pt x="2247111" y="116671"/>
                </a:cubicBezTo>
                <a:cubicBezTo>
                  <a:pt x="2241465" y="109380"/>
                  <a:pt x="2238738" y="100691"/>
                  <a:pt x="2238928" y="90603"/>
                </a:cubicBezTo>
                <a:cubicBezTo>
                  <a:pt x="2238951" y="77781"/>
                  <a:pt x="2243393" y="67791"/>
                  <a:pt x="2252255" y="60632"/>
                </a:cubicBezTo>
                <a:cubicBezTo>
                  <a:pt x="2261118" y="53473"/>
                  <a:pt x="2274261" y="49836"/>
                  <a:pt x="2291686" y="49721"/>
                </a:cubicBezTo>
                <a:close/>
                <a:moveTo>
                  <a:pt x="1789633" y="49721"/>
                </a:moveTo>
                <a:cubicBezTo>
                  <a:pt x="1799508" y="49698"/>
                  <a:pt x="1808693" y="50297"/>
                  <a:pt x="1817187" y="51517"/>
                </a:cubicBezTo>
                <a:cubicBezTo>
                  <a:pt x="1825681" y="52737"/>
                  <a:pt x="1833898" y="54716"/>
                  <a:pt x="1841840" y="57456"/>
                </a:cubicBezTo>
                <a:lnTo>
                  <a:pt x="1841840" y="195568"/>
                </a:lnTo>
                <a:lnTo>
                  <a:pt x="1813941" y="195568"/>
                </a:lnTo>
                <a:lnTo>
                  <a:pt x="1812284" y="178995"/>
                </a:lnTo>
                <a:cubicBezTo>
                  <a:pt x="1808486" y="185141"/>
                  <a:pt x="1803445" y="189975"/>
                  <a:pt x="1797160" y="193496"/>
                </a:cubicBezTo>
                <a:cubicBezTo>
                  <a:pt x="1790876" y="197018"/>
                  <a:pt x="1782935" y="198814"/>
                  <a:pt x="1773336" y="198883"/>
                </a:cubicBezTo>
                <a:cubicBezTo>
                  <a:pt x="1754852" y="198745"/>
                  <a:pt x="1740166" y="192392"/>
                  <a:pt x="1729278" y="179823"/>
                </a:cubicBezTo>
                <a:cubicBezTo>
                  <a:pt x="1718390" y="167255"/>
                  <a:pt x="1712820" y="149300"/>
                  <a:pt x="1712567" y="125959"/>
                </a:cubicBezTo>
                <a:cubicBezTo>
                  <a:pt x="1712584" y="101514"/>
                  <a:pt x="1719041" y="82730"/>
                  <a:pt x="1731937" y="69610"/>
                </a:cubicBezTo>
                <a:cubicBezTo>
                  <a:pt x="1744833" y="56489"/>
                  <a:pt x="1764065" y="49859"/>
                  <a:pt x="1789633" y="49721"/>
                </a:cubicBezTo>
                <a:close/>
                <a:moveTo>
                  <a:pt x="1622736" y="49721"/>
                </a:moveTo>
                <a:cubicBezTo>
                  <a:pt x="1638215" y="49861"/>
                  <a:pt x="1651177" y="53111"/>
                  <a:pt x="1661623" y="59471"/>
                </a:cubicBezTo>
                <a:cubicBezTo>
                  <a:pt x="1672068" y="65831"/>
                  <a:pt x="1679935" y="74462"/>
                  <a:pt x="1685225" y="85365"/>
                </a:cubicBezTo>
                <a:cubicBezTo>
                  <a:pt x="1690514" y="96267"/>
                  <a:pt x="1693164" y="108602"/>
                  <a:pt x="1693174" y="122369"/>
                </a:cubicBezTo>
                <a:cubicBezTo>
                  <a:pt x="1692955" y="146705"/>
                  <a:pt x="1686418" y="165500"/>
                  <a:pt x="1673562" y="178753"/>
                </a:cubicBezTo>
                <a:cubicBezTo>
                  <a:pt x="1660706" y="192006"/>
                  <a:pt x="1642843" y="198716"/>
                  <a:pt x="1619974" y="198883"/>
                </a:cubicBezTo>
                <a:cubicBezTo>
                  <a:pt x="1604760" y="198743"/>
                  <a:pt x="1591944" y="195493"/>
                  <a:pt x="1581528" y="189133"/>
                </a:cubicBezTo>
                <a:cubicBezTo>
                  <a:pt x="1571111" y="182773"/>
                  <a:pt x="1563227" y="174142"/>
                  <a:pt x="1557875" y="163240"/>
                </a:cubicBezTo>
                <a:cubicBezTo>
                  <a:pt x="1552522" y="152337"/>
                  <a:pt x="1549835" y="140003"/>
                  <a:pt x="1549813" y="126236"/>
                </a:cubicBezTo>
                <a:cubicBezTo>
                  <a:pt x="1550055" y="101899"/>
                  <a:pt x="1556615" y="83104"/>
                  <a:pt x="1569494" y="69851"/>
                </a:cubicBezTo>
                <a:cubicBezTo>
                  <a:pt x="1582373" y="56598"/>
                  <a:pt x="1600120" y="49888"/>
                  <a:pt x="1622736" y="49721"/>
                </a:cubicBezTo>
                <a:close/>
                <a:moveTo>
                  <a:pt x="1482062" y="49721"/>
                </a:moveTo>
                <a:cubicBezTo>
                  <a:pt x="1490751" y="49704"/>
                  <a:pt x="1498854" y="50222"/>
                  <a:pt x="1506369" y="51275"/>
                </a:cubicBezTo>
                <a:cubicBezTo>
                  <a:pt x="1513885" y="52328"/>
                  <a:pt x="1520883" y="54020"/>
                  <a:pt x="1527363" y="56351"/>
                </a:cubicBezTo>
                <a:cubicBezTo>
                  <a:pt x="1527109" y="60316"/>
                  <a:pt x="1526649" y="64263"/>
                  <a:pt x="1525981" y="68194"/>
                </a:cubicBezTo>
                <a:cubicBezTo>
                  <a:pt x="1525314" y="72124"/>
                  <a:pt x="1524301" y="76279"/>
                  <a:pt x="1522943" y="80659"/>
                </a:cubicBezTo>
                <a:cubicBezTo>
                  <a:pt x="1516492" y="78604"/>
                  <a:pt x="1509989" y="77119"/>
                  <a:pt x="1503435" y="76204"/>
                </a:cubicBezTo>
                <a:cubicBezTo>
                  <a:pt x="1496880" y="75289"/>
                  <a:pt x="1490032" y="74841"/>
                  <a:pt x="1482890" y="74858"/>
                </a:cubicBezTo>
                <a:cubicBezTo>
                  <a:pt x="1473418" y="74933"/>
                  <a:pt x="1466950" y="76302"/>
                  <a:pt x="1463486" y="78967"/>
                </a:cubicBezTo>
                <a:cubicBezTo>
                  <a:pt x="1460021" y="81631"/>
                  <a:pt x="1458387" y="85141"/>
                  <a:pt x="1458582" y="89498"/>
                </a:cubicBezTo>
                <a:cubicBezTo>
                  <a:pt x="1458565" y="94504"/>
                  <a:pt x="1460326" y="98510"/>
                  <a:pt x="1463865" y="101514"/>
                </a:cubicBezTo>
                <a:cubicBezTo>
                  <a:pt x="1467404" y="104517"/>
                  <a:pt x="1472825" y="107142"/>
                  <a:pt x="1480128" y="109386"/>
                </a:cubicBezTo>
                <a:lnTo>
                  <a:pt x="1494768" y="114082"/>
                </a:lnTo>
                <a:cubicBezTo>
                  <a:pt x="1507814" y="118104"/>
                  <a:pt x="1517355" y="123456"/>
                  <a:pt x="1523392" y="130137"/>
                </a:cubicBezTo>
                <a:cubicBezTo>
                  <a:pt x="1529428" y="136819"/>
                  <a:pt x="1532409" y="145554"/>
                  <a:pt x="1532335" y="156344"/>
                </a:cubicBezTo>
                <a:cubicBezTo>
                  <a:pt x="1532265" y="169114"/>
                  <a:pt x="1527432" y="179346"/>
                  <a:pt x="1517833" y="187040"/>
                </a:cubicBezTo>
                <a:cubicBezTo>
                  <a:pt x="1508234" y="194734"/>
                  <a:pt x="1494285" y="198681"/>
                  <a:pt x="1475985" y="198883"/>
                </a:cubicBezTo>
                <a:cubicBezTo>
                  <a:pt x="1465828" y="198906"/>
                  <a:pt x="1456793" y="198169"/>
                  <a:pt x="1448880" y="196673"/>
                </a:cubicBezTo>
                <a:cubicBezTo>
                  <a:pt x="1440967" y="195177"/>
                  <a:pt x="1433797" y="192783"/>
                  <a:pt x="1427369" y="189491"/>
                </a:cubicBezTo>
                <a:cubicBezTo>
                  <a:pt x="1427645" y="183863"/>
                  <a:pt x="1428129" y="178960"/>
                  <a:pt x="1428819" y="174782"/>
                </a:cubicBezTo>
                <a:cubicBezTo>
                  <a:pt x="1429510" y="170604"/>
                  <a:pt x="1430408" y="166944"/>
                  <a:pt x="1431512" y="163802"/>
                </a:cubicBezTo>
                <a:cubicBezTo>
                  <a:pt x="1438061" y="166985"/>
                  <a:pt x="1445266" y="169390"/>
                  <a:pt x="1453127" y="171019"/>
                </a:cubicBezTo>
                <a:cubicBezTo>
                  <a:pt x="1460988" y="172647"/>
                  <a:pt x="1468331" y="173464"/>
                  <a:pt x="1475156" y="173470"/>
                </a:cubicBezTo>
                <a:cubicBezTo>
                  <a:pt x="1483897" y="173516"/>
                  <a:pt x="1490584" y="172250"/>
                  <a:pt x="1495217" y="169672"/>
                </a:cubicBezTo>
                <a:cubicBezTo>
                  <a:pt x="1499849" y="167094"/>
                  <a:pt x="1502186" y="162928"/>
                  <a:pt x="1502226" y="157173"/>
                </a:cubicBezTo>
                <a:cubicBezTo>
                  <a:pt x="1502157" y="152189"/>
                  <a:pt x="1500223" y="148345"/>
                  <a:pt x="1496425" y="145640"/>
                </a:cubicBezTo>
                <a:cubicBezTo>
                  <a:pt x="1492627" y="142936"/>
                  <a:pt x="1487379" y="140611"/>
                  <a:pt x="1480681" y="138666"/>
                </a:cubicBezTo>
                <a:lnTo>
                  <a:pt x="1466593" y="134246"/>
                </a:lnTo>
                <a:cubicBezTo>
                  <a:pt x="1452834" y="129821"/>
                  <a:pt x="1443131" y="123963"/>
                  <a:pt x="1437486" y="116671"/>
                </a:cubicBezTo>
                <a:cubicBezTo>
                  <a:pt x="1431840" y="109380"/>
                  <a:pt x="1429113" y="100691"/>
                  <a:pt x="1429303" y="90603"/>
                </a:cubicBezTo>
                <a:cubicBezTo>
                  <a:pt x="1429326" y="77781"/>
                  <a:pt x="1433768" y="67791"/>
                  <a:pt x="1442631" y="60632"/>
                </a:cubicBezTo>
                <a:cubicBezTo>
                  <a:pt x="1451493" y="53473"/>
                  <a:pt x="1464636" y="49836"/>
                  <a:pt x="1482062" y="49721"/>
                </a:cubicBezTo>
                <a:close/>
                <a:moveTo>
                  <a:pt x="1358237" y="49721"/>
                </a:moveTo>
                <a:cubicBezTo>
                  <a:pt x="1366926" y="49704"/>
                  <a:pt x="1375029" y="50222"/>
                  <a:pt x="1382544" y="51275"/>
                </a:cubicBezTo>
                <a:cubicBezTo>
                  <a:pt x="1390060" y="52328"/>
                  <a:pt x="1397058" y="54020"/>
                  <a:pt x="1403538" y="56351"/>
                </a:cubicBezTo>
                <a:cubicBezTo>
                  <a:pt x="1403284" y="60316"/>
                  <a:pt x="1402824" y="64263"/>
                  <a:pt x="1402156" y="68194"/>
                </a:cubicBezTo>
                <a:cubicBezTo>
                  <a:pt x="1401489" y="72124"/>
                  <a:pt x="1400476" y="76279"/>
                  <a:pt x="1399118" y="80659"/>
                </a:cubicBezTo>
                <a:cubicBezTo>
                  <a:pt x="1392667" y="78604"/>
                  <a:pt x="1386164" y="77119"/>
                  <a:pt x="1379610" y="76204"/>
                </a:cubicBezTo>
                <a:cubicBezTo>
                  <a:pt x="1373055" y="75289"/>
                  <a:pt x="1366207" y="74841"/>
                  <a:pt x="1359065" y="74858"/>
                </a:cubicBezTo>
                <a:cubicBezTo>
                  <a:pt x="1349593" y="74933"/>
                  <a:pt x="1343125" y="76302"/>
                  <a:pt x="1339661" y="78967"/>
                </a:cubicBezTo>
                <a:cubicBezTo>
                  <a:pt x="1336196" y="81631"/>
                  <a:pt x="1334562" y="85141"/>
                  <a:pt x="1334757" y="89498"/>
                </a:cubicBezTo>
                <a:cubicBezTo>
                  <a:pt x="1334740" y="94504"/>
                  <a:pt x="1336501" y="98510"/>
                  <a:pt x="1340040" y="101514"/>
                </a:cubicBezTo>
                <a:cubicBezTo>
                  <a:pt x="1343579" y="104517"/>
                  <a:pt x="1349000" y="107142"/>
                  <a:pt x="1356303" y="109386"/>
                </a:cubicBezTo>
                <a:lnTo>
                  <a:pt x="1370943" y="114082"/>
                </a:lnTo>
                <a:cubicBezTo>
                  <a:pt x="1383989" y="118104"/>
                  <a:pt x="1393530" y="123456"/>
                  <a:pt x="1399567" y="130137"/>
                </a:cubicBezTo>
                <a:cubicBezTo>
                  <a:pt x="1405603" y="136819"/>
                  <a:pt x="1408584" y="145554"/>
                  <a:pt x="1408510" y="156344"/>
                </a:cubicBezTo>
                <a:cubicBezTo>
                  <a:pt x="1408440" y="169114"/>
                  <a:pt x="1403607" y="179346"/>
                  <a:pt x="1394008" y="187040"/>
                </a:cubicBezTo>
                <a:cubicBezTo>
                  <a:pt x="1384409" y="194734"/>
                  <a:pt x="1370460" y="198681"/>
                  <a:pt x="1352160" y="198883"/>
                </a:cubicBezTo>
                <a:cubicBezTo>
                  <a:pt x="1342003" y="198906"/>
                  <a:pt x="1332968" y="198169"/>
                  <a:pt x="1325055" y="196673"/>
                </a:cubicBezTo>
                <a:cubicBezTo>
                  <a:pt x="1317142" y="195177"/>
                  <a:pt x="1309972" y="192783"/>
                  <a:pt x="1303544" y="189491"/>
                </a:cubicBezTo>
                <a:cubicBezTo>
                  <a:pt x="1303820" y="183863"/>
                  <a:pt x="1304304" y="178960"/>
                  <a:pt x="1304994" y="174782"/>
                </a:cubicBezTo>
                <a:cubicBezTo>
                  <a:pt x="1305685" y="170604"/>
                  <a:pt x="1306583" y="166944"/>
                  <a:pt x="1307687" y="163802"/>
                </a:cubicBezTo>
                <a:cubicBezTo>
                  <a:pt x="1314236" y="166985"/>
                  <a:pt x="1321441" y="169390"/>
                  <a:pt x="1329302" y="171019"/>
                </a:cubicBezTo>
                <a:cubicBezTo>
                  <a:pt x="1337163" y="172647"/>
                  <a:pt x="1344506" y="173464"/>
                  <a:pt x="1351331" y="173470"/>
                </a:cubicBezTo>
                <a:cubicBezTo>
                  <a:pt x="1360072" y="173516"/>
                  <a:pt x="1366759" y="172250"/>
                  <a:pt x="1371392" y="169672"/>
                </a:cubicBezTo>
                <a:cubicBezTo>
                  <a:pt x="1376024" y="167094"/>
                  <a:pt x="1378361" y="162928"/>
                  <a:pt x="1378401" y="157173"/>
                </a:cubicBezTo>
                <a:cubicBezTo>
                  <a:pt x="1378332" y="152189"/>
                  <a:pt x="1376398" y="148345"/>
                  <a:pt x="1372600" y="145640"/>
                </a:cubicBezTo>
                <a:cubicBezTo>
                  <a:pt x="1368802" y="142936"/>
                  <a:pt x="1363554" y="140611"/>
                  <a:pt x="1356856" y="138666"/>
                </a:cubicBezTo>
                <a:lnTo>
                  <a:pt x="1342768" y="134246"/>
                </a:lnTo>
                <a:cubicBezTo>
                  <a:pt x="1329009" y="129821"/>
                  <a:pt x="1319306" y="123963"/>
                  <a:pt x="1313661" y="116671"/>
                </a:cubicBezTo>
                <a:cubicBezTo>
                  <a:pt x="1308015" y="109380"/>
                  <a:pt x="1305288" y="100691"/>
                  <a:pt x="1305478" y="90603"/>
                </a:cubicBezTo>
                <a:cubicBezTo>
                  <a:pt x="1305501" y="77781"/>
                  <a:pt x="1309943" y="67791"/>
                  <a:pt x="1318806" y="60632"/>
                </a:cubicBezTo>
                <a:cubicBezTo>
                  <a:pt x="1327668" y="53473"/>
                  <a:pt x="1340811" y="49836"/>
                  <a:pt x="1358237" y="49721"/>
                </a:cubicBezTo>
                <a:close/>
                <a:moveTo>
                  <a:pt x="1226687" y="49721"/>
                </a:moveTo>
                <a:cubicBezTo>
                  <a:pt x="1248250" y="50182"/>
                  <a:pt x="1264029" y="56374"/>
                  <a:pt x="1274025" y="68297"/>
                </a:cubicBezTo>
                <a:cubicBezTo>
                  <a:pt x="1284021" y="80221"/>
                  <a:pt x="1288958" y="95114"/>
                  <a:pt x="1288837" y="112977"/>
                </a:cubicBezTo>
                <a:cubicBezTo>
                  <a:pt x="1288837" y="117201"/>
                  <a:pt x="1288699" y="121183"/>
                  <a:pt x="1288423" y="124924"/>
                </a:cubicBezTo>
                <a:cubicBezTo>
                  <a:pt x="1288147" y="128664"/>
                  <a:pt x="1287733" y="132508"/>
                  <a:pt x="1287180" y="136456"/>
                </a:cubicBezTo>
                <a:lnTo>
                  <a:pt x="1190225" y="136456"/>
                </a:lnTo>
                <a:cubicBezTo>
                  <a:pt x="1192113" y="148731"/>
                  <a:pt x="1196762" y="157881"/>
                  <a:pt x="1204174" y="163906"/>
                </a:cubicBezTo>
                <a:cubicBezTo>
                  <a:pt x="1211586" y="169931"/>
                  <a:pt x="1222037" y="172935"/>
                  <a:pt x="1235526" y="172918"/>
                </a:cubicBezTo>
                <a:cubicBezTo>
                  <a:pt x="1243853" y="172912"/>
                  <a:pt x="1252128" y="172026"/>
                  <a:pt x="1260352" y="170259"/>
                </a:cubicBezTo>
                <a:cubicBezTo>
                  <a:pt x="1268575" y="168492"/>
                  <a:pt x="1276505" y="165880"/>
                  <a:pt x="1284142" y="162421"/>
                </a:cubicBezTo>
                <a:cubicBezTo>
                  <a:pt x="1283583" y="166507"/>
                  <a:pt x="1282904" y="170973"/>
                  <a:pt x="1282104" y="175818"/>
                </a:cubicBezTo>
                <a:cubicBezTo>
                  <a:pt x="1281305" y="180663"/>
                  <a:pt x="1280418" y="185405"/>
                  <a:pt x="1279446" y="190044"/>
                </a:cubicBezTo>
                <a:cubicBezTo>
                  <a:pt x="1272557" y="193191"/>
                  <a:pt x="1265410" y="195459"/>
                  <a:pt x="1258004" y="196846"/>
                </a:cubicBezTo>
                <a:cubicBezTo>
                  <a:pt x="1250598" y="198233"/>
                  <a:pt x="1242829" y="198912"/>
                  <a:pt x="1234697" y="198883"/>
                </a:cubicBezTo>
                <a:cubicBezTo>
                  <a:pt x="1209319" y="198693"/>
                  <a:pt x="1190398" y="192029"/>
                  <a:pt x="1177933" y="178891"/>
                </a:cubicBezTo>
                <a:cubicBezTo>
                  <a:pt x="1165468" y="165753"/>
                  <a:pt x="1159253" y="147281"/>
                  <a:pt x="1159288" y="123473"/>
                </a:cubicBezTo>
                <a:cubicBezTo>
                  <a:pt x="1159225" y="109606"/>
                  <a:pt x="1161469" y="97135"/>
                  <a:pt x="1166020" y="86060"/>
                </a:cubicBezTo>
                <a:cubicBezTo>
                  <a:pt x="1170570" y="74986"/>
                  <a:pt x="1177807" y="66198"/>
                  <a:pt x="1187729" y="59696"/>
                </a:cubicBezTo>
                <a:cubicBezTo>
                  <a:pt x="1197651" y="53195"/>
                  <a:pt x="1210637" y="49870"/>
                  <a:pt x="1226687" y="49721"/>
                </a:cubicBezTo>
                <a:close/>
                <a:moveTo>
                  <a:pt x="881987" y="49721"/>
                </a:moveTo>
                <a:cubicBezTo>
                  <a:pt x="890676" y="49704"/>
                  <a:pt x="898779" y="50222"/>
                  <a:pt x="906294" y="51275"/>
                </a:cubicBezTo>
                <a:cubicBezTo>
                  <a:pt x="913810" y="52328"/>
                  <a:pt x="920808" y="54020"/>
                  <a:pt x="927287" y="56351"/>
                </a:cubicBezTo>
                <a:cubicBezTo>
                  <a:pt x="927034" y="60316"/>
                  <a:pt x="926574" y="64263"/>
                  <a:pt x="925906" y="68194"/>
                </a:cubicBezTo>
                <a:cubicBezTo>
                  <a:pt x="925239" y="72124"/>
                  <a:pt x="924226" y="76279"/>
                  <a:pt x="922868" y="80659"/>
                </a:cubicBezTo>
                <a:cubicBezTo>
                  <a:pt x="916417" y="78604"/>
                  <a:pt x="909914" y="77119"/>
                  <a:pt x="903359" y="76204"/>
                </a:cubicBezTo>
                <a:cubicBezTo>
                  <a:pt x="896805" y="75289"/>
                  <a:pt x="889957" y="74841"/>
                  <a:pt x="882815" y="74858"/>
                </a:cubicBezTo>
                <a:cubicBezTo>
                  <a:pt x="873343" y="74933"/>
                  <a:pt x="866875" y="76302"/>
                  <a:pt x="863410" y="78967"/>
                </a:cubicBezTo>
                <a:cubicBezTo>
                  <a:pt x="859946" y="81631"/>
                  <a:pt x="858312" y="85141"/>
                  <a:pt x="858507" y="89498"/>
                </a:cubicBezTo>
                <a:cubicBezTo>
                  <a:pt x="858490" y="94504"/>
                  <a:pt x="860251" y="98510"/>
                  <a:pt x="863790" y="101514"/>
                </a:cubicBezTo>
                <a:cubicBezTo>
                  <a:pt x="867329" y="104517"/>
                  <a:pt x="872750" y="107142"/>
                  <a:pt x="880053" y="109386"/>
                </a:cubicBezTo>
                <a:lnTo>
                  <a:pt x="894693" y="114082"/>
                </a:lnTo>
                <a:cubicBezTo>
                  <a:pt x="907739" y="118104"/>
                  <a:pt x="917280" y="123456"/>
                  <a:pt x="923317" y="130137"/>
                </a:cubicBezTo>
                <a:cubicBezTo>
                  <a:pt x="929353" y="136819"/>
                  <a:pt x="932334" y="145554"/>
                  <a:pt x="932259" y="156344"/>
                </a:cubicBezTo>
                <a:cubicBezTo>
                  <a:pt x="932190" y="169114"/>
                  <a:pt x="927356" y="179346"/>
                  <a:pt x="917758" y="187040"/>
                </a:cubicBezTo>
                <a:cubicBezTo>
                  <a:pt x="908159" y="194734"/>
                  <a:pt x="894209" y="198681"/>
                  <a:pt x="875910" y="198883"/>
                </a:cubicBezTo>
                <a:cubicBezTo>
                  <a:pt x="865753" y="198906"/>
                  <a:pt x="856718" y="198169"/>
                  <a:pt x="848805" y="196673"/>
                </a:cubicBezTo>
                <a:cubicBezTo>
                  <a:pt x="840892" y="195177"/>
                  <a:pt x="833722" y="192783"/>
                  <a:pt x="827294" y="189491"/>
                </a:cubicBezTo>
                <a:cubicBezTo>
                  <a:pt x="827570" y="183863"/>
                  <a:pt x="828054" y="178960"/>
                  <a:pt x="828744" y="174782"/>
                </a:cubicBezTo>
                <a:cubicBezTo>
                  <a:pt x="829435" y="170604"/>
                  <a:pt x="830332" y="166944"/>
                  <a:pt x="831437" y="163802"/>
                </a:cubicBezTo>
                <a:cubicBezTo>
                  <a:pt x="837986" y="166985"/>
                  <a:pt x="845191" y="169390"/>
                  <a:pt x="853052" y="171019"/>
                </a:cubicBezTo>
                <a:cubicBezTo>
                  <a:pt x="860913" y="172647"/>
                  <a:pt x="868256" y="173464"/>
                  <a:pt x="875081" y="173470"/>
                </a:cubicBezTo>
                <a:cubicBezTo>
                  <a:pt x="883822" y="173516"/>
                  <a:pt x="890509" y="172250"/>
                  <a:pt x="895142" y="169672"/>
                </a:cubicBezTo>
                <a:cubicBezTo>
                  <a:pt x="899774" y="167094"/>
                  <a:pt x="902111" y="162928"/>
                  <a:pt x="902151" y="157173"/>
                </a:cubicBezTo>
                <a:cubicBezTo>
                  <a:pt x="902082" y="152189"/>
                  <a:pt x="900148" y="148345"/>
                  <a:pt x="896350" y="145640"/>
                </a:cubicBezTo>
                <a:cubicBezTo>
                  <a:pt x="892552" y="142936"/>
                  <a:pt x="887304" y="140611"/>
                  <a:pt x="880605" y="138666"/>
                </a:cubicBezTo>
                <a:lnTo>
                  <a:pt x="866518" y="134246"/>
                </a:lnTo>
                <a:cubicBezTo>
                  <a:pt x="852758" y="129821"/>
                  <a:pt x="843056" y="123963"/>
                  <a:pt x="837411" y="116671"/>
                </a:cubicBezTo>
                <a:cubicBezTo>
                  <a:pt x="831765" y="109380"/>
                  <a:pt x="829038" y="100691"/>
                  <a:pt x="829228" y="90603"/>
                </a:cubicBezTo>
                <a:cubicBezTo>
                  <a:pt x="829251" y="77781"/>
                  <a:pt x="833693" y="67791"/>
                  <a:pt x="842555" y="60632"/>
                </a:cubicBezTo>
                <a:cubicBezTo>
                  <a:pt x="851418" y="53473"/>
                  <a:pt x="864561" y="49836"/>
                  <a:pt x="881987" y="49721"/>
                </a:cubicBezTo>
                <a:close/>
                <a:moveTo>
                  <a:pt x="750437" y="49721"/>
                </a:moveTo>
                <a:cubicBezTo>
                  <a:pt x="772000" y="50182"/>
                  <a:pt x="787779" y="56374"/>
                  <a:pt x="797775" y="68297"/>
                </a:cubicBezTo>
                <a:cubicBezTo>
                  <a:pt x="807771" y="80221"/>
                  <a:pt x="812708" y="95114"/>
                  <a:pt x="812587" y="112977"/>
                </a:cubicBezTo>
                <a:cubicBezTo>
                  <a:pt x="812587" y="117201"/>
                  <a:pt x="812449" y="121183"/>
                  <a:pt x="812173" y="124924"/>
                </a:cubicBezTo>
                <a:cubicBezTo>
                  <a:pt x="811897" y="128664"/>
                  <a:pt x="811482" y="132508"/>
                  <a:pt x="810930" y="136456"/>
                </a:cubicBezTo>
                <a:lnTo>
                  <a:pt x="713975" y="136456"/>
                </a:lnTo>
                <a:cubicBezTo>
                  <a:pt x="715863" y="148731"/>
                  <a:pt x="720512" y="157881"/>
                  <a:pt x="727924" y="163906"/>
                </a:cubicBezTo>
                <a:cubicBezTo>
                  <a:pt x="735337" y="169931"/>
                  <a:pt x="745787" y="172935"/>
                  <a:pt x="759276" y="172918"/>
                </a:cubicBezTo>
                <a:cubicBezTo>
                  <a:pt x="767603" y="172912"/>
                  <a:pt x="775878" y="172026"/>
                  <a:pt x="784102" y="170259"/>
                </a:cubicBezTo>
                <a:cubicBezTo>
                  <a:pt x="792325" y="168492"/>
                  <a:pt x="800255" y="165880"/>
                  <a:pt x="807891" y="162421"/>
                </a:cubicBezTo>
                <a:cubicBezTo>
                  <a:pt x="807333" y="166507"/>
                  <a:pt x="806654" y="170973"/>
                  <a:pt x="805854" y="175818"/>
                </a:cubicBezTo>
                <a:cubicBezTo>
                  <a:pt x="805054" y="180663"/>
                  <a:pt x="804168" y="185405"/>
                  <a:pt x="803196" y="190044"/>
                </a:cubicBezTo>
                <a:cubicBezTo>
                  <a:pt x="796307" y="193191"/>
                  <a:pt x="789160" y="195459"/>
                  <a:pt x="781754" y="196846"/>
                </a:cubicBezTo>
                <a:cubicBezTo>
                  <a:pt x="774347" y="198233"/>
                  <a:pt x="766579" y="198912"/>
                  <a:pt x="758447" y="198883"/>
                </a:cubicBezTo>
                <a:cubicBezTo>
                  <a:pt x="733069" y="198693"/>
                  <a:pt x="714148" y="192029"/>
                  <a:pt x="701683" y="178891"/>
                </a:cubicBezTo>
                <a:cubicBezTo>
                  <a:pt x="689218" y="165753"/>
                  <a:pt x="683003" y="147281"/>
                  <a:pt x="683038" y="123473"/>
                </a:cubicBezTo>
                <a:cubicBezTo>
                  <a:pt x="682975" y="109606"/>
                  <a:pt x="685219" y="97135"/>
                  <a:pt x="689769" y="86060"/>
                </a:cubicBezTo>
                <a:cubicBezTo>
                  <a:pt x="694320" y="74986"/>
                  <a:pt x="701557" y="66198"/>
                  <a:pt x="711479" y="59696"/>
                </a:cubicBezTo>
                <a:cubicBezTo>
                  <a:pt x="721401" y="53195"/>
                  <a:pt x="734387" y="49870"/>
                  <a:pt x="750437" y="49721"/>
                </a:cubicBezTo>
                <a:close/>
                <a:moveTo>
                  <a:pt x="525285" y="49721"/>
                </a:moveTo>
                <a:cubicBezTo>
                  <a:pt x="551302" y="49859"/>
                  <a:pt x="570534" y="56213"/>
                  <a:pt x="582981" y="68781"/>
                </a:cubicBezTo>
                <a:cubicBezTo>
                  <a:pt x="595429" y="81349"/>
                  <a:pt x="601609" y="99304"/>
                  <a:pt x="601523" y="122645"/>
                </a:cubicBezTo>
                <a:cubicBezTo>
                  <a:pt x="601437" y="147091"/>
                  <a:pt x="595049" y="165874"/>
                  <a:pt x="582360" y="178995"/>
                </a:cubicBezTo>
                <a:cubicBezTo>
                  <a:pt x="569671" y="192115"/>
                  <a:pt x="551198" y="198745"/>
                  <a:pt x="526942" y="198883"/>
                </a:cubicBezTo>
                <a:cubicBezTo>
                  <a:pt x="517597" y="198837"/>
                  <a:pt x="509494" y="197824"/>
                  <a:pt x="502634" y="195844"/>
                </a:cubicBezTo>
                <a:lnTo>
                  <a:pt x="502634" y="248603"/>
                </a:lnTo>
                <a:lnTo>
                  <a:pt x="472250" y="248603"/>
                </a:lnTo>
                <a:lnTo>
                  <a:pt x="472250" y="57456"/>
                </a:lnTo>
                <a:cubicBezTo>
                  <a:pt x="479587" y="55200"/>
                  <a:pt x="487908" y="53358"/>
                  <a:pt x="497213" y="51931"/>
                </a:cubicBezTo>
                <a:cubicBezTo>
                  <a:pt x="506519" y="50504"/>
                  <a:pt x="515876" y="49767"/>
                  <a:pt x="525285" y="49721"/>
                </a:cubicBezTo>
                <a:close/>
                <a:moveTo>
                  <a:pt x="283988" y="49721"/>
                </a:moveTo>
                <a:cubicBezTo>
                  <a:pt x="293788" y="49704"/>
                  <a:pt x="302432" y="50567"/>
                  <a:pt x="309919" y="52311"/>
                </a:cubicBezTo>
                <a:cubicBezTo>
                  <a:pt x="317405" y="54055"/>
                  <a:pt x="323770" y="56782"/>
                  <a:pt x="329013" y="60494"/>
                </a:cubicBezTo>
                <a:cubicBezTo>
                  <a:pt x="336925" y="57024"/>
                  <a:pt x="344924" y="54365"/>
                  <a:pt x="353010" y="52518"/>
                </a:cubicBezTo>
                <a:cubicBezTo>
                  <a:pt x="361095" y="50671"/>
                  <a:pt x="369025" y="49739"/>
                  <a:pt x="376800" y="49721"/>
                </a:cubicBezTo>
                <a:cubicBezTo>
                  <a:pt x="399813" y="49842"/>
                  <a:pt x="416006" y="54503"/>
                  <a:pt x="425381" y="63705"/>
                </a:cubicBezTo>
                <a:cubicBezTo>
                  <a:pt x="434755" y="72907"/>
                  <a:pt x="439278" y="85924"/>
                  <a:pt x="438950" y="102757"/>
                </a:cubicBezTo>
                <a:lnTo>
                  <a:pt x="438950" y="195568"/>
                </a:lnTo>
                <a:lnTo>
                  <a:pt x="408565" y="195568"/>
                </a:lnTo>
                <a:lnTo>
                  <a:pt x="408565" y="107176"/>
                </a:lnTo>
                <a:cubicBezTo>
                  <a:pt x="408715" y="96800"/>
                  <a:pt x="406137" y="88963"/>
                  <a:pt x="400831" y="83662"/>
                </a:cubicBezTo>
                <a:cubicBezTo>
                  <a:pt x="395525" y="78362"/>
                  <a:pt x="386594" y="75704"/>
                  <a:pt x="374037" y="75686"/>
                </a:cubicBezTo>
                <a:cubicBezTo>
                  <a:pt x="369031" y="75698"/>
                  <a:pt x="363990" y="76227"/>
                  <a:pt x="358914" y="77275"/>
                </a:cubicBezTo>
                <a:cubicBezTo>
                  <a:pt x="353838" y="78322"/>
                  <a:pt x="348935" y="79818"/>
                  <a:pt x="344205" y="81763"/>
                </a:cubicBezTo>
                <a:cubicBezTo>
                  <a:pt x="346093" y="87794"/>
                  <a:pt x="347013" y="94792"/>
                  <a:pt x="346967" y="102757"/>
                </a:cubicBezTo>
                <a:lnTo>
                  <a:pt x="346967" y="195568"/>
                </a:lnTo>
                <a:lnTo>
                  <a:pt x="316582" y="195568"/>
                </a:lnTo>
                <a:lnTo>
                  <a:pt x="316582" y="106900"/>
                </a:lnTo>
                <a:cubicBezTo>
                  <a:pt x="316738" y="96657"/>
                  <a:pt x="314079" y="88899"/>
                  <a:pt x="308607" y="83628"/>
                </a:cubicBezTo>
                <a:cubicBezTo>
                  <a:pt x="303134" y="78357"/>
                  <a:pt x="293915" y="75710"/>
                  <a:pt x="280949" y="75686"/>
                </a:cubicBezTo>
                <a:cubicBezTo>
                  <a:pt x="276639" y="75686"/>
                  <a:pt x="272277" y="75894"/>
                  <a:pt x="267863" y="76308"/>
                </a:cubicBezTo>
                <a:cubicBezTo>
                  <a:pt x="263449" y="76722"/>
                  <a:pt x="259156" y="77344"/>
                  <a:pt x="254984" y="78173"/>
                </a:cubicBezTo>
                <a:lnTo>
                  <a:pt x="254984" y="195568"/>
                </a:lnTo>
                <a:lnTo>
                  <a:pt x="224600" y="195568"/>
                </a:lnTo>
                <a:lnTo>
                  <a:pt x="224600" y="57456"/>
                </a:lnTo>
                <a:cubicBezTo>
                  <a:pt x="234360" y="55079"/>
                  <a:pt x="244327" y="53203"/>
                  <a:pt x="254501" y="51828"/>
                </a:cubicBezTo>
                <a:cubicBezTo>
                  <a:pt x="264675" y="50452"/>
                  <a:pt x="274504" y="49750"/>
                  <a:pt x="283988" y="49721"/>
                </a:cubicBezTo>
                <a:close/>
                <a:moveTo>
                  <a:pt x="1068353" y="28452"/>
                </a:moveTo>
                <a:cubicBezTo>
                  <a:pt x="1064998" y="28435"/>
                  <a:pt x="1061418" y="28538"/>
                  <a:pt x="1057614" y="28763"/>
                </a:cubicBezTo>
                <a:cubicBezTo>
                  <a:pt x="1053811" y="28987"/>
                  <a:pt x="1050024" y="29436"/>
                  <a:pt x="1046255" y="30109"/>
                </a:cubicBezTo>
                <a:lnTo>
                  <a:pt x="1046255" y="101375"/>
                </a:lnTo>
                <a:lnTo>
                  <a:pt x="1069458" y="101375"/>
                </a:lnTo>
                <a:cubicBezTo>
                  <a:pt x="1084615" y="101312"/>
                  <a:pt x="1095872" y="98193"/>
                  <a:pt x="1103226" y="92018"/>
                </a:cubicBezTo>
                <a:cubicBezTo>
                  <a:pt x="1110581" y="85844"/>
                  <a:pt x="1114241" y="76993"/>
                  <a:pt x="1114206" y="65466"/>
                </a:cubicBezTo>
                <a:cubicBezTo>
                  <a:pt x="1114264" y="52927"/>
                  <a:pt x="1110558" y="43616"/>
                  <a:pt x="1103088" y="37533"/>
                </a:cubicBezTo>
                <a:cubicBezTo>
                  <a:pt x="1095618" y="31450"/>
                  <a:pt x="1084040" y="28423"/>
                  <a:pt x="1068353" y="28452"/>
                </a:cubicBezTo>
                <a:close/>
                <a:moveTo>
                  <a:pt x="2396728" y="2211"/>
                </a:moveTo>
                <a:lnTo>
                  <a:pt x="2396728" y="54417"/>
                </a:lnTo>
                <a:lnTo>
                  <a:pt x="2444791" y="54417"/>
                </a:lnTo>
                <a:cubicBezTo>
                  <a:pt x="2444285" y="63763"/>
                  <a:pt x="2443364" y="72418"/>
                  <a:pt x="2442029" y="80382"/>
                </a:cubicBezTo>
                <a:lnTo>
                  <a:pt x="2396728" y="80382"/>
                </a:lnTo>
                <a:lnTo>
                  <a:pt x="2396728" y="148057"/>
                </a:lnTo>
                <a:cubicBezTo>
                  <a:pt x="2396792" y="156948"/>
                  <a:pt x="2398875" y="163336"/>
                  <a:pt x="2402978" y="167221"/>
                </a:cubicBezTo>
                <a:cubicBezTo>
                  <a:pt x="2407081" y="171105"/>
                  <a:pt x="2412824" y="173004"/>
                  <a:pt x="2420207" y="172918"/>
                </a:cubicBezTo>
                <a:cubicBezTo>
                  <a:pt x="2424650" y="172900"/>
                  <a:pt x="2428885" y="172521"/>
                  <a:pt x="2432914" y="171778"/>
                </a:cubicBezTo>
                <a:cubicBezTo>
                  <a:pt x="2436942" y="171036"/>
                  <a:pt x="2440625" y="170035"/>
                  <a:pt x="2443963" y="168774"/>
                </a:cubicBezTo>
                <a:cubicBezTo>
                  <a:pt x="2443554" y="172969"/>
                  <a:pt x="2443059" y="177285"/>
                  <a:pt x="2442478" y="181722"/>
                </a:cubicBezTo>
                <a:cubicBezTo>
                  <a:pt x="2441897" y="186159"/>
                  <a:pt x="2441195" y="190406"/>
                  <a:pt x="2440372" y="194463"/>
                </a:cubicBezTo>
                <a:cubicBezTo>
                  <a:pt x="2436211" y="196098"/>
                  <a:pt x="2431964" y="197249"/>
                  <a:pt x="2427631" y="197916"/>
                </a:cubicBezTo>
                <a:cubicBezTo>
                  <a:pt x="2423298" y="198584"/>
                  <a:pt x="2418982" y="198906"/>
                  <a:pt x="2414683" y="198883"/>
                </a:cubicBezTo>
                <a:cubicBezTo>
                  <a:pt x="2399738" y="199021"/>
                  <a:pt x="2387987" y="195361"/>
                  <a:pt x="2379430" y="187903"/>
                </a:cubicBezTo>
                <a:cubicBezTo>
                  <a:pt x="2370872" y="180445"/>
                  <a:pt x="2366510" y="168360"/>
                  <a:pt x="2366344" y="151648"/>
                </a:cubicBezTo>
                <a:lnTo>
                  <a:pt x="2366344" y="6630"/>
                </a:lnTo>
                <a:cubicBezTo>
                  <a:pt x="2371131" y="5117"/>
                  <a:pt x="2376196" y="4000"/>
                  <a:pt x="2381536" y="3281"/>
                </a:cubicBezTo>
                <a:cubicBezTo>
                  <a:pt x="2386876" y="2562"/>
                  <a:pt x="2391940" y="2205"/>
                  <a:pt x="2396728" y="2211"/>
                </a:cubicBezTo>
                <a:close/>
                <a:moveTo>
                  <a:pt x="2052742" y="2211"/>
                </a:moveTo>
                <a:lnTo>
                  <a:pt x="2052742" y="138942"/>
                </a:lnTo>
                <a:cubicBezTo>
                  <a:pt x="2052737" y="158266"/>
                  <a:pt x="2047776" y="172722"/>
                  <a:pt x="2037861" y="182309"/>
                </a:cubicBezTo>
                <a:cubicBezTo>
                  <a:pt x="2027945" y="191897"/>
                  <a:pt x="2013110" y="196685"/>
                  <a:pt x="1993354" y="196673"/>
                </a:cubicBezTo>
                <a:cubicBezTo>
                  <a:pt x="1990120" y="196662"/>
                  <a:pt x="1986713" y="196477"/>
                  <a:pt x="1983134" y="196121"/>
                </a:cubicBezTo>
                <a:cubicBezTo>
                  <a:pt x="1979554" y="195764"/>
                  <a:pt x="1976148" y="195303"/>
                  <a:pt x="1972913" y="194739"/>
                </a:cubicBezTo>
                <a:cubicBezTo>
                  <a:pt x="1973057" y="190222"/>
                  <a:pt x="1973322" y="185584"/>
                  <a:pt x="1973708" y="180825"/>
                </a:cubicBezTo>
                <a:cubicBezTo>
                  <a:pt x="1974093" y="176066"/>
                  <a:pt x="1974565" y="171772"/>
                  <a:pt x="1975123" y="167946"/>
                </a:cubicBezTo>
                <a:cubicBezTo>
                  <a:pt x="1977908" y="168498"/>
                  <a:pt x="1980832" y="168912"/>
                  <a:pt x="1983893" y="169189"/>
                </a:cubicBezTo>
                <a:cubicBezTo>
                  <a:pt x="1986955" y="169465"/>
                  <a:pt x="1990016" y="169603"/>
                  <a:pt x="1993078" y="169603"/>
                </a:cubicBezTo>
                <a:cubicBezTo>
                  <a:pt x="2002976" y="169695"/>
                  <a:pt x="2010250" y="167025"/>
                  <a:pt x="2014900" y="161592"/>
                </a:cubicBezTo>
                <a:cubicBezTo>
                  <a:pt x="2019549" y="156160"/>
                  <a:pt x="2021851" y="147413"/>
                  <a:pt x="2021805" y="135351"/>
                </a:cubicBezTo>
                <a:lnTo>
                  <a:pt x="2021805" y="6630"/>
                </a:lnTo>
                <a:cubicBezTo>
                  <a:pt x="2025891" y="5479"/>
                  <a:pt x="2030840" y="4466"/>
                  <a:pt x="2036652" y="3592"/>
                </a:cubicBezTo>
                <a:cubicBezTo>
                  <a:pt x="2042465" y="2717"/>
                  <a:pt x="2047828" y="2257"/>
                  <a:pt x="2052742" y="2211"/>
                </a:cubicBezTo>
                <a:close/>
                <a:moveTo>
                  <a:pt x="1902809" y="2211"/>
                </a:moveTo>
                <a:lnTo>
                  <a:pt x="1902809" y="195568"/>
                </a:lnTo>
                <a:lnTo>
                  <a:pt x="1872425" y="195568"/>
                </a:lnTo>
                <a:lnTo>
                  <a:pt x="1872425" y="6630"/>
                </a:lnTo>
                <a:cubicBezTo>
                  <a:pt x="1876487" y="5479"/>
                  <a:pt x="1881344" y="4466"/>
                  <a:pt x="1886996" y="3592"/>
                </a:cubicBezTo>
                <a:cubicBezTo>
                  <a:pt x="1892647" y="2717"/>
                  <a:pt x="1897918" y="2257"/>
                  <a:pt x="1902809" y="2211"/>
                </a:cubicBezTo>
                <a:close/>
                <a:moveTo>
                  <a:pt x="655034" y="2211"/>
                </a:moveTo>
                <a:lnTo>
                  <a:pt x="655034" y="195568"/>
                </a:lnTo>
                <a:lnTo>
                  <a:pt x="624650" y="195568"/>
                </a:lnTo>
                <a:lnTo>
                  <a:pt x="624650" y="6630"/>
                </a:lnTo>
                <a:cubicBezTo>
                  <a:pt x="628712" y="5479"/>
                  <a:pt x="633569" y="4466"/>
                  <a:pt x="639220" y="3592"/>
                </a:cubicBezTo>
                <a:cubicBezTo>
                  <a:pt x="644872" y="2717"/>
                  <a:pt x="650143" y="2257"/>
                  <a:pt x="655034" y="2211"/>
                </a:cubicBezTo>
                <a:close/>
                <a:moveTo>
                  <a:pt x="1067248" y="1382"/>
                </a:moveTo>
                <a:cubicBezTo>
                  <a:pt x="1087086" y="1532"/>
                  <a:pt x="1102746" y="4393"/>
                  <a:pt x="1114226" y="9965"/>
                </a:cubicBezTo>
                <a:cubicBezTo>
                  <a:pt x="1125707" y="15538"/>
                  <a:pt x="1133857" y="22921"/>
                  <a:pt x="1138677" y="32115"/>
                </a:cubicBezTo>
                <a:cubicBezTo>
                  <a:pt x="1143498" y="41308"/>
                  <a:pt x="1145837" y="51413"/>
                  <a:pt x="1145696" y="62428"/>
                </a:cubicBezTo>
                <a:cubicBezTo>
                  <a:pt x="1145540" y="83283"/>
                  <a:pt x="1138876" y="99373"/>
                  <a:pt x="1125704" y="110698"/>
                </a:cubicBezTo>
                <a:cubicBezTo>
                  <a:pt x="1112531" y="122023"/>
                  <a:pt x="1093783" y="127755"/>
                  <a:pt x="1069458" y="127893"/>
                </a:cubicBezTo>
                <a:lnTo>
                  <a:pt x="1046255" y="127893"/>
                </a:lnTo>
                <a:lnTo>
                  <a:pt x="1046255" y="195292"/>
                </a:lnTo>
                <a:lnTo>
                  <a:pt x="1015317" y="195292"/>
                </a:lnTo>
                <a:lnTo>
                  <a:pt x="1015317" y="6906"/>
                </a:lnTo>
                <a:cubicBezTo>
                  <a:pt x="1022298" y="5347"/>
                  <a:pt x="1030435" y="4046"/>
                  <a:pt x="1039729" y="3005"/>
                </a:cubicBezTo>
                <a:cubicBezTo>
                  <a:pt x="1049023" y="1963"/>
                  <a:pt x="1058196" y="1422"/>
                  <a:pt x="1067248" y="1382"/>
                </a:cubicBezTo>
                <a:close/>
                <a:moveTo>
                  <a:pt x="173117" y="1106"/>
                </a:moveTo>
                <a:cubicBezTo>
                  <a:pt x="178613" y="1215"/>
                  <a:pt x="183090" y="2999"/>
                  <a:pt x="186549" y="6458"/>
                </a:cubicBezTo>
                <a:cubicBezTo>
                  <a:pt x="190007" y="9916"/>
                  <a:pt x="191791" y="14393"/>
                  <a:pt x="191900" y="19889"/>
                </a:cubicBezTo>
                <a:cubicBezTo>
                  <a:pt x="191791" y="25385"/>
                  <a:pt x="190007" y="29862"/>
                  <a:pt x="186549" y="33320"/>
                </a:cubicBezTo>
                <a:cubicBezTo>
                  <a:pt x="183090" y="36779"/>
                  <a:pt x="178613" y="38563"/>
                  <a:pt x="173117" y="38672"/>
                </a:cubicBezTo>
                <a:cubicBezTo>
                  <a:pt x="167489" y="38563"/>
                  <a:pt x="162931" y="36779"/>
                  <a:pt x="159444" y="33320"/>
                </a:cubicBezTo>
                <a:cubicBezTo>
                  <a:pt x="155957" y="29862"/>
                  <a:pt x="154161" y="25385"/>
                  <a:pt x="154057" y="19889"/>
                </a:cubicBezTo>
                <a:cubicBezTo>
                  <a:pt x="154161" y="14393"/>
                  <a:pt x="155957" y="9916"/>
                  <a:pt x="159444" y="6458"/>
                </a:cubicBezTo>
                <a:cubicBezTo>
                  <a:pt x="162931" y="2999"/>
                  <a:pt x="167489" y="1215"/>
                  <a:pt x="173117" y="1106"/>
                </a:cubicBezTo>
                <a:close/>
                <a:moveTo>
                  <a:pt x="68228" y="1"/>
                </a:moveTo>
                <a:cubicBezTo>
                  <a:pt x="77205" y="-11"/>
                  <a:pt x="85906" y="634"/>
                  <a:pt x="94331" y="1934"/>
                </a:cubicBezTo>
                <a:cubicBezTo>
                  <a:pt x="102756" y="3235"/>
                  <a:pt x="110905" y="5261"/>
                  <a:pt x="118777" y="8011"/>
                </a:cubicBezTo>
                <a:cubicBezTo>
                  <a:pt x="118357" y="13496"/>
                  <a:pt x="117678" y="18479"/>
                  <a:pt x="116740" y="22962"/>
                </a:cubicBezTo>
                <a:cubicBezTo>
                  <a:pt x="115802" y="27445"/>
                  <a:pt x="114639" y="31669"/>
                  <a:pt x="113252" y="35634"/>
                </a:cubicBezTo>
                <a:cubicBezTo>
                  <a:pt x="105633" y="32883"/>
                  <a:pt x="97807" y="30857"/>
                  <a:pt x="89773" y="29557"/>
                </a:cubicBezTo>
                <a:cubicBezTo>
                  <a:pt x="81740" y="28256"/>
                  <a:pt x="74466" y="27612"/>
                  <a:pt x="67951" y="27623"/>
                </a:cubicBezTo>
                <a:cubicBezTo>
                  <a:pt x="55976" y="27710"/>
                  <a:pt x="47125" y="29885"/>
                  <a:pt x="41399" y="34149"/>
                </a:cubicBezTo>
                <a:cubicBezTo>
                  <a:pt x="35673" y="38413"/>
                  <a:pt x="32831" y="44249"/>
                  <a:pt x="32871" y="51655"/>
                </a:cubicBezTo>
                <a:cubicBezTo>
                  <a:pt x="32917" y="58710"/>
                  <a:pt x="35518" y="64626"/>
                  <a:pt x="40674" y="69402"/>
                </a:cubicBezTo>
                <a:cubicBezTo>
                  <a:pt x="45831" y="74179"/>
                  <a:pt x="53266" y="78575"/>
                  <a:pt x="62980" y="82592"/>
                </a:cubicBezTo>
                <a:lnTo>
                  <a:pt x="77896" y="88945"/>
                </a:lnTo>
                <a:cubicBezTo>
                  <a:pt x="95315" y="96190"/>
                  <a:pt x="107987" y="104282"/>
                  <a:pt x="115911" y="113219"/>
                </a:cubicBezTo>
                <a:cubicBezTo>
                  <a:pt x="123835" y="122156"/>
                  <a:pt x="127737" y="133216"/>
                  <a:pt x="127616" y="146400"/>
                </a:cubicBezTo>
                <a:cubicBezTo>
                  <a:pt x="127593" y="162530"/>
                  <a:pt x="121631" y="175432"/>
                  <a:pt x="109731" y="185106"/>
                </a:cubicBezTo>
                <a:cubicBezTo>
                  <a:pt x="97830" y="194780"/>
                  <a:pt x="80128" y="199740"/>
                  <a:pt x="56626" y="199988"/>
                </a:cubicBezTo>
                <a:cubicBezTo>
                  <a:pt x="45324" y="199999"/>
                  <a:pt x="34989" y="199148"/>
                  <a:pt x="25620" y="197433"/>
                </a:cubicBezTo>
                <a:cubicBezTo>
                  <a:pt x="16251" y="195718"/>
                  <a:pt x="7712" y="193071"/>
                  <a:pt x="0" y="189491"/>
                </a:cubicBezTo>
                <a:cubicBezTo>
                  <a:pt x="271" y="183926"/>
                  <a:pt x="835" y="178966"/>
                  <a:pt x="1692" y="174610"/>
                </a:cubicBezTo>
                <a:cubicBezTo>
                  <a:pt x="2550" y="170253"/>
                  <a:pt x="3735" y="165914"/>
                  <a:pt x="5248" y="161592"/>
                </a:cubicBezTo>
                <a:cubicBezTo>
                  <a:pt x="13173" y="165183"/>
                  <a:pt x="21632" y="167877"/>
                  <a:pt x="30627" y="169672"/>
                </a:cubicBezTo>
                <a:cubicBezTo>
                  <a:pt x="39621" y="171467"/>
                  <a:pt x="48011" y="172365"/>
                  <a:pt x="55798" y="172365"/>
                </a:cubicBezTo>
                <a:cubicBezTo>
                  <a:pt x="68705" y="172359"/>
                  <a:pt x="78592" y="170299"/>
                  <a:pt x="85457" y="166185"/>
                </a:cubicBezTo>
                <a:cubicBezTo>
                  <a:pt x="92323" y="162070"/>
                  <a:pt x="95787" y="155936"/>
                  <a:pt x="95850" y="147781"/>
                </a:cubicBezTo>
                <a:cubicBezTo>
                  <a:pt x="95954" y="140030"/>
                  <a:pt x="93123" y="133642"/>
                  <a:pt x="87356" y="128618"/>
                </a:cubicBezTo>
                <a:cubicBezTo>
                  <a:pt x="81590" y="123594"/>
                  <a:pt x="72268" y="118381"/>
                  <a:pt x="59389" y="112977"/>
                </a:cubicBezTo>
                <a:lnTo>
                  <a:pt x="45301" y="106900"/>
                </a:lnTo>
                <a:cubicBezTo>
                  <a:pt x="32123" y="101473"/>
                  <a:pt x="21603" y="94510"/>
                  <a:pt x="13742" y="86010"/>
                </a:cubicBezTo>
                <a:cubicBezTo>
                  <a:pt x="5882" y="77511"/>
                  <a:pt x="1853" y="66059"/>
                  <a:pt x="1658" y="51655"/>
                </a:cubicBezTo>
                <a:cubicBezTo>
                  <a:pt x="1635" y="35726"/>
                  <a:pt x="7136" y="23181"/>
                  <a:pt x="18162" y="14019"/>
                </a:cubicBezTo>
                <a:cubicBezTo>
                  <a:pt x="29188" y="4858"/>
                  <a:pt x="45876" y="185"/>
                  <a:pt x="68228" y="1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sz="2200" noProof="0" dirty="0">
              <a:solidFill>
                <a:srgbClr val="FF0000"/>
              </a:solidFill>
              <a:latin typeface="Santander Logo" panose="020B050402020101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04BC-8386-44C9-8EDD-C4C6F27A04BB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E9BC-595C-42CD-BB02-30E85BD76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856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dirty="0"/>
              <a:t>Clique para editar o estilo de título do Modelo Global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dirty="0"/>
              <a:t>Editar os estilos de texto do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 dirty="0"/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40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6" r:id="rId3"/>
    <p:sldLayoutId id="2147483651" r:id="rId4"/>
    <p:sldLayoutId id="2147483652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7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1.wmf"/><Relationship Id="rId4" Type="http://schemas.openxmlformats.org/officeDocument/2006/relationships/package" Target="../embeddings/Microsoft_Excel_Worksheet1.xlsx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mailto:luiz.silva@santander.pt" TargetMode="Externa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blog/2020/03/25/liveness-and-readiness-probes-with-spring-boot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ci.gsnet.corp/pages/viewpage.action?pageId=212378538" TargetMode="External"/><Relationship Id="rId2" Type="http://schemas.openxmlformats.org/officeDocument/2006/relationships/hyperlink" Target="https://www.slf4j.org/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paas-pro.logs.global.ccc.srvb.can.paas.cloudcenter.corp/login?next=%2F#?_g=()" TargetMode="External"/><Relationship Id="rId4" Type="http://schemas.openxmlformats.org/officeDocument/2006/relationships/hyperlink" Target="https://paas.logging.ccc.pre.cn.paas.cloudcenter.corp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ci.gsnet.corp/pages/viewpage.action?pageId=212378538" TargetMode="External"/><Relationship Id="rId2" Type="http://schemas.openxmlformats.org/officeDocument/2006/relationships/hyperlink" Target="https://www.slf4j.org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paas-pro.logs.global.ccc.weu.azure.paas.cloudcenter.corp/" TargetMode="External"/><Relationship Id="rId5" Type="http://schemas.openxmlformats.org/officeDocument/2006/relationships/hyperlink" Target="https://paas-pre.logs.global.ccc.weu.azure.paas.cloudcenter.corp/" TargetMode="External"/><Relationship Id="rId4" Type="http://schemas.openxmlformats.org/officeDocument/2006/relationships/hyperlink" Target="https://paas-dev.logs.global.ccc.weu.azure.paas.cloudcenter.corp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5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3" y="1096484"/>
            <a:ext cx="7794459" cy="1711109"/>
          </a:xfrm>
        </p:spPr>
        <p:txBody>
          <a:bodyPr>
            <a:normAutofit/>
          </a:bodyPr>
          <a:lstStyle/>
          <a:p>
            <a:r>
              <a:rPr lang="pt-PT" dirty="0"/>
              <a:t>Contratação Automática </a:t>
            </a:r>
            <a:r>
              <a:rPr lang="pt-PT" dirty="0" err="1"/>
              <a:t>Mifid</a:t>
            </a:r>
            <a:endParaRPr lang="pt-PT" dirty="0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184A763-02A6-4822-A5F0-D9E80A5D8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722142"/>
            <a:ext cx="4934309" cy="519822"/>
          </a:xfrm>
        </p:spPr>
        <p:txBody>
          <a:bodyPr/>
          <a:lstStyle/>
          <a:p>
            <a:r>
              <a:rPr lang="pt-PT" dirty="0"/>
              <a:t>Conceptualização da solução</a:t>
            </a:r>
            <a:br>
              <a:rPr lang="pt-PT" dirty="0"/>
            </a:br>
            <a:r>
              <a:rPr lang="pt-PT" dirty="0"/>
              <a:t>Desenho técnico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619386"/>
          </a:xfrm>
        </p:spPr>
        <p:txBody>
          <a:bodyPr/>
          <a:lstStyle/>
          <a:p>
            <a:r>
              <a:rPr lang="pt-PT" dirty="0"/>
              <a:t>Arquitectura Portugal</a:t>
            </a:r>
          </a:p>
          <a:p>
            <a:r>
              <a:rPr lang="pt-PT" dirty="0"/>
              <a:t>Lisboa, Julho 2024</a:t>
            </a:r>
          </a:p>
        </p:txBody>
      </p:sp>
    </p:spTree>
    <p:extLst>
      <p:ext uri="{BB962C8B-B14F-4D97-AF65-F5344CB8AC3E}">
        <p14:creationId xmlns:p14="http://schemas.microsoft.com/office/powerpoint/2010/main" val="112565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2400" dirty="0"/>
              <a:t>Controlo de alterações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D2C8747-16CC-46F7-8AC4-664E9B00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6861" y="6514400"/>
            <a:ext cx="2743200" cy="365125"/>
          </a:xfrm>
        </p:spPr>
        <p:txBody>
          <a:bodyPr/>
          <a:lstStyle/>
          <a:p>
            <a:fld id="{BC0D97B6-E32F-4D7D-B839-7C3B51F2640F}" type="slidenum">
              <a:rPr lang="pt-PT" smtClean="0"/>
              <a:pPr/>
              <a:t>2</a:t>
            </a:fld>
            <a:endParaRPr lang="pt-PT" dirty="0"/>
          </a:p>
        </p:txBody>
      </p:sp>
      <p:graphicFrame>
        <p:nvGraphicFramePr>
          <p:cNvPr id="10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105774"/>
              </p:ext>
            </p:extLst>
          </p:nvPr>
        </p:nvGraphicFramePr>
        <p:xfrm>
          <a:off x="869324" y="907025"/>
          <a:ext cx="10477548" cy="3524489"/>
        </p:xfrm>
        <a:graphic>
          <a:graphicData uri="http://schemas.openxmlformats.org/drawingml/2006/table">
            <a:tbl>
              <a:tblPr/>
              <a:tblGrid>
                <a:gridCol w="1418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4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3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7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Versão</a:t>
                      </a:r>
                    </a:p>
                  </a:txBody>
                  <a:tcPr marL="72000" marR="72000" marT="72047" marB="7204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pt-PT" sz="13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72000" marR="72000" marT="72047" marB="7204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Descrição</a:t>
                      </a: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Autor</a:t>
                      </a:r>
                      <a:endParaRPr kumimoji="0" lang="pt-PT" sz="13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72000" marR="72000" marT="72047" marB="7204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V1.0</a:t>
                      </a: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2022-08-09</a:t>
                      </a:r>
                      <a:endParaRPr kumimoji="0" lang="pt-PT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Versão Inicial do documento</a:t>
                      </a: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Arquitectura Portugal</a:t>
                      </a: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V2.0</a:t>
                      </a: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2024-07-29</a:t>
                      </a: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Alteração DT</a:t>
                      </a: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Arquitectura</a:t>
                      </a: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 Portugal</a:t>
                      </a:r>
                      <a:b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</a:b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Marcus Laprano</a:t>
                      </a: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526022"/>
                  </a:ext>
                </a:extLst>
              </a:tr>
              <a:tr h="245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V3.0</a:t>
                      </a: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2025-03-13</a:t>
                      </a: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Alteração DT</a:t>
                      </a: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Arquitectura</a:t>
                      </a: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 Portugal</a:t>
                      </a:r>
                      <a:b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</a:b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Tiago Costa</a:t>
                      </a: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25708"/>
                  </a:ext>
                </a:extLst>
              </a:tr>
              <a:tr h="245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V4.0</a:t>
                      </a: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2025-07-14</a:t>
                      </a: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Alteração DT – Adicionada Passarela entre HOST e </a:t>
                      </a:r>
                      <a:r>
                        <a:rPr kumimoji="0" lang="pt-PT" sz="14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Msc</a:t>
                      </a: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PT" sz="14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Private</a:t>
                      </a: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PT" sz="14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Helper</a:t>
                      </a:r>
                      <a:endParaRPr kumimoji="0" lang="pt-PT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Arquitectura Portugal</a:t>
                      </a:r>
                      <a:b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</a:b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Daniel Martins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288229"/>
                  </a:ext>
                </a:extLst>
              </a:tr>
              <a:tr h="245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</a:rPr>
                        <a:t>V5.0</a:t>
                      </a: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2025-07-24</a:t>
                      </a: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Inclusão do passarela</a:t>
                      </a: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Arquitectura</a:t>
                      </a: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 Portugal</a:t>
                      </a:r>
                      <a:b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</a:br>
                      <a:r>
                        <a:rPr kumimoji="0" lang="pt-PT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Juan Garay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72000" marR="72000" marT="72047" marB="7204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813778"/>
                  </a:ext>
                </a:extLst>
              </a:tr>
            </a:tbl>
          </a:graphicData>
        </a:graphic>
      </p:graphicFrame>
      <p:sp>
        <p:nvSpPr>
          <p:cNvPr id="11" name="Rectangle 36"/>
          <p:cNvSpPr>
            <a:spLocks noChangeArrowheads="1"/>
          </p:cNvSpPr>
          <p:nvPr/>
        </p:nvSpPr>
        <p:spPr bwMode="auto">
          <a:xfrm>
            <a:off x="9343986" y="5612924"/>
            <a:ext cx="1870363" cy="104125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/>
            <a:endParaRPr lang="pt-PT" altLang="pt-PT" sz="1400" b="0" u="none" dirty="0">
              <a:latin typeface="Calibri" pitchFamily="34" charset="0"/>
            </a:endParaRPr>
          </a:p>
        </p:txBody>
      </p:sp>
      <p:grpSp>
        <p:nvGrpSpPr>
          <p:cNvPr id="12" name="Group 2"/>
          <p:cNvGrpSpPr>
            <a:grpSpLocks/>
          </p:cNvGrpSpPr>
          <p:nvPr/>
        </p:nvGrpSpPr>
        <p:grpSpPr bwMode="auto">
          <a:xfrm>
            <a:off x="9633758" y="5766537"/>
            <a:ext cx="1580592" cy="638523"/>
            <a:chOff x="7240430" y="340916"/>
            <a:chExt cx="1581254" cy="638893"/>
          </a:xfrm>
        </p:grpSpPr>
        <p:sp>
          <p:nvSpPr>
            <p:cNvPr id="13" name="TextBox 1"/>
            <p:cNvSpPr txBox="1">
              <a:spLocks noChangeArrowheads="1"/>
            </p:cNvSpPr>
            <p:nvPr/>
          </p:nvSpPr>
          <p:spPr bwMode="auto">
            <a:xfrm>
              <a:off x="7530307" y="379297"/>
              <a:ext cx="1291377" cy="600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pt-PT" altLang="pt-PT" sz="1100" u="none" dirty="0"/>
                <a:t>Slide novo</a:t>
              </a:r>
            </a:p>
            <a:p>
              <a:pPr eaLnBrk="1" hangingPunct="1"/>
              <a:endParaRPr lang="pt-PT" altLang="pt-PT" sz="1100" u="none" dirty="0"/>
            </a:p>
            <a:p>
              <a:pPr eaLnBrk="1" hangingPunct="1"/>
              <a:r>
                <a:rPr lang="pt-PT" altLang="pt-PT" sz="1100" u="none" dirty="0"/>
                <a:t>Slide modificado</a:t>
              </a:r>
            </a:p>
          </p:txBody>
        </p:sp>
        <p:sp>
          <p:nvSpPr>
            <p:cNvPr id="14" name="AutoShape 38"/>
            <p:cNvSpPr>
              <a:spLocks noChangeArrowheads="1"/>
            </p:cNvSpPr>
            <p:nvPr/>
          </p:nvSpPr>
          <p:spPr bwMode="auto">
            <a:xfrm>
              <a:off x="7240430" y="679754"/>
              <a:ext cx="349250" cy="290512"/>
            </a:xfrm>
            <a:prstGeom prst="star8">
              <a:avLst>
                <a:gd name="adj" fmla="val 38250"/>
              </a:avLst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pt-PT" altLang="pt-PT" sz="900" b="1" u="none" dirty="0"/>
                <a:t>M</a:t>
              </a:r>
            </a:p>
          </p:txBody>
        </p:sp>
        <p:sp>
          <p:nvSpPr>
            <p:cNvPr id="15" name="AutoShape 35"/>
            <p:cNvSpPr>
              <a:spLocks noChangeArrowheads="1"/>
            </p:cNvSpPr>
            <p:nvPr/>
          </p:nvSpPr>
          <p:spPr bwMode="auto">
            <a:xfrm>
              <a:off x="7240430" y="340916"/>
              <a:ext cx="349250" cy="290512"/>
            </a:xfrm>
            <a:prstGeom prst="star8">
              <a:avLst>
                <a:gd name="adj" fmla="val 3825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pt-PT" altLang="pt-PT" sz="900" b="1" u="none" dirty="0"/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7803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2400" dirty="0"/>
              <a:t>Glossário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D2C8747-16CC-46F7-8AC4-664E9B00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3</a:t>
            </a:fld>
            <a:endParaRPr lang="es-ES" dirty="0"/>
          </a:p>
        </p:txBody>
      </p:sp>
      <p:graphicFrame>
        <p:nvGraphicFramePr>
          <p:cNvPr id="16" name="Group 2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093667"/>
              </p:ext>
            </p:extLst>
          </p:nvPr>
        </p:nvGraphicFramePr>
        <p:xfrm>
          <a:off x="1365869" y="1077808"/>
          <a:ext cx="4025900" cy="4158480"/>
        </p:xfrm>
        <a:graphic>
          <a:graphicData uri="http://schemas.openxmlformats.org/drawingml/2006/table">
            <a:tbl>
              <a:tblPr/>
              <a:tblGrid>
                <a:gridCol w="908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2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C9A9A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sz="11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Termo</a:t>
                      </a: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C9A9A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sz="11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Descrição</a:t>
                      </a: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1" u="none" strike="noStrike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1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1" u="none" strike="noStrike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1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1" u="none" strike="noStrike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1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1" u="none" strike="noStrike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1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en-GB" sz="11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en-GB" sz="11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u="non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u="non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u="non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u="non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endParaRPr lang="pt-PT"/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7" name="Group 2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894374"/>
              </p:ext>
            </p:extLst>
          </p:nvPr>
        </p:nvGraphicFramePr>
        <p:xfrm>
          <a:off x="5848067" y="1077808"/>
          <a:ext cx="4025900" cy="4104846"/>
        </p:xfrm>
        <a:graphic>
          <a:graphicData uri="http://schemas.openxmlformats.org/drawingml/2006/table">
            <a:tbl>
              <a:tblPr/>
              <a:tblGrid>
                <a:gridCol w="908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2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C9A9A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sz="11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Termo</a:t>
                      </a: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C9A9A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sz="11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Descrição</a:t>
                      </a: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pt-PT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en-GB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en-GB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en-GB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en-GB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en-GB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en-GB" sz="1200" u="none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endParaRPr lang="pt-PT"/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endParaRPr lang="pt-PT"/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914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Necessidades e proposta de solução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3419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 dirty="0"/>
          </a:p>
        </p:txBody>
      </p:sp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/>
          <a:lstStyle/>
          <a:p>
            <a:r>
              <a:rPr lang="pt-PT" sz="2400" dirty="0"/>
              <a:t>Objectivos e alcance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77105" y="832513"/>
            <a:ext cx="11078158" cy="4992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algn="just">
              <a:lnSpc>
                <a:spcPct val="150000"/>
              </a:lnSpc>
              <a:buClr>
                <a:srgbClr val="FF0000"/>
              </a:buClr>
              <a:buNone/>
            </a:pPr>
            <a:r>
              <a:rPr lang="pt-PT" altLang="es-ES" sz="1350" dirty="0">
                <a:solidFill>
                  <a:schemeClr val="tx1"/>
                </a:solidFill>
              </a:rPr>
              <a:t>Este projeto pretende dotar o </a:t>
            </a:r>
            <a:r>
              <a:rPr lang="pt-PT" altLang="es-ES" sz="1350" dirty="0" err="1">
                <a:solidFill>
                  <a:schemeClr val="tx1"/>
                </a:solidFill>
              </a:rPr>
              <a:t>private</a:t>
            </a:r>
            <a:r>
              <a:rPr lang="pt-PT" altLang="es-ES" sz="1350" dirty="0">
                <a:solidFill>
                  <a:schemeClr val="tx1"/>
                </a:solidFill>
              </a:rPr>
              <a:t> de um </a:t>
            </a:r>
            <a:r>
              <a:rPr lang="pt-PT" altLang="es-ES" sz="1350" dirty="0" err="1">
                <a:solidFill>
                  <a:schemeClr val="tx1"/>
                </a:solidFill>
              </a:rPr>
              <a:t>Front</a:t>
            </a:r>
            <a:r>
              <a:rPr lang="pt-PT" altLang="es-ES" sz="1350" dirty="0">
                <a:solidFill>
                  <a:schemeClr val="tx1"/>
                </a:solidFill>
              </a:rPr>
              <a:t> para contratação de produtos financeiros.</a:t>
            </a:r>
          </a:p>
          <a:p>
            <a:pPr lvl="1" algn="just">
              <a:lnSpc>
                <a:spcPct val="150000"/>
              </a:lnSpc>
              <a:buClr>
                <a:srgbClr val="FF0000"/>
              </a:buClr>
              <a:buNone/>
            </a:pPr>
            <a:endParaRPr lang="pt-PT" sz="1350" dirty="0">
              <a:solidFill>
                <a:schemeClr val="tx1"/>
              </a:solidFill>
            </a:endParaRPr>
          </a:p>
          <a:p>
            <a:pPr marL="465138" lvl="1" indent="-285750" algn="just">
              <a:lnSpc>
                <a:spcPct val="150000"/>
              </a:lnSpc>
              <a:buClr>
                <a:srgbClr val="FF0000"/>
              </a:buClr>
            </a:pPr>
            <a:r>
              <a:rPr lang="pt-PT" sz="1350" dirty="0" err="1">
                <a:solidFill>
                  <a:schemeClr val="tx1"/>
                </a:solidFill>
              </a:rPr>
              <a:t>Microserviços</a:t>
            </a:r>
            <a:r>
              <a:rPr lang="pt-PT" sz="1350" dirty="0">
                <a:solidFill>
                  <a:schemeClr val="tx1"/>
                </a:solidFill>
              </a:rPr>
              <a:t> em </a:t>
            </a:r>
            <a:r>
              <a:rPr lang="pt-PT" sz="1350" dirty="0" err="1">
                <a:solidFill>
                  <a:schemeClr val="tx1"/>
                </a:solidFill>
              </a:rPr>
              <a:t>Springboot</a:t>
            </a:r>
            <a:r>
              <a:rPr lang="pt-PT" sz="1350" dirty="0">
                <a:solidFill>
                  <a:schemeClr val="tx1"/>
                </a:solidFill>
              </a:rPr>
              <a:t> para manutenção dos recursos necessários para desenvolvimento das regras de negócio da aplicação</a:t>
            </a:r>
          </a:p>
          <a:p>
            <a:pPr marL="465138" lvl="1" indent="-285750" algn="just">
              <a:lnSpc>
                <a:spcPct val="150000"/>
              </a:lnSpc>
              <a:buClr>
                <a:srgbClr val="FF0000"/>
              </a:buClr>
            </a:pPr>
            <a:r>
              <a:rPr lang="pt-PT" sz="1350" dirty="0">
                <a:solidFill>
                  <a:schemeClr val="tx1"/>
                </a:solidFill>
              </a:rPr>
              <a:t>Exposição de </a:t>
            </a:r>
            <a:r>
              <a:rPr lang="pt-PT" sz="1350" dirty="0" err="1">
                <a:solidFill>
                  <a:schemeClr val="tx1"/>
                </a:solidFill>
              </a:rPr>
              <a:t>API’s</a:t>
            </a:r>
            <a:r>
              <a:rPr lang="pt-PT" sz="1350" dirty="0">
                <a:solidFill>
                  <a:schemeClr val="tx1"/>
                </a:solidFill>
              </a:rPr>
              <a:t> para serem consumidas pelos diversos canais</a:t>
            </a:r>
          </a:p>
          <a:p>
            <a:pPr marL="465138" lvl="1" indent="-285750" algn="just">
              <a:lnSpc>
                <a:spcPct val="150000"/>
              </a:lnSpc>
              <a:buClr>
                <a:srgbClr val="FF0000"/>
              </a:buClr>
            </a:pPr>
            <a:r>
              <a:rPr lang="pt-PT" sz="1350" dirty="0" err="1">
                <a:solidFill>
                  <a:schemeClr val="tx1"/>
                </a:solidFill>
              </a:rPr>
              <a:t>Front-end</a:t>
            </a:r>
            <a:r>
              <a:rPr lang="pt-PT" sz="1350" dirty="0">
                <a:solidFill>
                  <a:schemeClr val="tx1"/>
                </a:solidFill>
              </a:rPr>
              <a:t> para a nova operativa</a:t>
            </a:r>
          </a:p>
        </p:txBody>
      </p:sp>
    </p:spTree>
    <p:extLst>
      <p:ext uri="{BB962C8B-B14F-4D97-AF65-F5344CB8AC3E}">
        <p14:creationId xmlns:p14="http://schemas.microsoft.com/office/powerpoint/2010/main" val="105050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6</a:t>
            </a:fld>
            <a:endParaRPr lang="es-ES" dirty="0"/>
          </a:p>
        </p:txBody>
      </p:sp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/>
          <a:lstStyle/>
          <a:p>
            <a:r>
              <a:rPr lang="pt-PT" sz="2400" dirty="0"/>
              <a:t>Requisitos gerais da solução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77104" y="818876"/>
            <a:ext cx="11300913" cy="5755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indent="0">
              <a:lnSpc>
                <a:spcPct val="150000"/>
              </a:lnSpc>
              <a:buClr>
                <a:srgbClr val="FF0000"/>
              </a:buClr>
              <a:buNone/>
            </a:pPr>
            <a:r>
              <a:rPr lang="pt-PT" altLang="es-ES" sz="1550" i="1" dirty="0">
                <a:solidFill>
                  <a:schemeClr val="tx1"/>
                </a:solidFill>
              </a:rPr>
              <a:t>Para dotar de uma solução e plataforma técnica </a:t>
            </a:r>
            <a:r>
              <a:rPr lang="pt-PT" sz="1550" i="1" dirty="0">
                <a:solidFill>
                  <a:schemeClr val="tx1"/>
                </a:solidFill>
              </a:rPr>
              <a:t>as necessidades deste ecossistema dividem-se em:</a:t>
            </a:r>
            <a:endParaRPr lang="pt-PT" altLang="es-ES" sz="1550" i="1" dirty="0">
              <a:solidFill>
                <a:schemeClr val="tx1"/>
              </a:solidFill>
            </a:endParaRPr>
          </a:p>
          <a:p>
            <a:pPr marL="1265238" lvl="2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sz="1550" i="1" dirty="0" err="1">
                <a:solidFill>
                  <a:schemeClr val="tx1"/>
                </a:solidFill>
              </a:rPr>
              <a:t>Microserviços</a:t>
            </a:r>
            <a:r>
              <a:rPr lang="pt-PT" sz="1550" i="1" dirty="0">
                <a:solidFill>
                  <a:schemeClr val="tx1"/>
                </a:solidFill>
              </a:rPr>
              <a:t> </a:t>
            </a:r>
            <a:r>
              <a:rPr lang="pt-PT" sz="1550" i="1" dirty="0" err="1">
                <a:solidFill>
                  <a:schemeClr val="tx1"/>
                </a:solidFill>
              </a:rPr>
              <a:t>Springboot</a:t>
            </a:r>
            <a:endParaRPr lang="pt-PT" sz="1550" i="1" dirty="0">
              <a:solidFill>
                <a:schemeClr val="tx1"/>
              </a:solidFill>
            </a:endParaRPr>
          </a:p>
          <a:p>
            <a:pPr marL="1885950" lvl="3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sz="1200" i="1" dirty="0">
                <a:solidFill>
                  <a:schemeClr val="tx1"/>
                </a:solidFill>
              </a:rPr>
              <a:t>Os Microserviços são </a:t>
            </a:r>
            <a:r>
              <a:rPr lang="pt-PT" sz="1200" i="1" dirty="0" err="1">
                <a:solidFill>
                  <a:schemeClr val="tx1"/>
                </a:solidFill>
              </a:rPr>
              <a:t>deployed</a:t>
            </a:r>
            <a:r>
              <a:rPr lang="pt-PT" sz="1200" i="1" dirty="0">
                <a:solidFill>
                  <a:schemeClr val="tx1"/>
                </a:solidFill>
              </a:rPr>
              <a:t> em imagens Docker Corporativas com JRE 11 (ou Java8)</a:t>
            </a:r>
            <a:endParaRPr lang="en-US" sz="1200" i="1" dirty="0">
              <a:solidFill>
                <a:schemeClr val="tx1"/>
              </a:solidFill>
            </a:endParaRPr>
          </a:p>
          <a:p>
            <a:pPr marL="1885950" lvl="3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sz="1200" i="1" dirty="0">
                <a:solidFill>
                  <a:schemeClr val="tx1"/>
                </a:solidFill>
              </a:rPr>
              <a:t>O orquestrador que é usado é </a:t>
            </a:r>
            <a:r>
              <a:rPr lang="pt-PT" sz="1200" i="1" dirty="0" err="1">
                <a:solidFill>
                  <a:schemeClr val="tx1"/>
                </a:solidFill>
              </a:rPr>
              <a:t>Openshift</a:t>
            </a:r>
            <a:r>
              <a:rPr lang="pt-PT" sz="1200" i="1" dirty="0">
                <a:solidFill>
                  <a:schemeClr val="tx1"/>
                </a:solidFill>
              </a:rPr>
              <a:t> do </a:t>
            </a:r>
            <a:r>
              <a:rPr lang="pt-PT" sz="1200" i="1" dirty="0" err="1">
                <a:solidFill>
                  <a:schemeClr val="tx1"/>
                </a:solidFill>
              </a:rPr>
              <a:t>PaaS</a:t>
            </a:r>
            <a:r>
              <a:rPr lang="pt-PT" sz="1200" i="1" dirty="0">
                <a:solidFill>
                  <a:schemeClr val="tx1"/>
                </a:solidFill>
              </a:rPr>
              <a:t> 2.0.</a:t>
            </a:r>
            <a:endParaRPr lang="en-US" sz="1200" i="1" dirty="0">
              <a:solidFill>
                <a:schemeClr val="tx1"/>
              </a:solidFill>
            </a:endParaRPr>
          </a:p>
          <a:p>
            <a:pPr marL="1885950" lvl="3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sz="1200" i="1" dirty="0">
                <a:solidFill>
                  <a:schemeClr val="tx1"/>
                </a:solidFill>
              </a:rPr>
              <a:t>O BSP tem pipelines de CI/CD que fazem o </a:t>
            </a:r>
            <a:r>
              <a:rPr lang="pt-PT" sz="1200" i="1" dirty="0" err="1">
                <a:solidFill>
                  <a:schemeClr val="tx1"/>
                </a:solidFill>
              </a:rPr>
              <a:t>build</a:t>
            </a:r>
            <a:r>
              <a:rPr lang="pt-PT" sz="1200" i="1" dirty="0">
                <a:solidFill>
                  <a:schemeClr val="tx1"/>
                </a:solidFill>
              </a:rPr>
              <a:t> da imagem e o </a:t>
            </a:r>
            <a:r>
              <a:rPr lang="pt-PT" sz="1200" i="1" dirty="0" err="1">
                <a:solidFill>
                  <a:schemeClr val="tx1"/>
                </a:solidFill>
              </a:rPr>
              <a:t>deploy</a:t>
            </a:r>
            <a:r>
              <a:rPr lang="pt-PT" sz="1200" i="1" dirty="0">
                <a:solidFill>
                  <a:schemeClr val="tx1"/>
                </a:solidFill>
              </a:rPr>
              <a:t> da mesma no Openshift</a:t>
            </a:r>
            <a:endParaRPr lang="en-US" sz="1200" i="1" dirty="0">
              <a:solidFill>
                <a:schemeClr val="tx1"/>
              </a:solidFill>
            </a:endParaRPr>
          </a:p>
          <a:p>
            <a:pPr marL="1885950" lvl="3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sz="1200" i="1" dirty="0">
                <a:solidFill>
                  <a:schemeClr val="tx1"/>
                </a:solidFill>
              </a:rPr>
              <a:t>Todos os Microserviços que expõem serviços REST, deverão receber e validar </a:t>
            </a:r>
            <a:r>
              <a:rPr lang="pt-PT" sz="1200" i="1" dirty="0" err="1">
                <a:solidFill>
                  <a:schemeClr val="tx1"/>
                </a:solidFill>
              </a:rPr>
              <a:t>token</a:t>
            </a:r>
            <a:r>
              <a:rPr lang="pt-PT" sz="1200" i="1" dirty="0">
                <a:solidFill>
                  <a:schemeClr val="tx1"/>
                </a:solidFill>
              </a:rPr>
              <a:t> JWT, embora a maioria dos serviços devam ser integrados por eventos. </a:t>
            </a:r>
          </a:p>
          <a:p>
            <a:pPr marL="1885950" lvl="3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sz="1200" i="1" dirty="0">
                <a:solidFill>
                  <a:schemeClr val="tx1"/>
                </a:solidFill>
              </a:rPr>
              <a:t>Em produção, cada micro-serviço é um POD lançado com 2 replicas - todos os serviços estão preparados para correr com múltiplas instâncias</a:t>
            </a:r>
            <a:endParaRPr lang="en-US" sz="1200" i="1" dirty="0">
              <a:solidFill>
                <a:schemeClr val="tx1"/>
              </a:solidFill>
            </a:endParaRPr>
          </a:p>
          <a:p>
            <a:pPr marL="1885950" lvl="3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sz="1200" i="1" dirty="0">
                <a:solidFill>
                  <a:schemeClr val="tx1"/>
                </a:solidFill>
              </a:rPr>
              <a:t>As configurações/propriedades devem estar fora das imagens e residem ou no </a:t>
            </a:r>
            <a:r>
              <a:rPr lang="pt-PT" sz="1200" i="1" dirty="0" err="1">
                <a:solidFill>
                  <a:schemeClr val="tx1"/>
                </a:solidFill>
              </a:rPr>
              <a:t>Config</a:t>
            </a:r>
            <a:r>
              <a:rPr lang="pt-PT" sz="1200" i="1" dirty="0">
                <a:solidFill>
                  <a:schemeClr val="tx1"/>
                </a:solidFill>
              </a:rPr>
              <a:t> Server ou num </a:t>
            </a:r>
            <a:r>
              <a:rPr lang="pt-PT" sz="1200" i="1" dirty="0" err="1">
                <a:solidFill>
                  <a:schemeClr val="tx1"/>
                </a:solidFill>
              </a:rPr>
              <a:t>Config</a:t>
            </a:r>
            <a:r>
              <a:rPr lang="pt-PT" sz="1200" i="1" dirty="0">
                <a:solidFill>
                  <a:schemeClr val="tx1"/>
                </a:solidFill>
              </a:rPr>
              <a:t> </a:t>
            </a:r>
            <a:r>
              <a:rPr lang="pt-PT" sz="1200" i="1" dirty="0" err="1">
                <a:solidFill>
                  <a:schemeClr val="tx1"/>
                </a:solidFill>
              </a:rPr>
              <a:t>Map</a:t>
            </a:r>
            <a:endParaRPr lang="en-US" sz="1200" i="1" dirty="0">
              <a:solidFill>
                <a:schemeClr val="tx1"/>
              </a:solidFill>
            </a:endParaRPr>
          </a:p>
          <a:p>
            <a:pPr marL="1885950" lvl="3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sz="1200" i="1" dirty="0">
                <a:solidFill>
                  <a:schemeClr val="tx1"/>
                </a:solidFill>
              </a:rPr>
              <a:t>Todas as </a:t>
            </a:r>
            <a:r>
              <a:rPr lang="pt-PT" sz="1200" i="1" dirty="0" err="1">
                <a:solidFill>
                  <a:schemeClr val="tx1"/>
                </a:solidFill>
              </a:rPr>
              <a:t>libs</a:t>
            </a:r>
            <a:r>
              <a:rPr lang="pt-PT" sz="1200" i="1" dirty="0">
                <a:solidFill>
                  <a:schemeClr val="tx1"/>
                </a:solidFill>
              </a:rPr>
              <a:t> de terceiros utilizadas deverão estar livres de vulnerabilidades identificadas</a:t>
            </a:r>
          </a:p>
          <a:p>
            <a:pPr marL="1885950" lvl="3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sz="1200" i="1" dirty="0">
                <a:solidFill>
                  <a:schemeClr val="tx1"/>
                </a:solidFill>
              </a:rPr>
              <a:t>Todo o código será sujeito á execução do Sonar </a:t>
            </a:r>
            <a:r>
              <a:rPr lang="pt-PT" sz="1200" i="1" dirty="0" err="1">
                <a:solidFill>
                  <a:schemeClr val="tx1"/>
                </a:solidFill>
              </a:rPr>
              <a:t>Qube</a:t>
            </a:r>
            <a:r>
              <a:rPr lang="pt-PT" sz="1200" i="1" dirty="0">
                <a:solidFill>
                  <a:schemeClr val="tx1"/>
                </a:solidFill>
              </a:rPr>
              <a:t> nos pipelines</a:t>
            </a:r>
            <a:endParaRPr lang="pt-PT" sz="1550" i="1" dirty="0">
              <a:solidFill>
                <a:schemeClr val="tx1"/>
              </a:solidFill>
            </a:endParaRPr>
          </a:p>
          <a:p>
            <a:pPr marL="1265238" lvl="2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altLang="es-ES" sz="1550" i="1" dirty="0">
                <a:solidFill>
                  <a:schemeClr val="tx1"/>
                </a:solidFill>
              </a:rPr>
              <a:t>Exposição de </a:t>
            </a:r>
            <a:r>
              <a:rPr lang="pt-PT" altLang="es-ES" sz="1550" i="1" dirty="0" err="1">
                <a:solidFill>
                  <a:schemeClr val="tx1"/>
                </a:solidFill>
              </a:rPr>
              <a:t>API’s</a:t>
            </a:r>
            <a:r>
              <a:rPr lang="pt-PT" altLang="es-ES" sz="1550" i="1" dirty="0">
                <a:solidFill>
                  <a:schemeClr val="tx1"/>
                </a:solidFill>
              </a:rPr>
              <a:t> em </a:t>
            </a:r>
            <a:r>
              <a:rPr lang="pt-PT" altLang="es-ES" sz="1550" i="1" dirty="0" err="1">
                <a:solidFill>
                  <a:schemeClr val="tx1"/>
                </a:solidFill>
              </a:rPr>
              <a:t>gateway</a:t>
            </a:r>
            <a:endParaRPr lang="pt-PT" altLang="es-ES" sz="1550" i="1" dirty="0">
              <a:solidFill>
                <a:schemeClr val="tx1"/>
              </a:solidFill>
            </a:endParaRPr>
          </a:p>
          <a:p>
            <a:pPr marL="1265238" lvl="2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altLang="es-ES" sz="1550" i="1" dirty="0" err="1">
                <a:solidFill>
                  <a:schemeClr val="tx1"/>
                </a:solidFill>
              </a:rPr>
              <a:t>Front-end</a:t>
            </a:r>
            <a:r>
              <a:rPr lang="pt-PT" altLang="es-ES" sz="1550" i="1" dirty="0">
                <a:solidFill>
                  <a:schemeClr val="tx1"/>
                </a:solidFill>
              </a:rPr>
              <a:t> Angular 12</a:t>
            </a:r>
          </a:p>
          <a:p>
            <a:pPr marL="1265238" lvl="2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PT" altLang="es-ES" sz="1550" i="1" dirty="0">
                <a:solidFill>
                  <a:schemeClr val="tx1"/>
                </a:solidFill>
              </a:rPr>
              <a:t>Depende dos serviços/</a:t>
            </a:r>
            <a:r>
              <a:rPr lang="pt-PT" altLang="es-ES" sz="1550" i="1" dirty="0" err="1">
                <a:solidFill>
                  <a:schemeClr val="tx1"/>
                </a:solidFill>
              </a:rPr>
              <a:t>Stack</a:t>
            </a:r>
            <a:r>
              <a:rPr lang="pt-PT" altLang="es-ES" sz="1550" i="1" dirty="0">
                <a:solidFill>
                  <a:schemeClr val="tx1"/>
                </a:solidFill>
              </a:rPr>
              <a:t> Core: </a:t>
            </a:r>
            <a:r>
              <a:rPr lang="pt-PT" altLang="es-ES" sz="1550" i="1" dirty="0" err="1">
                <a:solidFill>
                  <a:schemeClr val="tx1"/>
                </a:solidFill>
              </a:rPr>
              <a:t>Security-Service</a:t>
            </a:r>
            <a:r>
              <a:rPr lang="pt-PT" altLang="es-ES" sz="1550" i="1" dirty="0">
                <a:solidFill>
                  <a:schemeClr val="tx1"/>
                </a:solidFill>
              </a:rPr>
              <a:t>, API </a:t>
            </a:r>
            <a:r>
              <a:rPr lang="pt-PT" altLang="es-ES" sz="1550" i="1" dirty="0" err="1">
                <a:solidFill>
                  <a:schemeClr val="tx1"/>
                </a:solidFill>
              </a:rPr>
              <a:t>Connect</a:t>
            </a:r>
            <a:endParaRPr lang="pt-PT" altLang="es-ES" sz="155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86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/>
          <a:lstStyle/>
          <a:p>
            <a:r>
              <a:rPr lang="pt-PT" sz="2400" dirty="0"/>
              <a:t>Informação do projecto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77104" y="827830"/>
            <a:ext cx="5274339" cy="4332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algn="l" eaLnBrk="1" hangingPunct="1">
              <a:lnSpc>
                <a:spcPct val="150000"/>
              </a:lnSpc>
              <a:buClr>
                <a:srgbClr val="FF0000"/>
              </a:buClr>
              <a:buNone/>
            </a:pPr>
            <a:r>
              <a:rPr lang="pt-PT" altLang="es-ES" sz="1400" dirty="0">
                <a:solidFill>
                  <a:schemeClr val="accent1"/>
                </a:solidFill>
                <a:latin typeface="+mn-lt"/>
              </a:rPr>
              <a:t>Generalidades</a:t>
            </a:r>
          </a:p>
          <a:p>
            <a:pPr marL="800100" lvl="2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pt-PT" sz="1200" i="1" dirty="0">
                <a:solidFill>
                  <a:schemeClr val="tx1"/>
                </a:solidFill>
              </a:rPr>
              <a:t>Entidade</a:t>
            </a:r>
            <a:r>
              <a:rPr lang="pt-PT" sz="1200" b="0" i="1" dirty="0">
                <a:solidFill>
                  <a:schemeClr val="tx1"/>
                </a:solidFill>
              </a:rPr>
              <a:t>: Santander</a:t>
            </a:r>
          </a:p>
          <a:p>
            <a:pPr marL="800100" lvl="2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pt-PT" sz="1200" i="1" dirty="0">
                <a:solidFill>
                  <a:schemeClr val="tx1"/>
                </a:solidFill>
              </a:rPr>
              <a:t>Alcance</a:t>
            </a:r>
            <a:r>
              <a:rPr lang="pt-PT" sz="1200" b="0" i="1" dirty="0">
                <a:solidFill>
                  <a:schemeClr val="tx1"/>
                </a:solidFill>
              </a:rPr>
              <a:t> : Local</a:t>
            </a:r>
          </a:p>
          <a:p>
            <a:pPr marL="800100" lvl="2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pt-PT" sz="1200" i="1" dirty="0">
                <a:solidFill>
                  <a:schemeClr val="tx1"/>
                </a:solidFill>
              </a:rPr>
              <a:t>Ambiente</a:t>
            </a:r>
            <a:r>
              <a:rPr lang="pt-PT" sz="1200" b="0" i="1" dirty="0">
                <a:solidFill>
                  <a:schemeClr val="tx1"/>
                </a:solidFill>
              </a:rPr>
              <a:t>: Intranet</a:t>
            </a:r>
          </a:p>
          <a:p>
            <a:pPr marL="800100" lvl="2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pt-PT" sz="1200" i="1" dirty="0">
                <a:solidFill>
                  <a:schemeClr val="tx1"/>
                </a:solidFill>
              </a:rPr>
              <a:t>CIO:  </a:t>
            </a:r>
            <a:r>
              <a:rPr lang="en-US" sz="1200" dirty="0">
                <a:solidFill>
                  <a:schemeClr val="tx1"/>
                </a:solidFill>
              </a:rPr>
              <a:t>João Eduardo Amorim Penas</a:t>
            </a:r>
            <a:endParaRPr lang="pt-PT" sz="1200" i="1" dirty="0">
              <a:solidFill>
                <a:schemeClr val="tx1"/>
              </a:solidFill>
            </a:endParaRPr>
          </a:p>
          <a:p>
            <a:pPr lvl="1" algn="l" eaLnBrk="1" hangingPunct="1">
              <a:lnSpc>
                <a:spcPct val="150000"/>
              </a:lnSpc>
              <a:buClr>
                <a:srgbClr val="FF0000"/>
              </a:buClr>
              <a:buNone/>
            </a:pPr>
            <a:r>
              <a:rPr lang="pt-PT" altLang="es-ES" sz="1400" dirty="0">
                <a:solidFill>
                  <a:srgbClr val="FF0000"/>
                </a:solidFill>
              </a:rPr>
              <a:t>Ambientes requeridos</a:t>
            </a:r>
          </a:p>
          <a:p>
            <a:pPr marL="800100" lvl="2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pt-PT" sz="1200" i="1" dirty="0">
                <a:solidFill>
                  <a:schemeClr val="tx1"/>
                </a:solidFill>
              </a:rPr>
              <a:t>Produção</a:t>
            </a:r>
          </a:p>
          <a:p>
            <a:pPr marL="800100" lvl="2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pt-PT" sz="1200" i="1" dirty="0">
                <a:solidFill>
                  <a:schemeClr val="tx1"/>
                </a:solidFill>
              </a:rPr>
              <a:t>Pré-produção</a:t>
            </a:r>
          </a:p>
          <a:p>
            <a:pPr marL="800100" lvl="2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pt-PT" sz="1200" i="1" dirty="0">
                <a:solidFill>
                  <a:schemeClr val="tx1"/>
                </a:solidFill>
              </a:rPr>
              <a:t>Desenvolvimento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77105" y="5160148"/>
            <a:ext cx="10992653" cy="1166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0">
              <a:lnSpc>
                <a:spcPct val="150000"/>
              </a:lnSpc>
              <a:buClr>
                <a:srgbClr val="FF0000"/>
              </a:buClr>
              <a:buNone/>
              <a:defRPr/>
            </a:pPr>
            <a:r>
              <a:rPr lang="pt-PT" altLang="es-ES" sz="1200" dirty="0">
                <a:solidFill>
                  <a:srgbClr val="FF0000"/>
                </a:solidFill>
              </a:rPr>
              <a:t>Notas</a:t>
            </a:r>
            <a:endParaRPr lang="pt-PT" sz="1050" i="1" dirty="0"/>
          </a:p>
          <a:p>
            <a:pPr marL="800100" lvl="2" algn="just" fontAlgn="base">
              <a:lnSpc>
                <a:spcPct val="150000"/>
              </a:lnSpc>
              <a:spcAft>
                <a:spcPct val="0"/>
              </a:spcAft>
              <a:buClr>
                <a:srgbClr val="FF0000"/>
              </a:buClr>
              <a:buSzPct val="155000"/>
              <a:buFont typeface="Wingdings" pitchFamily="2" charset="2"/>
              <a:buChar char="§"/>
              <a:defRPr/>
            </a:pPr>
            <a:r>
              <a:rPr lang="pt-PT" altLang="es-ES" sz="1100" i="1" dirty="0"/>
              <a:t>Dada a metodologia ágil a aplicar neste projecto (requisitos detalhados a cada sprint), este documento de desenho técnico será actualizado em conformidade ao longo dos diversos sprints sempre que se justifique, sendo que a na primeira versão será identificada a arquitectura técnica macro e os requisitos de mínimos para a dotação da infra-estrutura necessária para o projecto.</a:t>
            </a:r>
          </a:p>
        </p:txBody>
      </p:sp>
    </p:spTree>
    <p:extLst>
      <p:ext uri="{BB962C8B-B14F-4D97-AF65-F5344CB8AC3E}">
        <p14:creationId xmlns:p14="http://schemas.microsoft.com/office/powerpoint/2010/main" val="133720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Solução técnica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27129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roup 144"/>
          <p:cNvGrpSpPr/>
          <p:nvPr/>
        </p:nvGrpSpPr>
        <p:grpSpPr>
          <a:xfrm>
            <a:off x="416118" y="1104544"/>
            <a:ext cx="1225060" cy="998975"/>
            <a:chOff x="2949073" y="839047"/>
            <a:chExt cx="799674" cy="649526"/>
          </a:xfrm>
        </p:grpSpPr>
        <p:pic>
          <p:nvPicPr>
            <p:cNvPr id="146" name="Picture 14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3602" y="839047"/>
              <a:ext cx="717821" cy="649526"/>
            </a:xfrm>
            <a:prstGeom prst="rect">
              <a:avLst/>
            </a:prstGeom>
          </p:spPr>
        </p:pic>
        <p:sp>
          <p:nvSpPr>
            <p:cNvPr id="147" name="Rectangle 2"/>
            <p:cNvSpPr>
              <a:spLocks noChangeArrowheads="1"/>
            </p:cNvSpPr>
            <p:nvPr/>
          </p:nvSpPr>
          <p:spPr bwMode="auto">
            <a:xfrm>
              <a:off x="2949073" y="1025984"/>
              <a:ext cx="799674" cy="29562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none" anchor="t" anchorCtr="1"/>
            <a:lstStyle/>
            <a:p>
              <a:endParaRPr lang="pt-PT" sz="1000" dirty="0"/>
            </a:p>
          </p:txBody>
        </p:sp>
      </p:grpSp>
      <p:sp>
        <p:nvSpPr>
          <p:cNvPr id="74" name="Rectangle 12"/>
          <p:cNvSpPr>
            <a:spLocks noChangeArrowheads="1"/>
          </p:cNvSpPr>
          <p:nvPr/>
        </p:nvSpPr>
        <p:spPr bwMode="auto">
          <a:xfrm>
            <a:off x="4511226" y="71256"/>
            <a:ext cx="2725582" cy="4009658"/>
          </a:xfrm>
          <a:prstGeom prst="rect">
            <a:avLst/>
          </a:prstGeom>
          <a:noFill/>
          <a:ln w="9525" cap="rnd">
            <a:solidFill>
              <a:srgbClr val="00B050"/>
            </a:solidFill>
            <a:prstDash val="sysDot"/>
            <a:miter lim="800000"/>
            <a:headEnd/>
            <a:tailEnd/>
          </a:ln>
        </p:spPr>
        <p:txBody>
          <a:bodyPr anchor="t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PT" sz="1100" b="1" dirty="0" err="1">
                <a:latin typeface="Arial" charset="0"/>
              </a:rPr>
              <a:t>Namespace</a:t>
            </a:r>
            <a:r>
              <a:rPr lang="pt-PT" sz="1100" b="1" dirty="0">
                <a:latin typeface="Arial" charset="0"/>
              </a:rPr>
              <a:t> </a:t>
            </a:r>
            <a:r>
              <a:rPr lang="pt-PT" sz="1100" dirty="0" err="1">
                <a:latin typeface="Santander Text" panose="020B0504020201020104" pitchFamily="34" charset="0"/>
              </a:rPr>
              <a:t>tot-savingsinvestment-spirithelper</a:t>
            </a:r>
            <a:endParaRPr lang="pt-PT" sz="1200" b="1" dirty="0">
              <a:latin typeface="Arial" charset="0"/>
            </a:endParaRPr>
          </a:p>
        </p:txBody>
      </p:sp>
      <p:pic>
        <p:nvPicPr>
          <p:cNvPr id="7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413" y="499126"/>
            <a:ext cx="744846" cy="21300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pic>
      <p:sp>
        <p:nvSpPr>
          <p:cNvPr id="143" name="Rectangle 12"/>
          <p:cNvSpPr>
            <a:spLocks noChangeArrowheads="1"/>
          </p:cNvSpPr>
          <p:nvPr/>
        </p:nvSpPr>
        <p:spPr bwMode="auto">
          <a:xfrm>
            <a:off x="4830234" y="491492"/>
            <a:ext cx="982131" cy="685441"/>
          </a:xfrm>
          <a:prstGeom prst="pentagon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b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 err="1">
                <a:latin typeface="Arial" charset="0"/>
              </a:rPr>
              <a:t>Private</a:t>
            </a:r>
            <a:r>
              <a:rPr lang="pt-PT" sz="900" dirty="0">
                <a:latin typeface="Arial" charset="0"/>
              </a:rPr>
              <a:t> </a:t>
            </a:r>
            <a:br>
              <a:rPr lang="pt-PT" sz="900" dirty="0">
                <a:latin typeface="Arial" charset="0"/>
              </a:rPr>
            </a:br>
            <a:r>
              <a:rPr lang="pt-PT" sz="900" dirty="0" err="1">
                <a:latin typeface="Arial" charset="0"/>
              </a:rPr>
              <a:t>Helper</a:t>
            </a:r>
            <a:endParaRPr lang="pt-PT" sz="900" dirty="0">
              <a:latin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>
                <a:latin typeface="Arial" charset="0"/>
              </a:rPr>
              <a:t>[Nginx]</a:t>
            </a:r>
          </a:p>
        </p:txBody>
      </p:sp>
      <p:pic>
        <p:nvPicPr>
          <p:cNvPr id="148" name="Picture 2" descr="C:\Users\i090064\AppData\Local\Microsoft\Windows\Temporary Internet Files\Content.IE5\GAF0PWD6\User_icon_2.svg[1].png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61" y="1664022"/>
            <a:ext cx="476672" cy="4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1" name="Group 150"/>
          <p:cNvGrpSpPr/>
          <p:nvPr/>
        </p:nvGrpSpPr>
        <p:grpSpPr>
          <a:xfrm>
            <a:off x="10624169" y="142091"/>
            <a:ext cx="1548380" cy="2005691"/>
            <a:chOff x="10624169" y="142091"/>
            <a:chExt cx="1548380" cy="2005691"/>
          </a:xfrm>
        </p:grpSpPr>
        <p:sp>
          <p:nvSpPr>
            <p:cNvPr id="152" name="Rectangle 2"/>
            <p:cNvSpPr>
              <a:spLocks noChangeArrowheads="1"/>
            </p:cNvSpPr>
            <p:nvPr/>
          </p:nvSpPr>
          <p:spPr bwMode="auto">
            <a:xfrm>
              <a:off x="10724297" y="445930"/>
              <a:ext cx="310852" cy="220991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 anchorCtr="1"/>
            <a:lstStyle/>
            <a:p>
              <a:pPr algn="ctr"/>
              <a:r>
                <a:rPr lang="pt-PT" sz="800" b="0" u="none" dirty="0"/>
                <a:t>~</a:t>
              </a:r>
            </a:p>
          </p:txBody>
        </p:sp>
        <p:sp>
          <p:nvSpPr>
            <p:cNvPr id="153" name="Rectangle 2"/>
            <p:cNvSpPr>
              <a:spLocks noChangeArrowheads="1"/>
            </p:cNvSpPr>
            <p:nvPr/>
          </p:nvSpPr>
          <p:spPr bwMode="auto">
            <a:xfrm>
              <a:off x="10724297" y="731702"/>
              <a:ext cx="310852" cy="220991"/>
            </a:xfrm>
            <a:prstGeom prst="rect">
              <a:avLst/>
            </a:prstGeom>
            <a:solidFill>
              <a:srgbClr val="C00000">
                <a:alpha val="10000"/>
              </a:srgbClr>
            </a:solidFill>
            <a:ln w="12700" algn="ctr">
              <a:solidFill>
                <a:srgbClr val="C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PT" sz="1100" dirty="0">
                  <a:latin typeface="Arial" charset="0"/>
                </a:rPr>
                <a:t>~</a:t>
              </a:r>
            </a:p>
          </p:txBody>
        </p:sp>
        <p:sp>
          <p:nvSpPr>
            <p:cNvPr id="154" name="Rectangle 59"/>
            <p:cNvSpPr>
              <a:spLocks noChangeArrowheads="1"/>
            </p:cNvSpPr>
            <p:nvPr/>
          </p:nvSpPr>
          <p:spPr bwMode="auto">
            <a:xfrm>
              <a:off x="11109917" y="217711"/>
              <a:ext cx="1062632" cy="1220993"/>
            </a:xfrm>
            <a:prstGeom prst="rect">
              <a:avLst/>
            </a:prstGeom>
            <a:noFill/>
            <a:ln w="9525" cap="rnd">
              <a:noFill/>
              <a:prstDash val="sysDot"/>
              <a:miter lim="800000"/>
              <a:headEnd/>
              <a:tailEnd/>
            </a:ln>
          </p:spPr>
          <p:txBody>
            <a:bodyPr lIns="0" tIns="0" rIns="0" bIns="0" anchor="t"/>
            <a:lstStyle/>
            <a:p>
              <a:pPr algn="l">
                <a:defRPr/>
              </a:pPr>
              <a:r>
                <a:rPr lang="pt-PT" sz="800" b="0" dirty="0" err="1"/>
                <a:t>PaaS</a:t>
              </a:r>
              <a:r>
                <a:rPr lang="pt-PT" sz="800" b="0" dirty="0"/>
                <a:t> 2.0 Deployment</a:t>
              </a:r>
            </a:p>
            <a:p>
              <a:pPr algn="l">
                <a:defRPr/>
              </a:pPr>
              <a:endParaRPr lang="pt-PT" sz="800" b="0" dirty="0"/>
            </a:p>
            <a:p>
              <a:pPr algn="l">
                <a:defRPr/>
              </a:pPr>
              <a:endParaRPr lang="pt-PT" sz="800" b="0" dirty="0"/>
            </a:p>
            <a:p>
              <a:pPr algn="l">
                <a:defRPr/>
              </a:pPr>
              <a:r>
                <a:rPr lang="pt-PT" sz="800" b="0" dirty="0"/>
                <a:t>Existente</a:t>
              </a:r>
            </a:p>
            <a:p>
              <a:pPr algn="l">
                <a:defRPr/>
              </a:pPr>
              <a:endParaRPr lang="pt-PT" sz="800" b="0" u="none" dirty="0"/>
            </a:p>
            <a:p>
              <a:pPr algn="l">
                <a:defRPr/>
              </a:pPr>
              <a:r>
                <a:rPr lang="pt-PT" sz="800" b="0" dirty="0"/>
                <a:t>Novo</a:t>
              </a:r>
            </a:p>
            <a:p>
              <a:pPr algn="l">
                <a:defRPr/>
              </a:pPr>
              <a:endParaRPr lang="pt-PT" sz="800" u="none" dirty="0"/>
            </a:p>
            <a:p>
              <a:pPr algn="l">
                <a:defRPr/>
              </a:pPr>
              <a:r>
                <a:rPr lang="pt-PT" sz="800" b="0" dirty="0"/>
                <a:t>Spring Framework</a:t>
              </a:r>
            </a:p>
            <a:p>
              <a:pPr algn="l">
                <a:defRPr/>
              </a:pPr>
              <a:endParaRPr lang="pt-PT" sz="800" dirty="0"/>
            </a:p>
            <a:p>
              <a:pPr algn="l">
                <a:defRPr/>
              </a:pPr>
              <a:r>
                <a:rPr lang="pt-PT" sz="800" b="0" dirty="0"/>
                <a:t>Ecossistema</a:t>
              </a:r>
            </a:p>
            <a:p>
              <a:pPr algn="l">
                <a:defRPr/>
              </a:pPr>
              <a:endParaRPr lang="pt-PT" sz="800" dirty="0"/>
            </a:p>
            <a:p>
              <a:pPr algn="l">
                <a:defRPr/>
              </a:pPr>
              <a:endParaRPr lang="pt-PT" sz="800" b="0" dirty="0"/>
            </a:p>
            <a:p>
              <a:pPr algn="l">
                <a:defRPr/>
              </a:pPr>
              <a:r>
                <a:rPr lang="pt-PT" sz="800" dirty="0"/>
                <a:t>Internet</a:t>
              </a:r>
              <a:endParaRPr lang="pt-PT" sz="800" b="0" dirty="0"/>
            </a:p>
          </p:txBody>
        </p:sp>
        <p:cxnSp>
          <p:nvCxnSpPr>
            <p:cNvPr id="155" name="Straight Connector 154"/>
            <p:cNvCxnSpPr/>
            <p:nvPr/>
          </p:nvCxnSpPr>
          <p:spPr bwMode="auto">
            <a:xfrm>
              <a:off x="10624169" y="191016"/>
              <a:ext cx="0" cy="1956766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162" name="Picture 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55639" y="1000887"/>
              <a:ext cx="248169" cy="248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6" name="Picture 3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9700" b="1591"/>
            <a:stretch/>
          </p:blipFill>
          <p:spPr bwMode="auto">
            <a:xfrm>
              <a:off x="10746999" y="142091"/>
              <a:ext cx="288150" cy="267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8" name="Rectangle 2"/>
            <p:cNvSpPr>
              <a:spLocks noChangeArrowheads="1"/>
            </p:cNvSpPr>
            <p:nvPr/>
          </p:nvSpPr>
          <p:spPr bwMode="auto">
            <a:xfrm>
              <a:off x="10727163" y="1272407"/>
              <a:ext cx="310852" cy="220991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 w="12700" algn="ctr">
              <a:solidFill>
                <a:schemeClr val="tx2"/>
              </a:solidFill>
              <a:prstDash val="sysDash"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PT" sz="1100" dirty="0">
                  <a:solidFill>
                    <a:schemeClr val="bg1">
                      <a:lumMod val="50000"/>
                    </a:schemeClr>
                  </a:solidFill>
                  <a:latin typeface="Arial" charset="0"/>
                </a:rPr>
                <a:t>~</a:t>
              </a:r>
            </a:p>
          </p:txBody>
        </p:sp>
      </p:grpSp>
      <p:sp>
        <p:nvSpPr>
          <p:cNvPr id="84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 txBox="1">
            <a:spLocks/>
          </p:cNvSpPr>
          <p:nvPr/>
        </p:nvSpPr>
        <p:spPr>
          <a:xfrm>
            <a:off x="24892" y="92022"/>
            <a:ext cx="4000588" cy="822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Tx/>
              <a:buNone/>
              <a:defRPr sz="1100"/>
            </a:lvl2pPr>
            <a:lvl3pPr indent="0">
              <a:lnSpc>
                <a:spcPct val="90000"/>
              </a:lnSpc>
              <a:spcBef>
                <a:spcPts val="500"/>
              </a:spcBef>
              <a:buFontTx/>
              <a:buNone/>
              <a:defRPr sz="1050"/>
            </a:lvl3pPr>
            <a:lvl4pPr indent="0">
              <a:lnSpc>
                <a:spcPct val="90000"/>
              </a:lnSpc>
              <a:spcBef>
                <a:spcPts val="500"/>
              </a:spcBef>
              <a:buFontTx/>
              <a:buNone/>
              <a:defRPr sz="1000"/>
            </a:lvl4pPr>
            <a:lvl5pPr indent="0">
              <a:lnSpc>
                <a:spcPct val="90000"/>
              </a:lnSpc>
              <a:spcBef>
                <a:spcPts val="500"/>
              </a:spcBef>
              <a:buFontTx/>
              <a:buNone/>
              <a:defRPr sz="1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pt-PT" dirty="0"/>
              <a:t>Arquitectura da Solução – </a:t>
            </a:r>
          </a:p>
          <a:p>
            <a:r>
              <a:rPr lang="pt-PT" dirty="0"/>
              <a:t>Contratação Automática</a:t>
            </a:r>
          </a:p>
        </p:txBody>
      </p:sp>
      <p:sp>
        <p:nvSpPr>
          <p:cNvPr id="93" name="Rectangle 12"/>
          <p:cNvSpPr>
            <a:spLocks noChangeArrowheads="1"/>
          </p:cNvSpPr>
          <p:nvPr/>
        </p:nvSpPr>
        <p:spPr bwMode="auto">
          <a:xfrm>
            <a:off x="4751149" y="1535605"/>
            <a:ext cx="1053150" cy="747036"/>
          </a:xfrm>
          <a:custGeom>
            <a:avLst/>
            <a:gdLst>
              <a:gd name="connsiteX0" fmla="*/ 0 w 803755"/>
              <a:gd name="connsiteY0" fmla="*/ 316501 h 633002"/>
              <a:gd name="connsiteX1" fmla="*/ 158251 w 803755"/>
              <a:gd name="connsiteY1" fmla="*/ 0 h 633002"/>
              <a:gd name="connsiteX2" fmla="*/ 645505 w 803755"/>
              <a:gd name="connsiteY2" fmla="*/ 0 h 633002"/>
              <a:gd name="connsiteX3" fmla="*/ 803755 w 803755"/>
              <a:gd name="connsiteY3" fmla="*/ 316501 h 633002"/>
              <a:gd name="connsiteX4" fmla="*/ 645505 w 803755"/>
              <a:gd name="connsiteY4" fmla="*/ 633002 h 633002"/>
              <a:gd name="connsiteX5" fmla="*/ 158251 w 803755"/>
              <a:gd name="connsiteY5" fmla="*/ 633002 h 633002"/>
              <a:gd name="connsiteX6" fmla="*/ 0 w 803755"/>
              <a:gd name="connsiteY6" fmla="*/ 316501 h 633002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158251 w 803755"/>
              <a:gd name="connsiteY6" fmla="*/ 635168 h 635168"/>
              <a:gd name="connsiteX7" fmla="*/ 0 w 803755"/>
              <a:gd name="connsiteY7" fmla="*/ 318667 h 635168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381666 w 803755"/>
              <a:gd name="connsiteY6" fmla="*/ 627797 h 635168"/>
              <a:gd name="connsiteX7" fmla="*/ 158251 w 803755"/>
              <a:gd name="connsiteY7" fmla="*/ 635168 h 635168"/>
              <a:gd name="connsiteX8" fmla="*/ 0 w 803755"/>
              <a:gd name="connsiteY8" fmla="*/ 318667 h 635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3755" h="635168">
                <a:moveTo>
                  <a:pt x="0" y="318667"/>
                </a:moveTo>
                <a:lnTo>
                  <a:pt x="158251" y="2166"/>
                </a:lnTo>
                <a:lnTo>
                  <a:pt x="395313" y="0"/>
                </a:lnTo>
                <a:lnTo>
                  <a:pt x="645505" y="2166"/>
                </a:lnTo>
                <a:lnTo>
                  <a:pt x="803755" y="318667"/>
                </a:lnTo>
                <a:lnTo>
                  <a:pt x="645505" y="635168"/>
                </a:lnTo>
                <a:lnTo>
                  <a:pt x="381666" y="627797"/>
                </a:lnTo>
                <a:lnTo>
                  <a:pt x="158251" y="635168"/>
                </a:lnTo>
                <a:lnTo>
                  <a:pt x="0" y="318667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>
                <a:latin typeface="Arial" charset="0"/>
              </a:rPr>
              <a:t>MS </a:t>
            </a:r>
            <a:br>
              <a:rPr lang="pt-PT" sz="900" dirty="0">
                <a:latin typeface="Arial" charset="0"/>
              </a:rPr>
            </a:br>
            <a:r>
              <a:rPr lang="pt-PT" sz="900" dirty="0" err="1">
                <a:latin typeface="Arial" charset="0"/>
              </a:rPr>
              <a:t>Private</a:t>
            </a:r>
            <a:r>
              <a:rPr lang="pt-PT" sz="900" dirty="0">
                <a:latin typeface="Arial" charset="0"/>
              </a:rPr>
              <a:t> </a:t>
            </a:r>
            <a:r>
              <a:rPr lang="pt-PT" sz="900" dirty="0" err="1">
                <a:latin typeface="Arial" charset="0"/>
              </a:rPr>
              <a:t>Helper</a:t>
            </a:r>
            <a:endParaRPr lang="pt-PT" sz="900" dirty="0">
              <a:latin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PT" sz="900" dirty="0">
              <a:latin typeface="Arial" charset="0"/>
            </a:endParaRPr>
          </a:p>
        </p:txBody>
      </p:sp>
      <p:sp>
        <p:nvSpPr>
          <p:cNvPr id="123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7686" y="6492875"/>
            <a:ext cx="384313" cy="365125"/>
          </a:xfrm>
        </p:spPr>
        <p:txBody>
          <a:bodyPr vert="horz" lIns="91440" tIns="45720" rIns="91440" bIns="45720" rtlCol="0" anchor="ctr"/>
          <a:lstStyle/>
          <a:p>
            <a:r>
              <a:rPr lang="pt-PT" sz="1300" dirty="0">
                <a:solidFill>
                  <a:schemeClr val="accent1"/>
                </a:solidFill>
              </a:rPr>
              <a:t>11</a:t>
            </a:r>
          </a:p>
        </p:txBody>
      </p:sp>
      <p:cxnSp>
        <p:nvCxnSpPr>
          <p:cNvPr id="3" name="Elbow Connector 2"/>
          <p:cNvCxnSpPr>
            <a:stCxn id="146" idx="3"/>
            <a:endCxn id="143" idx="1"/>
          </p:cNvCxnSpPr>
          <p:nvPr/>
        </p:nvCxnSpPr>
        <p:spPr>
          <a:xfrm flipV="1">
            <a:off x="1614638" y="753306"/>
            <a:ext cx="3215597" cy="850726"/>
          </a:xfrm>
          <a:prstGeom prst="bentConnector3">
            <a:avLst>
              <a:gd name="adj1" fmla="val 6018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12"/>
          <p:cNvSpPr>
            <a:spLocks noChangeArrowheads="1"/>
          </p:cNvSpPr>
          <p:nvPr/>
        </p:nvSpPr>
        <p:spPr bwMode="auto">
          <a:xfrm>
            <a:off x="3593373" y="4768538"/>
            <a:ext cx="1053150" cy="747036"/>
          </a:xfrm>
          <a:custGeom>
            <a:avLst/>
            <a:gdLst>
              <a:gd name="connsiteX0" fmla="*/ 0 w 803755"/>
              <a:gd name="connsiteY0" fmla="*/ 316501 h 633002"/>
              <a:gd name="connsiteX1" fmla="*/ 158251 w 803755"/>
              <a:gd name="connsiteY1" fmla="*/ 0 h 633002"/>
              <a:gd name="connsiteX2" fmla="*/ 645505 w 803755"/>
              <a:gd name="connsiteY2" fmla="*/ 0 h 633002"/>
              <a:gd name="connsiteX3" fmla="*/ 803755 w 803755"/>
              <a:gd name="connsiteY3" fmla="*/ 316501 h 633002"/>
              <a:gd name="connsiteX4" fmla="*/ 645505 w 803755"/>
              <a:gd name="connsiteY4" fmla="*/ 633002 h 633002"/>
              <a:gd name="connsiteX5" fmla="*/ 158251 w 803755"/>
              <a:gd name="connsiteY5" fmla="*/ 633002 h 633002"/>
              <a:gd name="connsiteX6" fmla="*/ 0 w 803755"/>
              <a:gd name="connsiteY6" fmla="*/ 316501 h 633002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158251 w 803755"/>
              <a:gd name="connsiteY6" fmla="*/ 635168 h 635168"/>
              <a:gd name="connsiteX7" fmla="*/ 0 w 803755"/>
              <a:gd name="connsiteY7" fmla="*/ 318667 h 635168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381666 w 803755"/>
              <a:gd name="connsiteY6" fmla="*/ 627797 h 635168"/>
              <a:gd name="connsiteX7" fmla="*/ 158251 w 803755"/>
              <a:gd name="connsiteY7" fmla="*/ 635168 h 635168"/>
              <a:gd name="connsiteX8" fmla="*/ 0 w 803755"/>
              <a:gd name="connsiteY8" fmla="*/ 318667 h 635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3755" h="635168">
                <a:moveTo>
                  <a:pt x="0" y="318667"/>
                </a:moveTo>
                <a:lnTo>
                  <a:pt x="158251" y="2166"/>
                </a:lnTo>
                <a:lnTo>
                  <a:pt x="395313" y="0"/>
                </a:lnTo>
                <a:lnTo>
                  <a:pt x="645505" y="2166"/>
                </a:lnTo>
                <a:lnTo>
                  <a:pt x="803755" y="318667"/>
                </a:lnTo>
                <a:lnTo>
                  <a:pt x="645505" y="635168"/>
                </a:lnTo>
                <a:lnTo>
                  <a:pt x="381666" y="627797"/>
                </a:lnTo>
                <a:lnTo>
                  <a:pt x="158251" y="635168"/>
                </a:lnTo>
                <a:lnTo>
                  <a:pt x="0" y="318667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 err="1">
                <a:latin typeface="Arial" charset="0"/>
              </a:rPr>
              <a:t>API’s</a:t>
            </a:r>
            <a:r>
              <a:rPr lang="pt-PT" sz="900" dirty="0">
                <a:latin typeface="Arial" charset="0"/>
              </a:rPr>
              <a:t> de </a:t>
            </a:r>
            <a:br>
              <a:rPr lang="pt-PT" sz="900" dirty="0">
                <a:latin typeface="Arial" charset="0"/>
              </a:rPr>
            </a:br>
            <a:r>
              <a:rPr lang="pt-PT" sz="900" dirty="0">
                <a:latin typeface="Arial" charset="0"/>
              </a:rPr>
              <a:t>Contratação</a:t>
            </a:r>
          </a:p>
        </p:txBody>
      </p:sp>
      <p:sp>
        <p:nvSpPr>
          <p:cNvPr id="95" name="Rectangle 12"/>
          <p:cNvSpPr>
            <a:spLocks noChangeArrowheads="1"/>
          </p:cNvSpPr>
          <p:nvPr/>
        </p:nvSpPr>
        <p:spPr bwMode="auto">
          <a:xfrm>
            <a:off x="4751149" y="2305900"/>
            <a:ext cx="1053151" cy="747036"/>
          </a:xfrm>
          <a:custGeom>
            <a:avLst/>
            <a:gdLst>
              <a:gd name="connsiteX0" fmla="*/ 0 w 803755"/>
              <a:gd name="connsiteY0" fmla="*/ 316501 h 633002"/>
              <a:gd name="connsiteX1" fmla="*/ 158251 w 803755"/>
              <a:gd name="connsiteY1" fmla="*/ 0 h 633002"/>
              <a:gd name="connsiteX2" fmla="*/ 645505 w 803755"/>
              <a:gd name="connsiteY2" fmla="*/ 0 h 633002"/>
              <a:gd name="connsiteX3" fmla="*/ 803755 w 803755"/>
              <a:gd name="connsiteY3" fmla="*/ 316501 h 633002"/>
              <a:gd name="connsiteX4" fmla="*/ 645505 w 803755"/>
              <a:gd name="connsiteY4" fmla="*/ 633002 h 633002"/>
              <a:gd name="connsiteX5" fmla="*/ 158251 w 803755"/>
              <a:gd name="connsiteY5" fmla="*/ 633002 h 633002"/>
              <a:gd name="connsiteX6" fmla="*/ 0 w 803755"/>
              <a:gd name="connsiteY6" fmla="*/ 316501 h 633002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158251 w 803755"/>
              <a:gd name="connsiteY6" fmla="*/ 635168 h 635168"/>
              <a:gd name="connsiteX7" fmla="*/ 0 w 803755"/>
              <a:gd name="connsiteY7" fmla="*/ 318667 h 635168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381666 w 803755"/>
              <a:gd name="connsiteY6" fmla="*/ 627797 h 635168"/>
              <a:gd name="connsiteX7" fmla="*/ 158251 w 803755"/>
              <a:gd name="connsiteY7" fmla="*/ 635168 h 635168"/>
              <a:gd name="connsiteX8" fmla="*/ 0 w 803755"/>
              <a:gd name="connsiteY8" fmla="*/ 318667 h 635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3755" h="635168">
                <a:moveTo>
                  <a:pt x="0" y="318667"/>
                </a:moveTo>
                <a:lnTo>
                  <a:pt x="158251" y="2166"/>
                </a:lnTo>
                <a:lnTo>
                  <a:pt x="395313" y="0"/>
                </a:lnTo>
                <a:lnTo>
                  <a:pt x="645505" y="2166"/>
                </a:lnTo>
                <a:lnTo>
                  <a:pt x="803755" y="318667"/>
                </a:lnTo>
                <a:lnTo>
                  <a:pt x="645505" y="635168"/>
                </a:lnTo>
                <a:lnTo>
                  <a:pt x="381666" y="627797"/>
                </a:lnTo>
                <a:lnTo>
                  <a:pt x="158251" y="635168"/>
                </a:lnTo>
                <a:lnTo>
                  <a:pt x="0" y="318667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>
                <a:latin typeface="Arial" charset="0"/>
              </a:rPr>
              <a:t>API</a:t>
            </a:r>
            <a:br>
              <a:rPr lang="pt-PT" sz="900" dirty="0">
                <a:latin typeface="Arial" charset="0"/>
              </a:rPr>
            </a:br>
            <a:r>
              <a:rPr lang="pt-PT" sz="900" dirty="0">
                <a:latin typeface="Arial" charset="0"/>
              </a:rPr>
              <a:t>Propostas</a:t>
            </a:r>
            <a:br>
              <a:rPr lang="pt-PT" sz="900" dirty="0">
                <a:latin typeface="Arial" charset="0"/>
              </a:rPr>
            </a:br>
            <a:r>
              <a:rPr lang="pt-PT" sz="900" dirty="0" err="1">
                <a:latin typeface="Arial" charset="0"/>
              </a:rPr>
              <a:t>Private</a:t>
            </a:r>
            <a:endParaRPr lang="pt-PT" sz="900" dirty="0">
              <a:latin typeface="Arial" charset="0"/>
            </a:endParaRPr>
          </a:p>
        </p:txBody>
      </p:sp>
      <p:sp>
        <p:nvSpPr>
          <p:cNvPr id="19" name="Flowchart: Magnetic Disk 18"/>
          <p:cNvSpPr/>
          <p:nvPr/>
        </p:nvSpPr>
        <p:spPr>
          <a:xfrm>
            <a:off x="2575025" y="5835576"/>
            <a:ext cx="856649" cy="938586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PT" sz="1000" dirty="0">
                <a:solidFill>
                  <a:schemeClr val="tx1"/>
                </a:solidFill>
              </a:rPr>
              <a:t>Oracle </a:t>
            </a:r>
          </a:p>
          <a:p>
            <a:pPr algn="ctr"/>
            <a:r>
              <a:rPr lang="pt-PT" sz="1000" dirty="0">
                <a:solidFill>
                  <a:schemeClr val="tx1"/>
                </a:solidFill>
              </a:rPr>
              <a:t>BD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586" y="1510565"/>
            <a:ext cx="476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 err="1"/>
              <a:t>Spirit</a:t>
            </a:r>
            <a:endParaRPr lang="pt-PT" sz="1000" dirty="0"/>
          </a:p>
        </p:txBody>
      </p:sp>
      <p:sp>
        <p:nvSpPr>
          <p:cNvPr id="48" name="Rectangle 12"/>
          <p:cNvSpPr>
            <a:spLocks noChangeArrowheads="1"/>
          </p:cNvSpPr>
          <p:nvPr/>
        </p:nvSpPr>
        <p:spPr bwMode="auto">
          <a:xfrm>
            <a:off x="2455097" y="4759950"/>
            <a:ext cx="1053150" cy="747036"/>
          </a:xfrm>
          <a:custGeom>
            <a:avLst/>
            <a:gdLst>
              <a:gd name="connsiteX0" fmla="*/ 0 w 803755"/>
              <a:gd name="connsiteY0" fmla="*/ 316501 h 633002"/>
              <a:gd name="connsiteX1" fmla="*/ 158251 w 803755"/>
              <a:gd name="connsiteY1" fmla="*/ 0 h 633002"/>
              <a:gd name="connsiteX2" fmla="*/ 645505 w 803755"/>
              <a:gd name="connsiteY2" fmla="*/ 0 h 633002"/>
              <a:gd name="connsiteX3" fmla="*/ 803755 w 803755"/>
              <a:gd name="connsiteY3" fmla="*/ 316501 h 633002"/>
              <a:gd name="connsiteX4" fmla="*/ 645505 w 803755"/>
              <a:gd name="connsiteY4" fmla="*/ 633002 h 633002"/>
              <a:gd name="connsiteX5" fmla="*/ 158251 w 803755"/>
              <a:gd name="connsiteY5" fmla="*/ 633002 h 633002"/>
              <a:gd name="connsiteX6" fmla="*/ 0 w 803755"/>
              <a:gd name="connsiteY6" fmla="*/ 316501 h 633002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158251 w 803755"/>
              <a:gd name="connsiteY6" fmla="*/ 635168 h 635168"/>
              <a:gd name="connsiteX7" fmla="*/ 0 w 803755"/>
              <a:gd name="connsiteY7" fmla="*/ 318667 h 635168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381666 w 803755"/>
              <a:gd name="connsiteY6" fmla="*/ 627797 h 635168"/>
              <a:gd name="connsiteX7" fmla="*/ 158251 w 803755"/>
              <a:gd name="connsiteY7" fmla="*/ 635168 h 635168"/>
              <a:gd name="connsiteX8" fmla="*/ 0 w 803755"/>
              <a:gd name="connsiteY8" fmla="*/ 318667 h 635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3755" h="635168">
                <a:moveTo>
                  <a:pt x="0" y="318667"/>
                </a:moveTo>
                <a:lnTo>
                  <a:pt x="158251" y="2166"/>
                </a:lnTo>
                <a:lnTo>
                  <a:pt x="395313" y="0"/>
                </a:lnTo>
                <a:lnTo>
                  <a:pt x="645505" y="2166"/>
                </a:lnTo>
                <a:lnTo>
                  <a:pt x="803755" y="318667"/>
                </a:lnTo>
                <a:lnTo>
                  <a:pt x="645505" y="635168"/>
                </a:lnTo>
                <a:lnTo>
                  <a:pt x="381666" y="627797"/>
                </a:lnTo>
                <a:lnTo>
                  <a:pt x="158251" y="635168"/>
                </a:lnTo>
                <a:lnTo>
                  <a:pt x="0" y="318667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>
                <a:latin typeface="Arial" charset="0"/>
              </a:rPr>
              <a:t>API </a:t>
            </a:r>
            <a:br>
              <a:rPr lang="pt-PT" sz="900" dirty="0">
                <a:latin typeface="Arial" charset="0"/>
              </a:rPr>
            </a:br>
            <a:r>
              <a:rPr lang="pt-PT" sz="900" dirty="0" err="1">
                <a:latin typeface="Arial" charset="0"/>
              </a:rPr>
              <a:t>Private</a:t>
            </a:r>
            <a:r>
              <a:rPr lang="pt-PT" sz="900" dirty="0">
                <a:latin typeface="Arial" charset="0"/>
              </a:rPr>
              <a:t> </a:t>
            </a:r>
            <a:br>
              <a:rPr lang="pt-PT" sz="900" dirty="0">
                <a:latin typeface="Arial" charset="0"/>
              </a:rPr>
            </a:br>
            <a:r>
              <a:rPr lang="pt-PT" sz="900" dirty="0" err="1">
                <a:latin typeface="Arial" charset="0"/>
              </a:rPr>
              <a:t>Helper</a:t>
            </a:r>
            <a:endParaRPr lang="pt-PT" sz="900" dirty="0">
              <a:latin typeface="Arial" charset="0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3099307" y="1718921"/>
            <a:ext cx="480655" cy="1541423"/>
            <a:chOff x="1664058" y="1642054"/>
            <a:chExt cx="480655" cy="1197447"/>
          </a:xfrm>
          <a:solidFill>
            <a:schemeClr val="bg1"/>
          </a:solidFill>
        </p:grpSpPr>
        <p:sp>
          <p:nvSpPr>
            <p:cNvPr id="59" name="Rectangle 12"/>
            <p:cNvSpPr>
              <a:spLocks noChangeArrowheads="1"/>
            </p:cNvSpPr>
            <p:nvPr/>
          </p:nvSpPr>
          <p:spPr bwMode="auto">
            <a:xfrm>
              <a:off x="1696988" y="1711415"/>
              <a:ext cx="356510" cy="1128086"/>
            </a:xfrm>
            <a:prstGeom prst="rect">
              <a:avLst/>
            </a:prstGeom>
            <a:grpFill/>
            <a:ln w="9525" cap="rnd">
              <a:solidFill>
                <a:schemeClr val="accent4"/>
              </a:solidFill>
              <a:prstDash val="sysDot"/>
              <a:miter lim="800000"/>
              <a:headEnd/>
              <a:tailEnd/>
            </a:ln>
          </p:spPr>
          <p:txBody>
            <a:bodyPr vert="vert270" anchor="t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-PT" sz="1100" dirty="0" err="1">
                  <a:latin typeface="Arial" charset="0"/>
                </a:rPr>
                <a:t>Internal</a:t>
              </a:r>
              <a:r>
                <a:rPr lang="pt-PT" sz="1100" dirty="0">
                  <a:latin typeface="Arial" charset="0"/>
                </a:rPr>
                <a:t> </a:t>
              </a:r>
              <a:r>
                <a:rPr lang="pt-PT" sz="1100" dirty="0" err="1">
                  <a:latin typeface="Arial" charset="0"/>
                </a:rPr>
                <a:t>Client</a:t>
              </a:r>
              <a:endParaRPr lang="pt-PT" sz="1100" dirty="0">
                <a:latin typeface="Arial" charset="0"/>
              </a:endParaRPr>
            </a:p>
          </p:txBody>
        </p:sp>
        <p:pic>
          <p:nvPicPr>
            <p:cNvPr id="60" name="Picture 1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4058" y="1642054"/>
              <a:ext cx="480655" cy="23767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2" name="Straight Arrow Connector 11"/>
          <p:cNvCxnSpPr>
            <a:endCxn id="19" idx="1"/>
          </p:cNvCxnSpPr>
          <p:nvPr/>
        </p:nvCxnSpPr>
        <p:spPr>
          <a:xfrm flipH="1">
            <a:off x="3003350" y="5544708"/>
            <a:ext cx="1" cy="2908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xão em ângulos retos 12"/>
          <p:cNvCxnSpPr>
            <a:cxnSpLocks/>
            <a:endCxn id="48" idx="0"/>
          </p:cNvCxnSpPr>
          <p:nvPr/>
        </p:nvCxnSpPr>
        <p:spPr>
          <a:xfrm rot="16200000" flipH="1">
            <a:off x="1521658" y="4201303"/>
            <a:ext cx="1241630" cy="625248"/>
          </a:xfrm>
          <a:prstGeom prst="bentConnector4">
            <a:avLst>
              <a:gd name="adj1" fmla="val 34907"/>
              <a:gd name="adj2" fmla="val -142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xão em ângulos retos 20"/>
          <p:cNvCxnSpPr>
            <a:cxnSpLocks/>
            <a:endCxn id="54" idx="2"/>
          </p:cNvCxnSpPr>
          <p:nvPr/>
        </p:nvCxnSpPr>
        <p:spPr>
          <a:xfrm>
            <a:off x="1998791" y="4319254"/>
            <a:ext cx="2112556" cy="449284"/>
          </a:xfrm>
          <a:prstGeom prst="bentConnector3">
            <a:avLst>
              <a:gd name="adj1" fmla="val 9964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ângulo 30"/>
          <p:cNvSpPr/>
          <p:nvPr/>
        </p:nvSpPr>
        <p:spPr>
          <a:xfrm>
            <a:off x="7788806" y="760253"/>
            <a:ext cx="1052423" cy="596383"/>
          </a:xfrm>
          <a:prstGeom prst="rect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</a:rPr>
              <a:t>Broker</a:t>
            </a:r>
            <a:br>
              <a:rPr lang="pt-PT" sz="1000" dirty="0">
                <a:solidFill>
                  <a:schemeClr val="tx1"/>
                </a:solidFill>
              </a:rPr>
            </a:br>
            <a:r>
              <a:rPr lang="pt-PT" sz="1000" dirty="0">
                <a:solidFill>
                  <a:schemeClr val="tx1"/>
                </a:solidFill>
              </a:rPr>
              <a:t>Online</a:t>
            </a:r>
          </a:p>
        </p:txBody>
      </p:sp>
      <p:sp>
        <p:nvSpPr>
          <p:cNvPr id="77" name="Rectangle 12"/>
          <p:cNvSpPr>
            <a:spLocks noChangeArrowheads="1"/>
          </p:cNvSpPr>
          <p:nvPr/>
        </p:nvSpPr>
        <p:spPr bwMode="auto">
          <a:xfrm>
            <a:off x="6163878" y="4776301"/>
            <a:ext cx="1053150" cy="747036"/>
          </a:xfrm>
          <a:custGeom>
            <a:avLst/>
            <a:gdLst>
              <a:gd name="connsiteX0" fmla="*/ 0 w 803755"/>
              <a:gd name="connsiteY0" fmla="*/ 316501 h 633002"/>
              <a:gd name="connsiteX1" fmla="*/ 158251 w 803755"/>
              <a:gd name="connsiteY1" fmla="*/ 0 h 633002"/>
              <a:gd name="connsiteX2" fmla="*/ 645505 w 803755"/>
              <a:gd name="connsiteY2" fmla="*/ 0 h 633002"/>
              <a:gd name="connsiteX3" fmla="*/ 803755 w 803755"/>
              <a:gd name="connsiteY3" fmla="*/ 316501 h 633002"/>
              <a:gd name="connsiteX4" fmla="*/ 645505 w 803755"/>
              <a:gd name="connsiteY4" fmla="*/ 633002 h 633002"/>
              <a:gd name="connsiteX5" fmla="*/ 158251 w 803755"/>
              <a:gd name="connsiteY5" fmla="*/ 633002 h 633002"/>
              <a:gd name="connsiteX6" fmla="*/ 0 w 803755"/>
              <a:gd name="connsiteY6" fmla="*/ 316501 h 633002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158251 w 803755"/>
              <a:gd name="connsiteY6" fmla="*/ 635168 h 635168"/>
              <a:gd name="connsiteX7" fmla="*/ 0 w 803755"/>
              <a:gd name="connsiteY7" fmla="*/ 318667 h 635168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381666 w 803755"/>
              <a:gd name="connsiteY6" fmla="*/ 627797 h 635168"/>
              <a:gd name="connsiteX7" fmla="*/ 158251 w 803755"/>
              <a:gd name="connsiteY7" fmla="*/ 635168 h 635168"/>
              <a:gd name="connsiteX8" fmla="*/ 0 w 803755"/>
              <a:gd name="connsiteY8" fmla="*/ 318667 h 635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3755" h="635168">
                <a:moveTo>
                  <a:pt x="0" y="318667"/>
                </a:moveTo>
                <a:lnTo>
                  <a:pt x="158251" y="2166"/>
                </a:lnTo>
                <a:lnTo>
                  <a:pt x="395313" y="0"/>
                </a:lnTo>
                <a:lnTo>
                  <a:pt x="645505" y="2166"/>
                </a:lnTo>
                <a:lnTo>
                  <a:pt x="803755" y="318667"/>
                </a:lnTo>
                <a:lnTo>
                  <a:pt x="645505" y="635168"/>
                </a:lnTo>
                <a:lnTo>
                  <a:pt x="381666" y="627797"/>
                </a:lnTo>
                <a:lnTo>
                  <a:pt x="158251" y="635168"/>
                </a:lnTo>
                <a:lnTo>
                  <a:pt x="0" y="318667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 err="1">
                <a:latin typeface="Arial" charset="0"/>
              </a:rPr>
              <a:t>Token</a:t>
            </a:r>
            <a:r>
              <a:rPr lang="pt-PT" sz="900" dirty="0">
                <a:latin typeface="Arial" charset="0"/>
              </a:rPr>
              <a:t> </a:t>
            </a:r>
            <a:br>
              <a:rPr lang="pt-PT" sz="900" dirty="0">
                <a:latin typeface="Arial" charset="0"/>
              </a:rPr>
            </a:br>
            <a:r>
              <a:rPr lang="pt-PT" sz="900" dirty="0" err="1">
                <a:latin typeface="Arial" charset="0"/>
              </a:rPr>
              <a:t>Generator</a:t>
            </a:r>
            <a:endParaRPr lang="pt-PT" sz="900" dirty="0">
              <a:latin typeface="Arial" charset="0"/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193740" y="832580"/>
            <a:ext cx="6479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700" dirty="0"/>
              <a:t>SSO </a:t>
            </a:r>
            <a:r>
              <a:rPr lang="pt-PT" sz="700" dirty="0" err="1"/>
              <a:t>Token</a:t>
            </a:r>
            <a:endParaRPr lang="pt-PT" sz="700" dirty="0"/>
          </a:p>
        </p:txBody>
      </p:sp>
      <p:sp>
        <p:nvSpPr>
          <p:cNvPr id="98" name="Rectangle 12"/>
          <p:cNvSpPr>
            <a:spLocks noChangeArrowheads="1"/>
          </p:cNvSpPr>
          <p:nvPr/>
        </p:nvSpPr>
        <p:spPr bwMode="auto">
          <a:xfrm>
            <a:off x="4843439" y="4776293"/>
            <a:ext cx="1053151" cy="747036"/>
          </a:xfrm>
          <a:custGeom>
            <a:avLst/>
            <a:gdLst>
              <a:gd name="connsiteX0" fmla="*/ 0 w 803755"/>
              <a:gd name="connsiteY0" fmla="*/ 316501 h 633002"/>
              <a:gd name="connsiteX1" fmla="*/ 158251 w 803755"/>
              <a:gd name="connsiteY1" fmla="*/ 0 h 633002"/>
              <a:gd name="connsiteX2" fmla="*/ 645505 w 803755"/>
              <a:gd name="connsiteY2" fmla="*/ 0 h 633002"/>
              <a:gd name="connsiteX3" fmla="*/ 803755 w 803755"/>
              <a:gd name="connsiteY3" fmla="*/ 316501 h 633002"/>
              <a:gd name="connsiteX4" fmla="*/ 645505 w 803755"/>
              <a:gd name="connsiteY4" fmla="*/ 633002 h 633002"/>
              <a:gd name="connsiteX5" fmla="*/ 158251 w 803755"/>
              <a:gd name="connsiteY5" fmla="*/ 633002 h 633002"/>
              <a:gd name="connsiteX6" fmla="*/ 0 w 803755"/>
              <a:gd name="connsiteY6" fmla="*/ 316501 h 633002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158251 w 803755"/>
              <a:gd name="connsiteY6" fmla="*/ 635168 h 635168"/>
              <a:gd name="connsiteX7" fmla="*/ 0 w 803755"/>
              <a:gd name="connsiteY7" fmla="*/ 318667 h 635168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381666 w 803755"/>
              <a:gd name="connsiteY6" fmla="*/ 627797 h 635168"/>
              <a:gd name="connsiteX7" fmla="*/ 158251 w 803755"/>
              <a:gd name="connsiteY7" fmla="*/ 635168 h 635168"/>
              <a:gd name="connsiteX8" fmla="*/ 0 w 803755"/>
              <a:gd name="connsiteY8" fmla="*/ 318667 h 635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3755" h="635168">
                <a:moveTo>
                  <a:pt x="0" y="318667"/>
                </a:moveTo>
                <a:lnTo>
                  <a:pt x="158251" y="2166"/>
                </a:lnTo>
                <a:lnTo>
                  <a:pt x="395313" y="0"/>
                </a:lnTo>
                <a:lnTo>
                  <a:pt x="645505" y="2166"/>
                </a:lnTo>
                <a:lnTo>
                  <a:pt x="803755" y="318667"/>
                </a:lnTo>
                <a:lnTo>
                  <a:pt x="645505" y="635168"/>
                </a:lnTo>
                <a:lnTo>
                  <a:pt x="381666" y="627797"/>
                </a:lnTo>
                <a:lnTo>
                  <a:pt x="158251" y="635168"/>
                </a:lnTo>
                <a:lnTo>
                  <a:pt x="0" y="318667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>
                <a:latin typeface="Arial" charset="0"/>
              </a:rPr>
              <a:t>API</a:t>
            </a:r>
            <a:br>
              <a:rPr lang="pt-PT" sz="900" dirty="0">
                <a:latin typeface="Arial" charset="0"/>
              </a:rPr>
            </a:br>
            <a:r>
              <a:rPr lang="pt-PT" sz="900" dirty="0" err="1">
                <a:latin typeface="Arial" charset="0"/>
              </a:rPr>
              <a:t>Terms</a:t>
            </a:r>
            <a:r>
              <a:rPr lang="pt-PT" sz="900" dirty="0">
                <a:latin typeface="Arial" charset="0"/>
              </a:rPr>
              <a:t/>
            </a:r>
            <a:br>
              <a:rPr lang="pt-PT" sz="900" dirty="0">
                <a:latin typeface="Arial" charset="0"/>
              </a:rPr>
            </a:br>
            <a:r>
              <a:rPr lang="pt-PT" sz="900" dirty="0" err="1">
                <a:latin typeface="Arial" charset="0"/>
              </a:rPr>
              <a:t>Desposit</a:t>
            </a:r>
            <a:endParaRPr lang="pt-PT" sz="900" dirty="0">
              <a:latin typeface="Arial" charset="0"/>
            </a:endParaRPr>
          </a:p>
        </p:txBody>
      </p:sp>
      <p:cxnSp>
        <p:nvCxnSpPr>
          <p:cNvPr id="58" name="Conexão em ângulos retos 57"/>
          <p:cNvCxnSpPr>
            <a:cxnSpLocks/>
            <a:endCxn id="98" idx="2"/>
          </p:cNvCxnSpPr>
          <p:nvPr/>
        </p:nvCxnSpPr>
        <p:spPr>
          <a:xfrm rot="16200000" flipH="1">
            <a:off x="2886326" y="2301205"/>
            <a:ext cx="1408743" cy="3541431"/>
          </a:xfrm>
          <a:prstGeom prst="bentConnector4">
            <a:avLst>
              <a:gd name="adj1" fmla="val 67352"/>
              <a:gd name="adj2" fmla="val 9983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2"/>
          <p:cNvSpPr>
            <a:spLocks noChangeArrowheads="1"/>
          </p:cNvSpPr>
          <p:nvPr/>
        </p:nvSpPr>
        <p:spPr bwMode="auto">
          <a:xfrm>
            <a:off x="446595" y="4759946"/>
            <a:ext cx="1053150" cy="747036"/>
          </a:xfrm>
          <a:custGeom>
            <a:avLst/>
            <a:gdLst>
              <a:gd name="connsiteX0" fmla="*/ 0 w 803755"/>
              <a:gd name="connsiteY0" fmla="*/ 316501 h 633002"/>
              <a:gd name="connsiteX1" fmla="*/ 158251 w 803755"/>
              <a:gd name="connsiteY1" fmla="*/ 0 h 633002"/>
              <a:gd name="connsiteX2" fmla="*/ 645505 w 803755"/>
              <a:gd name="connsiteY2" fmla="*/ 0 h 633002"/>
              <a:gd name="connsiteX3" fmla="*/ 803755 w 803755"/>
              <a:gd name="connsiteY3" fmla="*/ 316501 h 633002"/>
              <a:gd name="connsiteX4" fmla="*/ 645505 w 803755"/>
              <a:gd name="connsiteY4" fmla="*/ 633002 h 633002"/>
              <a:gd name="connsiteX5" fmla="*/ 158251 w 803755"/>
              <a:gd name="connsiteY5" fmla="*/ 633002 h 633002"/>
              <a:gd name="connsiteX6" fmla="*/ 0 w 803755"/>
              <a:gd name="connsiteY6" fmla="*/ 316501 h 633002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158251 w 803755"/>
              <a:gd name="connsiteY6" fmla="*/ 635168 h 635168"/>
              <a:gd name="connsiteX7" fmla="*/ 0 w 803755"/>
              <a:gd name="connsiteY7" fmla="*/ 318667 h 635168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381666 w 803755"/>
              <a:gd name="connsiteY6" fmla="*/ 627797 h 635168"/>
              <a:gd name="connsiteX7" fmla="*/ 158251 w 803755"/>
              <a:gd name="connsiteY7" fmla="*/ 635168 h 635168"/>
              <a:gd name="connsiteX8" fmla="*/ 0 w 803755"/>
              <a:gd name="connsiteY8" fmla="*/ 318667 h 635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3755" h="635168">
                <a:moveTo>
                  <a:pt x="0" y="318667"/>
                </a:moveTo>
                <a:lnTo>
                  <a:pt x="158251" y="2166"/>
                </a:lnTo>
                <a:lnTo>
                  <a:pt x="395313" y="0"/>
                </a:lnTo>
                <a:lnTo>
                  <a:pt x="645505" y="2166"/>
                </a:lnTo>
                <a:lnTo>
                  <a:pt x="803755" y="318667"/>
                </a:lnTo>
                <a:lnTo>
                  <a:pt x="645505" y="635168"/>
                </a:lnTo>
                <a:lnTo>
                  <a:pt x="381666" y="627797"/>
                </a:lnTo>
                <a:lnTo>
                  <a:pt x="158251" y="635168"/>
                </a:lnTo>
                <a:lnTo>
                  <a:pt x="0" y="318667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 err="1">
                <a:latin typeface="Arial" charset="0"/>
              </a:rPr>
              <a:t>SintD</a:t>
            </a:r>
            <a:endParaRPr lang="pt-PT" sz="900" dirty="0">
              <a:latin typeface="Arial" charset="0"/>
            </a:endParaRPr>
          </a:p>
        </p:txBody>
      </p:sp>
      <p:cxnSp>
        <p:nvCxnSpPr>
          <p:cNvPr id="81" name="Conexão em ângulos retos 80"/>
          <p:cNvCxnSpPr>
            <a:cxnSpLocks/>
            <a:endCxn id="102" idx="4"/>
          </p:cNvCxnSpPr>
          <p:nvPr/>
        </p:nvCxnSpPr>
        <p:spPr>
          <a:xfrm rot="5400000">
            <a:off x="775055" y="4086039"/>
            <a:ext cx="1773389" cy="32400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tângulo 114"/>
          <p:cNvSpPr/>
          <p:nvPr/>
        </p:nvSpPr>
        <p:spPr>
          <a:xfrm>
            <a:off x="284342" y="3709445"/>
            <a:ext cx="1052423" cy="596383"/>
          </a:xfrm>
          <a:prstGeom prst="rect">
            <a:avLst/>
          </a:prstGeom>
          <a:solidFill>
            <a:schemeClr val="bg1">
              <a:alpha val="1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 err="1">
                <a:solidFill>
                  <a:schemeClr val="tx1"/>
                </a:solidFill>
                <a:latin typeface="Arial" charset="0"/>
              </a:rPr>
              <a:t>Notification</a:t>
            </a:r>
            <a:r>
              <a:rPr lang="pt-PT" sz="900" dirty="0">
                <a:solidFill>
                  <a:schemeClr val="tx1"/>
                </a:solidFill>
                <a:latin typeface="Arial" charset="0"/>
              </a:rPr>
              <a:t> V2</a:t>
            </a:r>
            <a:br>
              <a:rPr lang="pt-PT" sz="900" dirty="0">
                <a:solidFill>
                  <a:schemeClr val="tx1"/>
                </a:solidFill>
                <a:latin typeface="Arial" charset="0"/>
              </a:rPr>
            </a:br>
            <a:r>
              <a:rPr lang="pt-PT" sz="900" dirty="0">
                <a:solidFill>
                  <a:schemeClr val="tx1"/>
                </a:solidFill>
                <a:latin typeface="Arial" charset="0"/>
              </a:rPr>
              <a:t>Templates</a:t>
            </a:r>
          </a:p>
        </p:txBody>
      </p:sp>
      <p:cxnSp>
        <p:nvCxnSpPr>
          <p:cNvPr id="89" name="Conexão em ângulos retos 88"/>
          <p:cNvCxnSpPr>
            <a:stCxn id="59" idx="2"/>
            <a:endCxn id="115" idx="0"/>
          </p:cNvCxnSpPr>
          <p:nvPr/>
        </p:nvCxnSpPr>
        <p:spPr>
          <a:xfrm rot="5400000">
            <a:off x="1835973" y="2234925"/>
            <a:ext cx="449101" cy="2499938"/>
          </a:xfrm>
          <a:prstGeom prst="bentConnector3">
            <a:avLst>
              <a:gd name="adj1" fmla="val 2491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Group 144"/>
          <p:cNvGrpSpPr/>
          <p:nvPr/>
        </p:nvGrpSpPr>
        <p:grpSpPr>
          <a:xfrm>
            <a:off x="7887010" y="3144393"/>
            <a:ext cx="1225060" cy="998975"/>
            <a:chOff x="2949073" y="839047"/>
            <a:chExt cx="799674" cy="649526"/>
          </a:xfrm>
        </p:grpSpPr>
        <p:pic>
          <p:nvPicPr>
            <p:cNvPr id="126" name="Picture 14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3602" y="839047"/>
              <a:ext cx="717821" cy="649526"/>
            </a:xfrm>
            <a:prstGeom prst="rect">
              <a:avLst/>
            </a:prstGeom>
          </p:spPr>
        </p:pic>
        <p:sp>
          <p:nvSpPr>
            <p:cNvPr id="127" name="Rectangle 2"/>
            <p:cNvSpPr>
              <a:spLocks noChangeArrowheads="1"/>
            </p:cNvSpPr>
            <p:nvPr/>
          </p:nvSpPr>
          <p:spPr bwMode="auto">
            <a:xfrm>
              <a:off x="2949073" y="1025984"/>
              <a:ext cx="799674" cy="29562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none" anchor="t" anchorCtr="1"/>
            <a:lstStyle/>
            <a:p>
              <a:endParaRPr lang="pt-PT" sz="1000" dirty="0"/>
            </a:p>
          </p:txBody>
        </p:sp>
      </p:grpSp>
      <p:pic>
        <p:nvPicPr>
          <p:cNvPr id="130" name="Picture 2" descr="C:\Users\i090064\AppData\Local\Microsoft\Windows\Temporary Internet Files\Content.IE5\GAF0PWD6\User_icon_2.svg[1].png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6284" y="3660630"/>
            <a:ext cx="476672" cy="4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" name="TextBox 22"/>
          <p:cNvSpPr txBox="1"/>
          <p:nvPr/>
        </p:nvSpPr>
        <p:spPr>
          <a:xfrm>
            <a:off x="8230164" y="3566421"/>
            <a:ext cx="611065" cy="246221"/>
          </a:xfrm>
          <a:prstGeom prst="rect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s-ES"/>
            </a:defPPr>
            <a:lvl1pPr algn="ctr">
              <a:defRPr sz="1000"/>
            </a:lvl1pPr>
          </a:lstStyle>
          <a:p>
            <a:r>
              <a:rPr lang="pt-PT" dirty="0"/>
              <a:t>Cockpit</a:t>
            </a:r>
          </a:p>
        </p:txBody>
      </p:sp>
      <p:sp>
        <p:nvSpPr>
          <p:cNvPr id="139" name="Rectangle 12"/>
          <p:cNvSpPr>
            <a:spLocks noChangeArrowheads="1"/>
          </p:cNvSpPr>
          <p:nvPr/>
        </p:nvSpPr>
        <p:spPr bwMode="auto">
          <a:xfrm>
            <a:off x="4759214" y="3074275"/>
            <a:ext cx="1053151" cy="747036"/>
          </a:xfrm>
          <a:custGeom>
            <a:avLst/>
            <a:gdLst>
              <a:gd name="connsiteX0" fmla="*/ 0 w 803755"/>
              <a:gd name="connsiteY0" fmla="*/ 316501 h 633002"/>
              <a:gd name="connsiteX1" fmla="*/ 158251 w 803755"/>
              <a:gd name="connsiteY1" fmla="*/ 0 h 633002"/>
              <a:gd name="connsiteX2" fmla="*/ 645505 w 803755"/>
              <a:gd name="connsiteY2" fmla="*/ 0 h 633002"/>
              <a:gd name="connsiteX3" fmla="*/ 803755 w 803755"/>
              <a:gd name="connsiteY3" fmla="*/ 316501 h 633002"/>
              <a:gd name="connsiteX4" fmla="*/ 645505 w 803755"/>
              <a:gd name="connsiteY4" fmla="*/ 633002 h 633002"/>
              <a:gd name="connsiteX5" fmla="*/ 158251 w 803755"/>
              <a:gd name="connsiteY5" fmla="*/ 633002 h 633002"/>
              <a:gd name="connsiteX6" fmla="*/ 0 w 803755"/>
              <a:gd name="connsiteY6" fmla="*/ 316501 h 633002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158251 w 803755"/>
              <a:gd name="connsiteY6" fmla="*/ 635168 h 635168"/>
              <a:gd name="connsiteX7" fmla="*/ 0 w 803755"/>
              <a:gd name="connsiteY7" fmla="*/ 318667 h 635168"/>
              <a:gd name="connsiteX0" fmla="*/ 0 w 803755"/>
              <a:gd name="connsiteY0" fmla="*/ 318667 h 635168"/>
              <a:gd name="connsiteX1" fmla="*/ 158251 w 803755"/>
              <a:gd name="connsiteY1" fmla="*/ 2166 h 635168"/>
              <a:gd name="connsiteX2" fmla="*/ 395313 w 803755"/>
              <a:gd name="connsiteY2" fmla="*/ 0 h 635168"/>
              <a:gd name="connsiteX3" fmla="*/ 645505 w 803755"/>
              <a:gd name="connsiteY3" fmla="*/ 2166 h 635168"/>
              <a:gd name="connsiteX4" fmla="*/ 803755 w 803755"/>
              <a:gd name="connsiteY4" fmla="*/ 318667 h 635168"/>
              <a:gd name="connsiteX5" fmla="*/ 645505 w 803755"/>
              <a:gd name="connsiteY5" fmla="*/ 635168 h 635168"/>
              <a:gd name="connsiteX6" fmla="*/ 381666 w 803755"/>
              <a:gd name="connsiteY6" fmla="*/ 627797 h 635168"/>
              <a:gd name="connsiteX7" fmla="*/ 158251 w 803755"/>
              <a:gd name="connsiteY7" fmla="*/ 635168 h 635168"/>
              <a:gd name="connsiteX8" fmla="*/ 0 w 803755"/>
              <a:gd name="connsiteY8" fmla="*/ 318667 h 635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3755" h="635168">
                <a:moveTo>
                  <a:pt x="0" y="318667"/>
                </a:moveTo>
                <a:lnTo>
                  <a:pt x="158251" y="2166"/>
                </a:lnTo>
                <a:lnTo>
                  <a:pt x="395313" y="0"/>
                </a:lnTo>
                <a:lnTo>
                  <a:pt x="645505" y="2166"/>
                </a:lnTo>
                <a:lnTo>
                  <a:pt x="803755" y="318667"/>
                </a:lnTo>
                <a:lnTo>
                  <a:pt x="645505" y="635168"/>
                </a:lnTo>
                <a:lnTo>
                  <a:pt x="381666" y="627797"/>
                </a:lnTo>
                <a:lnTo>
                  <a:pt x="158251" y="635168"/>
                </a:lnTo>
                <a:lnTo>
                  <a:pt x="0" y="318667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>
                <a:latin typeface="Arial" charset="0"/>
              </a:rPr>
              <a:t>API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 err="1">
                <a:latin typeface="Arial" charset="0"/>
              </a:rPr>
              <a:t>Operations</a:t>
            </a:r>
            <a:endParaRPr lang="pt-PT" sz="900" dirty="0">
              <a:latin typeface="Arial" charset="0"/>
            </a:endParaRPr>
          </a:p>
        </p:txBody>
      </p:sp>
      <p:cxnSp>
        <p:nvCxnSpPr>
          <p:cNvPr id="141" name="Conexão em ângulos retos 140"/>
          <p:cNvCxnSpPr>
            <a:stCxn id="93" idx="0"/>
            <a:endCxn id="59" idx="3"/>
          </p:cNvCxnSpPr>
          <p:nvPr/>
        </p:nvCxnSpPr>
        <p:spPr>
          <a:xfrm flipH="1">
            <a:off x="3488747" y="1910397"/>
            <a:ext cx="1262402" cy="623878"/>
          </a:xfrm>
          <a:prstGeom prst="bentConnector3">
            <a:avLst>
              <a:gd name="adj1" fmla="val 5121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exão em ângulos retos 156"/>
          <p:cNvCxnSpPr>
            <a:stCxn id="139" idx="0"/>
            <a:endCxn id="59" idx="3"/>
          </p:cNvCxnSpPr>
          <p:nvPr/>
        </p:nvCxnSpPr>
        <p:spPr>
          <a:xfrm flipH="1" flipV="1">
            <a:off x="3488747" y="2534275"/>
            <a:ext cx="1270467" cy="914792"/>
          </a:xfrm>
          <a:prstGeom prst="bentConnector3">
            <a:avLst>
              <a:gd name="adj1" fmla="val 5138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 12"/>
          <p:cNvSpPr>
            <a:spLocks noChangeArrowheads="1"/>
          </p:cNvSpPr>
          <p:nvPr/>
        </p:nvSpPr>
        <p:spPr bwMode="auto">
          <a:xfrm>
            <a:off x="6116118" y="795066"/>
            <a:ext cx="982131" cy="685441"/>
          </a:xfrm>
          <a:prstGeom prst="pentagon">
            <a:avLst/>
          </a:prstGeom>
          <a:solidFill>
            <a:schemeClr val="bg1">
              <a:alpha val="1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 err="1">
                <a:latin typeface="Arial" charset="0"/>
              </a:rPr>
              <a:t>Front</a:t>
            </a:r>
            <a:r>
              <a:rPr lang="pt-PT" sz="900" dirty="0">
                <a:latin typeface="Arial" charset="0"/>
              </a:rPr>
              <a:t> </a:t>
            </a:r>
            <a:r>
              <a:rPr lang="pt-PT" sz="900" dirty="0" err="1">
                <a:latin typeface="Arial" charset="0"/>
              </a:rPr>
              <a:t>End</a:t>
            </a:r>
            <a:endParaRPr lang="pt-PT" sz="900" dirty="0">
              <a:latin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900" dirty="0">
                <a:latin typeface="Arial" charset="0"/>
              </a:rPr>
              <a:t>[Nginx]</a:t>
            </a:r>
          </a:p>
        </p:txBody>
      </p:sp>
      <p:cxnSp>
        <p:nvCxnSpPr>
          <p:cNvPr id="161" name="Conexão em ângulos retos 160"/>
          <p:cNvCxnSpPr>
            <a:stCxn id="126" idx="1"/>
            <a:endCxn id="139" idx="4"/>
          </p:cNvCxnSpPr>
          <p:nvPr/>
        </p:nvCxnSpPr>
        <p:spPr>
          <a:xfrm rot="10800000">
            <a:off x="5812365" y="3449067"/>
            <a:ext cx="2173500" cy="19481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exão em ângulos retos 169"/>
          <p:cNvCxnSpPr>
            <a:cxnSpLocks/>
            <a:stCxn id="126" idx="0"/>
            <a:endCxn id="167" idx="3"/>
          </p:cNvCxnSpPr>
          <p:nvPr/>
        </p:nvCxnSpPr>
        <p:spPr>
          <a:xfrm rot="16200000" flipV="1">
            <a:off x="6739498" y="1348193"/>
            <a:ext cx="1663886" cy="1928514"/>
          </a:xfrm>
          <a:prstGeom prst="bentConnector3">
            <a:avLst>
              <a:gd name="adj1" fmla="val 7501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Group 56"/>
          <p:cNvGrpSpPr/>
          <p:nvPr/>
        </p:nvGrpSpPr>
        <p:grpSpPr>
          <a:xfrm>
            <a:off x="7421598" y="2397485"/>
            <a:ext cx="480655" cy="1541423"/>
            <a:chOff x="1664058" y="1642054"/>
            <a:chExt cx="480655" cy="1197447"/>
          </a:xfrm>
          <a:solidFill>
            <a:schemeClr val="bg1"/>
          </a:solidFill>
        </p:grpSpPr>
        <p:sp>
          <p:nvSpPr>
            <p:cNvPr id="164" name="Rectangle 12"/>
            <p:cNvSpPr>
              <a:spLocks noChangeArrowheads="1"/>
            </p:cNvSpPr>
            <p:nvPr/>
          </p:nvSpPr>
          <p:spPr bwMode="auto">
            <a:xfrm>
              <a:off x="1696988" y="1711415"/>
              <a:ext cx="356510" cy="1128086"/>
            </a:xfrm>
            <a:prstGeom prst="rect">
              <a:avLst/>
            </a:prstGeom>
            <a:grpFill/>
            <a:ln w="9525" cap="rnd">
              <a:solidFill>
                <a:schemeClr val="accent4"/>
              </a:solidFill>
              <a:prstDash val="sysDot"/>
              <a:miter lim="800000"/>
              <a:headEnd/>
              <a:tailEnd/>
            </a:ln>
          </p:spPr>
          <p:txBody>
            <a:bodyPr vert="vert270" anchor="t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-PT" sz="1100" dirty="0" err="1">
                  <a:latin typeface="Arial" charset="0"/>
                </a:rPr>
                <a:t>Internal</a:t>
              </a:r>
              <a:r>
                <a:rPr lang="pt-PT" sz="1100" dirty="0">
                  <a:latin typeface="Arial" charset="0"/>
                </a:rPr>
                <a:t> </a:t>
              </a:r>
              <a:r>
                <a:rPr lang="pt-PT" sz="1100" dirty="0" err="1">
                  <a:latin typeface="Arial" charset="0"/>
                </a:rPr>
                <a:t>Client</a:t>
              </a:r>
              <a:endParaRPr lang="pt-PT" sz="1100" dirty="0">
                <a:latin typeface="Arial" charset="0"/>
              </a:endParaRPr>
            </a:p>
          </p:txBody>
        </p:sp>
        <p:pic>
          <p:nvPicPr>
            <p:cNvPr id="165" name="Picture 1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4058" y="1642054"/>
              <a:ext cx="480655" cy="23767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92" name="Conexão em ângulos retos 191"/>
          <p:cNvCxnSpPr>
            <a:cxnSpLocks/>
            <a:stCxn id="167" idx="5"/>
            <a:endCxn id="31" idx="1"/>
          </p:cNvCxnSpPr>
          <p:nvPr/>
        </p:nvCxnSpPr>
        <p:spPr>
          <a:xfrm>
            <a:off x="7098248" y="1056880"/>
            <a:ext cx="690558" cy="156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exão em ângulos retos 201"/>
          <p:cNvCxnSpPr>
            <a:cxnSpLocks/>
          </p:cNvCxnSpPr>
          <p:nvPr/>
        </p:nvCxnSpPr>
        <p:spPr>
          <a:xfrm flipV="1">
            <a:off x="1600211" y="1551815"/>
            <a:ext cx="3777071" cy="56313"/>
          </a:xfrm>
          <a:prstGeom prst="bentConnector5">
            <a:avLst>
              <a:gd name="adj1" fmla="val 51542"/>
              <a:gd name="adj2" fmla="val 505945"/>
              <a:gd name="adj3" fmla="val 9979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CaixaDeTexto 212"/>
          <p:cNvSpPr txBox="1"/>
          <p:nvPr/>
        </p:nvSpPr>
        <p:spPr>
          <a:xfrm>
            <a:off x="5217173" y="3868796"/>
            <a:ext cx="10935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700" dirty="0" err="1"/>
              <a:t>Generates</a:t>
            </a:r>
            <a:r>
              <a:rPr lang="pt-PT" sz="700" dirty="0"/>
              <a:t> SSO </a:t>
            </a:r>
            <a:r>
              <a:rPr lang="pt-PT" sz="700" dirty="0" err="1"/>
              <a:t>Token</a:t>
            </a:r>
            <a:endParaRPr lang="pt-PT" sz="700" dirty="0"/>
          </a:p>
        </p:txBody>
      </p:sp>
      <p:cxnSp>
        <p:nvCxnSpPr>
          <p:cNvPr id="8" name="Conexão em ângulos retos 160">
            <a:extLst>
              <a:ext uri="{FF2B5EF4-FFF2-40B4-BE49-F238E27FC236}">
                <a16:creationId xmlns:a16="http://schemas.microsoft.com/office/drawing/2014/main" id="{6A3679DA-3D94-681D-C96F-B41DF156DF62}"/>
              </a:ext>
            </a:extLst>
          </p:cNvPr>
          <p:cNvCxnSpPr>
            <a:cxnSpLocks/>
            <a:stCxn id="126" idx="1"/>
            <a:endCxn id="95" idx="4"/>
          </p:cNvCxnSpPr>
          <p:nvPr/>
        </p:nvCxnSpPr>
        <p:spPr>
          <a:xfrm rot="10800000">
            <a:off x="5804301" y="2680693"/>
            <a:ext cx="2181565" cy="96318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A8CEF447-3908-23CA-FD77-9F2E27384665}"/>
              </a:ext>
            </a:extLst>
          </p:cNvPr>
          <p:cNvCxnSpPr>
            <a:cxnSpLocks/>
            <a:endCxn id="77" idx="2"/>
          </p:cNvCxnSpPr>
          <p:nvPr/>
        </p:nvCxnSpPr>
        <p:spPr>
          <a:xfrm>
            <a:off x="5258260" y="4238220"/>
            <a:ext cx="1423592" cy="538081"/>
          </a:xfrm>
          <a:prstGeom prst="bentConnector3">
            <a:avLst>
              <a:gd name="adj1" fmla="val 10004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A8089E2-F722-AB21-20C9-7564F272B8AD}"/>
              </a:ext>
            </a:extLst>
          </p:cNvPr>
          <p:cNvCxnSpPr>
            <a:cxnSpLocks/>
            <a:stCxn id="139" idx="6"/>
          </p:cNvCxnSpPr>
          <p:nvPr/>
        </p:nvCxnSpPr>
        <p:spPr>
          <a:xfrm flipH="1">
            <a:off x="5258260" y="3812642"/>
            <a:ext cx="1047" cy="423625"/>
          </a:xfrm>
          <a:prstGeom prst="line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2">
            <a:extLst>
              <a:ext uri="{FF2B5EF4-FFF2-40B4-BE49-F238E27FC236}">
                <a16:creationId xmlns:a16="http://schemas.microsoft.com/office/drawing/2014/main" id="{CAE234B8-5C5B-4A27-C38C-3DE00CE0D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1918" y="3200379"/>
            <a:ext cx="744511" cy="509066"/>
          </a:xfrm>
          <a:prstGeom prst="rect">
            <a:avLst/>
          </a:prstGeom>
          <a:solidFill>
            <a:schemeClr val="bg1">
              <a:alpha val="10000"/>
            </a:schemeClr>
          </a:solidFill>
          <a:ln w="12700" algn="ctr">
            <a:solidFill>
              <a:srgbClr val="0066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800">
                <a:latin typeface="Santander Text" panose="020B0504020201020104" pitchFamily="34" charset="0"/>
              </a:rPr>
              <a:t>Passarela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800">
                <a:latin typeface="Santander Text" panose="020B0504020201020104" pitchFamily="34" charset="0"/>
              </a:rPr>
              <a:t>SFTP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800">
                <a:latin typeface="Santander Text" panose="020B0504020201020104" pitchFamily="34" charset="0"/>
              </a:rPr>
              <a:t>[Linux]</a:t>
            </a:r>
            <a:endParaRPr lang="en-GB" sz="800">
              <a:latin typeface="Santander Text" panose="020B0504020201020104" pitchFamily="34" charset="0"/>
            </a:endParaRPr>
          </a:p>
        </p:txBody>
      </p:sp>
      <p:pic>
        <p:nvPicPr>
          <p:cNvPr id="4" name="Picture 115">
            <a:extLst>
              <a:ext uri="{FF2B5EF4-FFF2-40B4-BE49-F238E27FC236}">
                <a16:creationId xmlns:a16="http://schemas.microsoft.com/office/drawing/2014/main" id="{14484CB7-CF55-8D19-0FB5-AF86CA273A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09539" y="4151660"/>
            <a:ext cx="710279" cy="335188"/>
          </a:xfrm>
          <a:prstGeom prst="rect">
            <a:avLst/>
          </a:prstGeom>
        </p:spPr>
      </p:pic>
      <p:cxnSp>
        <p:nvCxnSpPr>
          <p:cNvPr id="5" name="Conexão reta unidirecional 32">
            <a:extLst>
              <a:ext uri="{FF2B5EF4-FFF2-40B4-BE49-F238E27FC236}">
                <a16:creationId xmlns:a16="http://schemas.microsoft.com/office/drawing/2014/main" id="{30FAEFF9-A8D3-5168-8ABB-A8319C026D5A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V="1">
            <a:off x="10307817" y="4319254"/>
            <a:ext cx="401723" cy="306656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xão em ângulos retos 160">
            <a:extLst>
              <a:ext uri="{FF2B5EF4-FFF2-40B4-BE49-F238E27FC236}">
                <a16:creationId xmlns:a16="http://schemas.microsoft.com/office/drawing/2014/main" id="{7D3AB83A-B3E8-51A8-947A-67639BF396B4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>
            <a:off x="5812366" y="1897208"/>
            <a:ext cx="4109552" cy="1557704"/>
          </a:xfrm>
          <a:prstGeom prst="bentConnector3">
            <a:avLst>
              <a:gd name="adj1" fmla="val 11809"/>
            </a:avLst>
          </a:prstGeom>
          <a:ln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2">
            <a:extLst>
              <a:ext uri="{FF2B5EF4-FFF2-40B4-BE49-F238E27FC236}">
                <a16:creationId xmlns:a16="http://schemas.microsoft.com/office/drawing/2014/main" id="{27C890A9-4EDA-ADFE-3262-776956976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7284" y="5866283"/>
            <a:ext cx="744511" cy="509066"/>
          </a:xfrm>
          <a:prstGeom prst="rect">
            <a:avLst/>
          </a:prstGeom>
          <a:solidFill>
            <a:schemeClr val="bg1">
              <a:alpha val="10000"/>
            </a:schemeClr>
          </a:solidFill>
          <a:ln w="12700" algn="ctr">
            <a:solidFill>
              <a:srgbClr val="0066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800" dirty="0">
                <a:latin typeface="Santander Text" panose="020B0504020201020104" pitchFamily="34" charset="0"/>
              </a:rPr>
              <a:t>Mainframe</a:t>
            </a:r>
            <a:br>
              <a:rPr lang="pt-PT" sz="800" dirty="0">
                <a:latin typeface="Santander Text" panose="020B0504020201020104" pitchFamily="34" charset="0"/>
              </a:rPr>
            </a:br>
            <a:r>
              <a:rPr lang="pt-PT" sz="800" dirty="0">
                <a:latin typeface="Santander Text" panose="020B0504020201020104" pitchFamily="34" charset="0"/>
              </a:rPr>
              <a:t>HOST</a:t>
            </a:r>
            <a:endParaRPr lang="en-GB" sz="800" dirty="0">
              <a:latin typeface="Santander Text" panose="020B05040202010201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DFE6C5-757C-DEC7-BAD8-F7F1D21B2361}"/>
              </a:ext>
            </a:extLst>
          </p:cNvPr>
          <p:cNvSpPr txBox="1"/>
          <p:nvPr/>
        </p:nvSpPr>
        <p:spPr>
          <a:xfrm>
            <a:off x="9818583" y="4470347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/>
              <a:t>PUT</a:t>
            </a:r>
          </a:p>
        </p:txBody>
      </p:sp>
      <p:cxnSp>
        <p:nvCxnSpPr>
          <p:cNvPr id="20" name="Conexão em ângulos retos 160">
            <a:extLst>
              <a:ext uri="{FF2B5EF4-FFF2-40B4-BE49-F238E27FC236}">
                <a16:creationId xmlns:a16="http://schemas.microsoft.com/office/drawing/2014/main" id="{5AD54427-00E4-E658-5208-190F56846FAB}"/>
              </a:ext>
            </a:extLst>
          </p:cNvPr>
          <p:cNvCxnSpPr>
            <a:cxnSpLocks/>
            <a:stCxn id="16" idx="3"/>
            <a:endCxn id="2" idx="2"/>
          </p:cNvCxnSpPr>
          <p:nvPr/>
        </p:nvCxnSpPr>
        <p:spPr>
          <a:xfrm flipV="1">
            <a:off x="8871795" y="3709445"/>
            <a:ext cx="1422379" cy="2411371"/>
          </a:xfrm>
          <a:prstGeom prst="bentConnector2">
            <a:avLst/>
          </a:prstGeom>
          <a:ln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utoShape 38">
            <a:extLst>
              <a:ext uri="{FF2B5EF4-FFF2-40B4-BE49-F238E27FC236}">
                <a16:creationId xmlns:a16="http://schemas.microsoft.com/office/drawing/2014/main" id="{5903674B-CDD7-4A25-00B3-8B23BFDD2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45266" y="6085005"/>
            <a:ext cx="349104" cy="290344"/>
          </a:xfrm>
          <a:prstGeom prst="star8">
            <a:avLst>
              <a:gd name="adj" fmla="val 38250"/>
            </a:avLst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pt-PT" altLang="pt-PT" sz="900" b="1" u="none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1363848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Sumário de infra-estrutura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87470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8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865091"/>
              </p:ext>
            </p:extLst>
          </p:nvPr>
        </p:nvGraphicFramePr>
        <p:xfrm>
          <a:off x="537805" y="987142"/>
          <a:ext cx="11116391" cy="3352622"/>
        </p:xfrm>
        <a:graphic>
          <a:graphicData uri="http://schemas.openxmlformats.org/drawingml/2006/table">
            <a:tbl>
              <a:tblPr/>
              <a:tblGrid>
                <a:gridCol w="1887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5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5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6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74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337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027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200" b="0" kern="1200" noProof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Componente</a:t>
                      </a:r>
                    </a:p>
                  </a:txBody>
                  <a:tcPr marL="120000" marR="120000" marT="46793" marB="4679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200" b="0" kern="1200" noProof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120000" marR="120000" marT="46793" marB="4679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200" b="0" kern="1200" noProof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Estado</a:t>
                      </a:r>
                    </a:p>
                  </a:txBody>
                  <a:tcPr marL="120000" marR="120000" marT="46793" marB="4679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200" b="0" kern="1200" noProof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Tecnologia</a:t>
                      </a:r>
                    </a:p>
                  </a:txBody>
                  <a:tcPr marL="120000" marR="120000" marT="46793" marB="4679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200" b="0" kern="1200" noProof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Tipo instalação </a:t>
                      </a:r>
                    </a:p>
                  </a:txBody>
                  <a:tcPr marL="120000" marR="120000" marT="46793" marB="4679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200" b="0" kern="1200" noProof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Ambientes necessários</a:t>
                      </a:r>
                    </a:p>
                  </a:txBody>
                  <a:tcPr marL="120000" marR="120000" marT="46793" marB="4679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035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latin typeface="Arial" charset="0"/>
                        </a:rPr>
                        <a:t>Namespace</a:t>
                      </a:r>
                      <a:r>
                        <a:rPr lang="en-GB" sz="1100" baseline="0" dirty="0">
                          <a:solidFill>
                            <a:schemeClr val="tx1"/>
                          </a:solidFill>
                          <a:latin typeface="Arial" charset="0"/>
                        </a:rPr>
                        <a:t> </a:t>
                      </a:r>
                      <a:r>
                        <a:rPr lang="en-GB" sz="1100" baseline="0" dirty="0" err="1">
                          <a:solidFill>
                            <a:schemeClr val="tx1"/>
                          </a:solidFill>
                          <a:latin typeface="Arial" charset="0"/>
                        </a:rPr>
                        <a:t>SavingInvestiment-SpiritHelper</a:t>
                      </a:r>
                      <a:r>
                        <a:rPr lang="en-GB" sz="1100" baseline="0" dirty="0">
                          <a:solidFill>
                            <a:schemeClr val="tx1"/>
                          </a:solidFill>
                          <a:latin typeface="Arial" charset="0"/>
                        </a:rPr>
                        <a:t>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Arial" charset="0"/>
                        </a:rPr>
                        <a:t>Openshift</a:t>
                      </a:r>
                      <a:endParaRPr lang="en-GB" sz="1100" dirty="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Ecossistema </a:t>
                      </a:r>
                      <a:r>
                        <a:rPr kumimoji="0" lang="pt-PT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MiFID</a:t>
                      </a:r>
                      <a:endParaRPr kumimoji="0" lang="pt-PT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Existente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Java / Spring </a:t>
                      </a: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boot</a:t>
                      </a:r>
                      <a:endParaRPr kumimoji="0" lang="pt-PT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PaaS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DEV, PRE, PRO em </a:t>
                      </a: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PaaS</a:t>
                      </a: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 2.0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035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latin typeface="Arial" charset="0"/>
                        </a:rPr>
                        <a:t>API Gateway (Internal Client / Internal Core)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Gateway para exposição de </a:t>
                      </a:r>
                      <a:r>
                        <a:rPr kumimoji="0" lang="pt-PT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API’s</a:t>
                      </a:r>
                      <a:endParaRPr kumimoji="0" lang="pt-PT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Existente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n/a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n/a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n/a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035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latin typeface="Arial" charset="0"/>
                        </a:rPr>
                        <a:t>Nginx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Front-end</a:t>
                      </a:r>
                      <a:r>
                        <a:rPr kumimoji="0" lang="pt-PT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 Contratação Automática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Novo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Nginx</a:t>
                      </a: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 / Angular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PaaS</a:t>
                      </a:r>
                      <a:endParaRPr kumimoji="0" lang="pt-PT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DEV, PRE, PRO em </a:t>
                      </a: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PaaS</a:t>
                      </a: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 2.0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035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latin typeface="Arial" charset="0"/>
                        </a:rPr>
                        <a:t>MS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Arial" charset="0"/>
                        </a:rPr>
                        <a:t>Contratação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Arial" charset="0"/>
                        </a:rPr>
                        <a:t>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Arial" charset="0"/>
                        </a:rPr>
                        <a:t>Automática</a:t>
                      </a:r>
                      <a:endParaRPr lang="en-GB" sz="1100" dirty="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Microserviço</a:t>
                      </a:r>
                      <a:r>
                        <a:rPr kumimoji="0" lang="pt-PT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 de contratação automática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Novo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Java / Spring </a:t>
                      </a: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Boot</a:t>
                      </a:r>
                      <a:endParaRPr kumimoji="0" lang="pt-PT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PaaS</a:t>
                      </a:r>
                      <a:endParaRPr kumimoji="0" lang="pt-PT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DEV, PRE, PRO em </a:t>
                      </a: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PaaS</a:t>
                      </a: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 2.0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035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latin typeface="Arial" charset="0"/>
                        </a:rPr>
                        <a:t>API</a:t>
                      </a:r>
                      <a:r>
                        <a:rPr lang="en-GB" sz="1100" baseline="0" dirty="0">
                          <a:solidFill>
                            <a:schemeClr val="tx1"/>
                          </a:solidFill>
                          <a:latin typeface="Arial" charset="0"/>
                        </a:rPr>
                        <a:t> Private Automation</a:t>
                      </a:r>
                      <a:endParaRPr lang="en-GB" sz="1100" dirty="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Nova API para </a:t>
                      </a:r>
                      <a:r>
                        <a:rPr kumimoji="0" lang="pt-PT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private</a:t>
                      </a:r>
                      <a:r>
                        <a:rPr kumimoji="0" lang="pt-PT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kumimoji="0" lang="pt-PT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automation</a:t>
                      </a:r>
                      <a:endParaRPr kumimoji="0" lang="pt-PT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Novo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Java / Spring </a:t>
                      </a: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Boot</a:t>
                      </a:r>
                      <a:endParaRPr kumimoji="0" lang="pt-PT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PaaS</a:t>
                      </a:r>
                      <a:endParaRPr kumimoji="0" lang="pt-PT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DEV, PRE, PRO em </a:t>
                      </a:r>
                      <a:r>
                        <a:rPr kumimoji="0" lang="pt-PT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PaaS</a:t>
                      </a: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 2.0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035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latin typeface="Arial" charset="0"/>
                        </a:rPr>
                        <a:t>BD Oracle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Database</a:t>
                      </a:r>
                      <a:r>
                        <a:rPr kumimoji="0" lang="pt-PT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 Oracle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Existente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n/a</a:t>
                      </a:r>
                    </a:p>
                  </a:txBody>
                  <a:tcPr marL="120000" marR="120000" marT="46798" marB="467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n/a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PRO:  OETOSD1M.TOTTA.CORP</a:t>
                      </a:r>
                      <a:endParaRPr kumimoji="0" lang="pt-PT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  <a:p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PRE: OTTOSD2M.TOTTA.PRE.CORP</a:t>
                      </a:r>
                      <a:endParaRPr kumimoji="0" lang="pt-PT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  <a:p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DEV: </a:t>
                      </a:r>
                      <a:r>
                        <a:rPr kumimoji="0" lang="pt-PT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Arial" pitchFamily="34" charset="0"/>
                        </a:rPr>
                        <a:t>ODTOSD2M.TOTTA.DEV.CORP</a:t>
                      </a:r>
                      <a:endParaRPr kumimoji="0" lang="pt-PT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84908"/>
                  </a:ext>
                </a:extLst>
              </a:tr>
            </a:tbl>
          </a:graphicData>
        </a:graphic>
      </p:graphicFrame>
      <p:sp>
        <p:nvSpPr>
          <p:cNvPr id="8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5010" y="6492875"/>
            <a:ext cx="376989" cy="365125"/>
          </a:xfrm>
        </p:spPr>
        <p:txBody>
          <a:bodyPr/>
          <a:lstStyle/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11</a:t>
            </a:fld>
            <a:endParaRPr lang="es-ES" dirty="0">
              <a:solidFill>
                <a:srgbClr val="EB0000"/>
              </a:solidFill>
            </a:endParaRPr>
          </a:p>
        </p:txBody>
      </p:sp>
      <p:sp>
        <p:nvSpPr>
          <p:cNvPr id="10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9679435" cy="304800"/>
          </a:xfrm>
        </p:spPr>
        <p:txBody>
          <a:bodyPr/>
          <a:lstStyle/>
          <a:p>
            <a:pPr marL="0" lvl="1">
              <a:spcBef>
                <a:spcPts val="1000"/>
              </a:spcBef>
              <a:buClr>
                <a:srgbClr val="FF0000"/>
              </a:buClr>
            </a:pPr>
            <a:r>
              <a:rPr lang="pt-PT" altLang="pt-PT" sz="2400" dirty="0">
                <a:solidFill>
                  <a:schemeClr val="accent1"/>
                </a:solidFill>
              </a:rPr>
              <a:t>Sumário dos componentes de infra-estrutura utilizados (I)</a:t>
            </a:r>
          </a:p>
        </p:txBody>
      </p:sp>
    </p:spTree>
    <p:extLst>
      <p:ext uri="{BB962C8B-B14F-4D97-AF65-F5344CB8AC3E}">
        <p14:creationId xmlns:p14="http://schemas.microsoft.com/office/powerpoint/2010/main" val="312344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Volumes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5283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587231"/>
              </p:ext>
            </p:extLst>
          </p:nvPr>
        </p:nvGraphicFramePr>
        <p:xfrm>
          <a:off x="608253" y="1278053"/>
          <a:ext cx="4127719" cy="2933469"/>
        </p:xfrm>
        <a:graphic>
          <a:graphicData uri="http://schemas.openxmlformats.org/drawingml/2006/table">
            <a:tbl>
              <a:tblPr/>
              <a:tblGrid>
                <a:gridCol w="183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8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35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0" kern="1200" noProof="0" dirty="0" err="1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Projecto</a:t>
                      </a:r>
                      <a:r>
                        <a:rPr lang="pt-PT" sz="1000" b="0" kern="1200" noProof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pt-PT" sz="1000" b="0" kern="1200" noProof="0" dirty="0" err="1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Openshift</a:t>
                      </a:r>
                      <a:r>
                        <a:rPr lang="pt-PT" sz="1000" b="0" kern="1200" noProof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pt-PT" sz="1000" b="0" kern="1200" noProof="0" dirty="0" err="1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PaaS</a:t>
                      </a:r>
                      <a:r>
                        <a:rPr lang="pt-PT" sz="1000" b="0" kern="1200" noProof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 2.0</a:t>
                      </a:r>
                    </a:p>
                  </a:txBody>
                  <a:tcPr marL="90000" marR="90000" marT="35095" marB="350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1" kern="1200" noProof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TOTAL GB</a:t>
                      </a:r>
                    </a:p>
                  </a:txBody>
                  <a:tcPr marL="90000" marR="90000" marT="35095" marB="350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lang="pt-PT" sz="1000" b="0" kern="1200" noProof="0" dirty="0">
                        <a:solidFill>
                          <a:schemeClr val="bg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90000" marR="90000" marT="35095" marB="350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836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pt-PT" sz="1050" noProof="0" dirty="0">
                          <a:latin typeface="Arial" charset="0"/>
                        </a:rPr>
                        <a:t>Incrementos Namespaces existentes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Arial" pitchFamily="34" charset="0"/>
                        </a:rPr>
                        <a:t>21GB</a:t>
                      </a: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374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pt-PT" sz="1050" noProof="0" dirty="0">
                          <a:latin typeface="Arial" charset="0"/>
                        </a:rPr>
                        <a:t>Novos Namespaces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Arial" pitchFamily="34" charset="0"/>
                        </a:rPr>
                        <a:t>0GB</a:t>
                      </a: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374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pt-PT" sz="1050" noProof="0" dirty="0">
                          <a:latin typeface="Arial" charset="0"/>
                        </a:rPr>
                        <a:t>Reserva Quota Futura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Arial" pitchFamily="34" charset="0"/>
                        </a:rPr>
                        <a:t>n/a</a:t>
                      </a: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528">
                <a:tc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Arial" pitchFamily="34" charset="0"/>
                        </a:rPr>
                        <a:t>TOTAL</a:t>
                      </a:r>
                    </a:p>
                  </a:txBody>
                  <a:tcPr marL="90000" marR="90000" marT="35095" marB="350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Arial" pitchFamily="34" charset="0"/>
                        </a:rPr>
                        <a:t>21GB</a:t>
                      </a:r>
                    </a:p>
                  </a:txBody>
                  <a:tcPr marL="90000" marR="90000" marT="35095" marB="350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13</a:t>
            </a:fld>
            <a:endParaRPr lang="es-ES"/>
          </a:p>
        </p:txBody>
      </p:sp>
      <p:sp>
        <p:nvSpPr>
          <p:cNvPr id="10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9679435" cy="304800"/>
          </a:xfrm>
        </p:spPr>
        <p:txBody>
          <a:bodyPr/>
          <a:lstStyle/>
          <a:p>
            <a:pPr marL="0" lvl="1">
              <a:spcBef>
                <a:spcPts val="1000"/>
              </a:spcBef>
              <a:buClr>
                <a:srgbClr val="FF0000"/>
              </a:buClr>
            </a:pPr>
            <a:r>
              <a:rPr lang="pt-PT" altLang="pt-PT" sz="2400" dirty="0">
                <a:solidFill>
                  <a:schemeClr val="accent1"/>
                </a:solidFill>
              </a:rPr>
              <a:t>Volumes PaaS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77104" y="701915"/>
            <a:ext cx="7957211" cy="34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r>
              <a:rPr lang="pt-PT" altLang="es-ES" sz="1400" i="1" dirty="0">
                <a:solidFill>
                  <a:schemeClr val="tx1"/>
                </a:solidFill>
              </a:rPr>
              <a:t>Volumes: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7944711" y="1207176"/>
            <a:ext cx="3275625" cy="1142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pt-PT" altLang="es-ES" sz="900" b="1" i="1" dirty="0">
                <a:solidFill>
                  <a:prstClr val="black"/>
                </a:solidFill>
                <a:sym typeface="Wingdings" panose="05000000000000000000" pitchFamily="2" charset="2"/>
              </a:rPr>
              <a:t>NOTA #1</a:t>
            </a:r>
            <a:r>
              <a:rPr lang="pt-PT" altLang="es-ES" sz="900" i="1" dirty="0">
                <a:solidFill>
                  <a:prstClr val="black"/>
                </a:solidFill>
                <a:sym typeface="Wingdings" panose="05000000000000000000" pitchFamily="2" charset="2"/>
              </a:rPr>
              <a:t>: </a:t>
            </a:r>
            <a:r>
              <a:rPr lang="pt-PT" altLang="es-ES" sz="900" b="0" i="1" dirty="0" err="1">
                <a:solidFill>
                  <a:prstClr val="black"/>
                </a:solidFill>
                <a:sym typeface="Wingdings" panose="05000000000000000000" pitchFamily="2" charset="2"/>
              </a:rPr>
              <a:t>Deploy</a:t>
            </a:r>
            <a:r>
              <a:rPr lang="pt-PT" altLang="es-ES" sz="900" b="0" i="1" dirty="0">
                <a:solidFill>
                  <a:prstClr val="black"/>
                </a:solidFill>
                <a:sym typeface="Wingdings" panose="05000000000000000000" pitchFamily="2" charset="2"/>
              </a:rPr>
              <a:t> em PaaS 2.0 com </a:t>
            </a:r>
            <a:r>
              <a:rPr lang="pt-PT" altLang="es-ES" sz="900" i="1" dirty="0">
                <a:solidFill>
                  <a:prstClr val="black"/>
                </a:solidFill>
                <a:sym typeface="Wingdings" panose="05000000000000000000" pitchFamily="2" charset="2"/>
              </a:rPr>
              <a:t>HA Cluster </a:t>
            </a:r>
            <a:r>
              <a:rPr lang="pt-PT" altLang="es-ES" sz="900" i="1" dirty="0" err="1">
                <a:solidFill>
                  <a:prstClr val="black"/>
                </a:solidFill>
                <a:sym typeface="Wingdings" panose="05000000000000000000" pitchFamily="2" charset="2"/>
              </a:rPr>
              <a:t>multi-região</a:t>
            </a:r>
            <a:r>
              <a:rPr lang="pt-PT" altLang="es-ES" sz="900" i="1" dirty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lang="es-ES" sz="900" b="0" i="1" dirty="0">
                <a:solidFill>
                  <a:prstClr val="black"/>
                </a:solidFill>
              </a:rPr>
              <a:t>(HA por </a:t>
            </a:r>
            <a:r>
              <a:rPr lang="es-ES" sz="900" b="0" i="1" dirty="0" err="1">
                <a:solidFill>
                  <a:prstClr val="black"/>
                </a:solidFill>
              </a:rPr>
              <a:t>pods</a:t>
            </a:r>
            <a:r>
              <a:rPr lang="es-ES" sz="900" b="0" i="1" dirty="0">
                <a:solidFill>
                  <a:prstClr val="black"/>
                </a:solidFill>
              </a:rPr>
              <a:t>, </a:t>
            </a:r>
            <a:r>
              <a:rPr lang="es-ES" sz="900" b="0" i="1" dirty="0" err="1">
                <a:solidFill>
                  <a:prstClr val="black"/>
                </a:solidFill>
              </a:rPr>
              <a:t>sem</a:t>
            </a:r>
            <a:r>
              <a:rPr lang="es-ES" sz="900" b="0" i="1" dirty="0">
                <a:solidFill>
                  <a:prstClr val="black"/>
                </a:solidFill>
              </a:rPr>
              <a:t>  HA por Zonas) </a:t>
            </a:r>
          </a:p>
          <a:p>
            <a:pPr>
              <a:buFont typeface="Wingdings" panose="05000000000000000000" pitchFamily="2" charset="2"/>
              <a:buChar char="§"/>
            </a:pPr>
            <a:endParaRPr lang="pt-PT" altLang="es-ES" sz="900" i="1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pt-PT" altLang="es-ES" sz="900" i="1" dirty="0">
                <a:solidFill>
                  <a:prstClr val="black"/>
                </a:solidFill>
                <a:sym typeface="Wingdings" panose="05000000000000000000" pitchFamily="2" charset="2"/>
              </a:rPr>
              <a:t>NOTA #2: </a:t>
            </a:r>
            <a:r>
              <a:rPr lang="pt-PT" altLang="es-ES" sz="900" b="0" i="1" dirty="0">
                <a:solidFill>
                  <a:prstClr val="black"/>
                </a:solidFill>
                <a:sym typeface="Wingdings" panose="05000000000000000000" pitchFamily="2" charset="2"/>
              </a:rPr>
              <a:t>Equipa de desenvolvimento deverá identificar e solicitar a emissão de certificados e DNS para cada um dos serviços pretendidos.</a:t>
            </a:r>
            <a:endParaRPr lang="pt-PT" altLang="es-ES" sz="1050" b="0" i="1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s-ES" sz="900" b="0" i="1" dirty="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900" i="1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050" i="1" dirty="0">
              <a:solidFill>
                <a:prstClr val="black"/>
              </a:solidFill>
              <a:sym typeface="Wingdings" panose="05000000000000000000" pitchFamily="2" charset="2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0877531"/>
              </p:ext>
            </p:extLst>
          </p:nvPr>
        </p:nvGraphicFramePr>
        <p:xfrm>
          <a:off x="3541309" y="2052036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Worksheet" showAsIcon="1" r:id="rId3" imgW="914400" imgH="806400" progId="Excel.Sheet.12">
                  <p:embed/>
                </p:oleObj>
              </mc:Choice>
              <mc:Fallback>
                <p:oleObj name="Worksheet" showAsIcon="1" r:id="rId3" imgW="914400" imgH="806400" progId="Excel.Sheet.12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41309" y="2052036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0595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870539"/>
              </p:ext>
            </p:extLst>
          </p:nvPr>
        </p:nvGraphicFramePr>
        <p:xfrm>
          <a:off x="753217" y="1282662"/>
          <a:ext cx="3666163" cy="2876007"/>
        </p:xfrm>
        <a:graphic>
          <a:graphicData uri="http://schemas.openxmlformats.org/drawingml/2006/table">
            <a:tbl>
              <a:tblPr/>
              <a:tblGrid>
                <a:gridCol w="1631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35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1" kern="1200" noProof="0">
                          <a:solidFill>
                            <a:schemeClr val="bg1"/>
                          </a:solidFill>
                          <a:latin typeface="Santander Headline" panose="020B0504020201020104" pitchFamily="34" charset="0"/>
                          <a:ea typeface="+mn-ea"/>
                          <a:cs typeface="+mn-cs"/>
                        </a:rPr>
                        <a:t>Projecto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1" kern="1200" noProof="0">
                          <a:solidFill>
                            <a:schemeClr val="bg1"/>
                          </a:solidFill>
                          <a:latin typeface="Santander Headline" panose="020B0504020201020104" pitchFamily="34" charset="0"/>
                          <a:ea typeface="+mn-ea"/>
                          <a:cs typeface="+mn-cs"/>
                        </a:rPr>
                        <a:t>Openshift CaaS</a:t>
                      </a:r>
                    </a:p>
                  </a:txBody>
                  <a:tcPr marL="90000" marR="90000" marT="35095" marB="350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1" kern="1200" noProof="0">
                          <a:solidFill>
                            <a:schemeClr val="bg1"/>
                          </a:solidFill>
                          <a:latin typeface="Santander Headline" panose="020B0504020201020104" pitchFamily="34" charset="0"/>
                          <a:ea typeface="+mn-ea"/>
                          <a:cs typeface="+mn-cs"/>
                        </a:rPr>
                        <a:t>TOTAL GB</a:t>
                      </a:r>
                    </a:p>
                  </a:txBody>
                  <a:tcPr marL="90000" marR="90000" marT="35095" marB="350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lang="pt-PT" sz="1000" b="0" kern="1200" noProof="0">
                        <a:solidFill>
                          <a:schemeClr val="bg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90000" marR="90000" marT="35095" marB="350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528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pt-PT" sz="1050" noProof="0">
                          <a:solidFill>
                            <a:schemeClr val="tx1"/>
                          </a:solidFill>
                          <a:latin typeface="Arial" charset="0"/>
                        </a:rPr>
                        <a:t>Incrementos Namespaces existentes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Arial" pitchFamily="34" charset="0"/>
                        </a:rPr>
                        <a:t>21GB</a:t>
                      </a: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220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pt-PT" sz="1050" noProof="0">
                          <a:solidFill>
                            <a:schemeClr val="tx1"/>
                          </a:solidFill>
                          <a:latin typeface="Arial" charset="0"/>
                        </a:rPr>
                        <a:t>Novos Namespaces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Arial" pitchFamily="34" charset="0"/>
                        </a:rPr>
                        <a:t>n/a</a:t>
                      </a: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374">
                <a:tc>
                  <a:txBody>
                    <a:bodyPr/>
                    <a:lstStyle/>
                    <a:p>
                      <a:pPr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pt-PT" sz="1050" noProof="0">
                          <a:solidFill>
                            <a:schemeClr val="tx1"/>
                          </a:solidFill>
                          <a:latin typeface="Arial" charset="0"/>
                        </a:rPr>
                        <a:t>Reserva Quota Futura</a:t>
                      </a:r>
                    </a:p>
                  </a:txBody>
                  <a:tcPr marL="120000" marR="12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1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Arial" pitchFamily="34" charset="0"/>
                        </a:rPr>
                        <a:t>n/a</a:t>
                      </a: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528">
                <a:tc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1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Arial" pitchFamily="34" charset="0"/>
                        </a:rPr>
                        <a:t>TOTAL</a:t>
                      </a:r>
                    </a:p>
                  </a:txBody>
                  <a:tcPr marL="90000" marR="90000" marT="35095" marB="350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Arial" pitchFamily="34" charset="0"/>
                        </a:rPr>
                        <a:t>21 GB</a:t>
                      </a:r>
                    </a:p>
                  </a:txBody>
                  <a:tcPr marL="90000" marR="90000" marT="35095" marB="350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1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9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35095" marB="35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8301283" y="423758"/>
            <a:ext cx="3726815" cy="1726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es-ES" sz="1200" b="1" i="1" dirty="0">
                <a:solidFill>
                  <a:prstClr val="black"/>
                </a:solidFill>
                <a:latin typeface="Santander Headline" panose="020B0504020201020104" pitchFamily="34" charset="0"/>
                <a:sym typeface="Wingdings" panose="05000000000000000000" pitchFamily="2" charset="2"/>
              </a:rPr>
              <a:t>NOTE #1</a:t>
            </a:r>
            <a:r>
              <a:rPr lang="en-US" altLang="es-ES" sz="1200" i="1" dirty="0">
                <a:solidFill>
                  <a:prstClr val="black"/>
                </a:solidFill>
                <a:latin typeface="Santander Headline" panose="020B0504020201020104" pitchFamily="34" charset="0"/>
                <a:sym typeface="Wingdings" panose="05000000000000000000" pitchFamily="2" charset="2"/>
              </a:rPr>
              <a:t>: </a:t>
            </a:r>
            <a:r>
              <a:rPr lang="en-US" altLang="es-ES" sz="1200" b="0" i="1" dirty="0">
                <a:solidFill>
                  <a:prstClr val="black"/>
                </a:solidFill>
                <a:latin typeface="Santander Headline" panose="020B0504020201020104" pitchFamily="34" charset="0"/>
                <a:sym typeface="Wingdings" panose="05000000000000000000" pitchFamily="2" charset="2"/>
              </a:rPr>
              <a:t>Deploy </a:t>
            </a:r>
            <a:r>
              <a:rPr lang="en-US" altLang="es-ES" sz="1200" b="0" i="1" dirty="0" err="1">
                <a:solidFill>
                  <a:prstClr val="black"/>
                </a:solidFill>
                <a:latin typeface="Santander Headline" panose="020B0504020201020104" pitchFamily="34" charset="0"/>
                <a:sym typeface="Wingdings" panose="05000000000000000000" pitchFamily="2" charset="2"/>
              </a:rPr>
              <a:t>em</a:t>
            </a:r>
            <a:r>
              <a:rPr lang="en-US" altLang="es-ES" sz="1200" b="0" i="1" dirty="0">
                <a:solidFill>
                  <a:prstClr val="black"/>
                </a:solidFill>
                <a:latin typeface="Santander Headline" panose="020B0504020201020104" pitchFamily="34" charset="0"/>
                <a:sym typeface="Wingdings" panose="05000000000000000000" pitchFamily="2" charset="2"/>
              </a:rPr>
              <a:t> OCP  (Azure  / OHE)</a:t>
            </a:r>
            <a:endParaRPr lang="en-US" altLang="es-ES" sz="1200" i="1" dirty="0">
              <a:solidFill>
                <a:prstClr val="black"/>
              </a:solidFill>
              <a:latin typeface="Santander Headline" panose="020B0504020201020104" pitchFamily="34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es-ES" sz="1200" i="1" dirty="0">
              <a:solidFill>
                <a:prstClr val="black"/>
              </a:solidFill>
              <a:latin typeface="Santander Headline" panose="020B0504020201020104" pitchFamily="34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s-ES" sz="1200" i="1" dirty="0">
                <a:solidFill>
                  <a:prstClr val="black"/>
                </a:solidFill>
                <a:latin typeface="Santander Headline" panose="020B0504020201020104" pitchFamily="34" charset="0"/>
                <a:sym typeface="Wingdings" panose="05000000000000000000" pitchFamily="2" charset="2"/>
              </a:rPr>
              <a:t>NOTE #2: </a:t>
            </a:r>
            <a:r>
              <a:rPr lang="pt-PT" altLang="es-ES" sz="1200" b="0" i="1" dirty="0">
                <a:solidFill>
                  <a:prstClr val="black"/>
                </a:solidFill>
                <a:latin typeface="Santander Text" panose="020B0504020201020104" pitchFamily="34" charset="0"/>
                <a:sym typeface="Wingdings" panose="05000000000000000000" pitchFamily="2" charset="2"/>
              </a:rPr>
              <a:t>Equipa de desenvolvimento deverá identificar e solicitar a emissão de certificados e DNS para cada um dos serviços pretendidos</a:t>
            </a:r>
            <a:r>
              <a:rPr lang="en-US" altLang="es-ES" sz="1200" b="0" i="1" dirty="0">
                <a:solidFill>
                  <a:prstClr val="black"/>
                </a:solidFill>
                <a:latin typeface="Santander Headline" panose="020B0504020201020104" pitchFamily="34" charset="0"/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14" name="CuadroTexto 71">
            <a:extLst>
              <a:ext uri="{FF2B5EF4-FFF2-40B4-BE49-F238E27FC236}">
                <a16:creationId xmlns:a16="http://schemas.microsoft.com/office/drawing/2014/main" id="{11C261B5-A0A7-94F6-8A1D-B74771D1124C}"/>
              </a:ext>
            </a:extLst>
          </p:cNvPr>
          <p:cNvSpPr txBox="1"/>
          <p:nvPr/>
        </p:nvSpPr>
        <p:spPr>
          <a:xfrm>
            <a:off x="621102" y="485314"/>
            <a:ext cx="2853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000000"/>
                </a:solidFill>
                <a:latin typeface="+mj-lt"/>
              </a:rPr>
              <a:t>Openshift</a:t>
            </a:r>
            <a:endParaRPr lang="en-US" sz="16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9" name="Marcador de número de diapositiva 3">
            <a:extLst>
              <a:ext uri="{FF2B5EF4-FFF2-40B4-BE49-F238E27FC236}">
                <a16:creationId xmlns:a16="http://schemas.microsoft.com/office/drawing/2014/main" id="{32D54296-AA46-B479-197B-27B887F22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24381" y="6356350"/>
            <a:ext cx="41734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1A6315-1B6D-4306-AE81-37B8137F3D6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uadroTexto 51"/>
          <p:cNvSpPr txBox="1"/>
          <p:nvPr/>
        </p:nvSpPr>
        <p:spPr>
          <a:xfrm>
            <a:off x="621102" y="192926"/>
            <a:ext cx="3775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tx2"/>
                </a:solidFill>
              </a:defRPr>
            </a:lvl1pPr>
          </a:lstStyle>
          <a:p>
            <a:r>
              <a:rPr lang="en-US" sz="2400" dirty="0">
                <a:ln w="6350" cap="flat">
                  <a:noFill/>
                  <a:miter lim="800000"/>
                </a:ln>
                <a:solidFill>
                  <a:srgbClr val="FF0000"/>
                </a:solidFill>
                <a:latin typeface="Arial Black" panose="020B0A04020102020204" pitchFamily="34" charset="0"/>
              </a:rPr>
              <a:t>Volumes – SD 001053</a:t>
            </a:r>
          </a:p>
        </p:txBody>
      </p: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480879"/>
              </p:ext>
            </p:extLst>
          </p:nvPr>
        </p:nvGraphicFramePr>
        <p:xfrm>
          <a:off x="3266536" y="2267805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Worksheet" showAsIcon="1" r:id="rId4" imgW="914400" imgH="771480" progId="Excel.Sheet.12">
                  <p:embed/>
                </p:oleObj>
              </mc:Choice>
              <mc:Fallback>
                <p:oleObj name="Worksheet" showAsIcon="1" r:id="rId4" imgW="914400" imgH="771480" progId="Excel.Sheet.12">
                  <p:embed/>
                  <p:pic>
                    <p:nvPicPr>
                      <p:cNvPr id="2" name="Objeto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66536" y="2267805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9491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71">
            <a:extLst>
              <a:ext uri="{FF2B5EF4-FFF2-40B4-BE49-F238E27FC236}">
                <a16:creationId xmlns:a16="http://schemas.microsoft.com/office/drawing/2014/main" id="{11C261B5-A0A7-94F6-8A1D-B74771D1124C}"/>
              </a:ext>
            </a:extLst>
          </p:cNvPr>
          <p:cNvSpPr txBox="1"/>
          <p:nvPr/>
        </p:nvSpPr>
        <p:spPr>
          <a:xfrm>
            <a:off x="621102" y="485314"/>
            <a:ext cx="51068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+mj-lt"/>
              </a:rPr>
              <a:t>Base de Dados – Oracle </a:t>
            </a:r>
            <a:r>
              <a:rPr lang="en-US" sz="1600" b="1" dirty="0" err="1">
                <a:solidFill>
                  <a:srgbClr val="000000"/>
                </a:solidFill>
                <a:latin typeface="+mj-lt"/>
              </a:rPr>
              <a:t>Exatada</a:t>
            </a:r>
            <a:r>
              <a:rPr lang="en-US" sz="1600" b="1" dirty="0">
                <a:solidFill>
                  <a:srgbClr val="000000"/>
                </a:solidFill>
                <a:latin typeface="+mj-lt"/>
              </a:rPr>
              <a:t> - </a:t>
            </a:r>
            <a:r>
              <a:rPr lang="en-US" sz="1600" b="1" dirty="0" err="1">
                <a:solidFill>
                  <a:srgbClr val="000000"/>
                </a:solidFill>
                <a:latin typeface="+mj-lt"/>
              </a:rPr>
              <a:t>Incremento</a:t>
            </a:r>
            <a:endParaRPr lang="en-US" sz="16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9" name="Marcador de número de diapositiva 3">
            <a:extLst>
              <a:ext uri="{FF2B5EF4-FFF2-40B4-BE49-F238E27FC236}">
                <a16:creationId xmlns:a16="http://schemas.microsoft.com/office/drawing/2014/main" id="{32D54296-AA46-B479-197B-27B887F22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24381" y="6356350"/>
            <a:ext cx="41734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1A6315-1B6D-4306-AE81-37B8137F3D6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60076" y="823868"/>
            <a:ext cx="1098164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5138" lvl="1" indent="-285750">
              <a:lnSpc>
                <a:spcPct val="150000"/>
              </a:lnSpc>
              <a:buClr>
                <a:srgbClr val="FF0000"/>
              </a:buClr>
            </a:pPr>
            <a:r>
              <a:rPr lang="pt-PT" altLang="es-ES" sz="1200" i="1" dirty="0" err="1">
                <a:sym typeface="Wingdings" panose="05000000000000000000" pitchFamily="2" charset="2"/>
              </a:rPr>
              <a:t>Charset</a:t>
            </a:r>
            <a:r>
              <a:rPr lang="pt-PT" altLang="es-ES" sz="1200" i="1" dirty="0">
                <a:sym typeface="Wingdings" panose="05000000000000000000" pitchFamily="2" charset="2"/>
              </a:rPr>
              <a:t>: AL32UTF8</a:t>
            </a:r>
          </a:p>
          <a:p>
            <a:pPr marL="465138" lvl="1" indent="-285750">
              <a:lnSpc>
                <a:spcPct val="150000"/>
              </a:lnSpc>
              <a:buClr>
                <a:srgbClr val="FF0000"/>
              </a:buClr>
            </a:pPr>
            <a:r>
              <a:rPr lang="pt-PT" altLang="es-ES" sz="1200" i="1" dirty="0">
                <a:sym typeface="Wingdings" panose="05000000000000000000" pitchFamily="2" charset="2"/>
              </a:rPr>
              <a:t>A: Servidores de BD:</a:t>
            </a:r>
          </a:p>
          <a:p>
            <a:pPr marL="1265238" lvl="2" indent="-285750">
              <a:lnSpc>
                <a:spcPct val="150000"/>
              </a:lnSpc>
              <a:buClr>
                <a:srgbClr val="FF0000"/>
              </a:buClr>
            </a:pPr>
            <a:r>
              <a:rPr lang="pt-PT" altLang="es-ES" sz="1200" dirty="0">
                <a:sym typeface="Wingdings" panose="05000000000000000000" pitchFamily="2" charset="2"/>
              </a:rPr>
              <a:t>PRO: </a:t>
            </a:r>
            <a:r>
              <a:rPr lang="pt-PT" sz="1200" dirty="0"/>
              <a:t>OETOSD1M.TOTTA.CORP:60101:OETOSD1M</a:t>
            </a:r>
            <a:endParaRPr lang="pt-PT" altLang="es-ES" sz="1200" dirty="0">
              <a:sym typeface="Wingdings" panose="05000000000000000000" pitchFamily="2" charset="2"/>
            </a:endParaRPr>
          </a:p>
          <a:p>
            <a:pPr marL="1265238" lvl="2" indent="-285750">
              <a:lnSpc>
                <a:spcPct val="150000"/>
              </a:lnSpc>
              <a:buClr>
                <a:srgbClr val="FF0000"/>
              </a:buClr>
            </a:pPr>
            <a:r>
              <a:rPr lang="pt-PT" altLang="es-ES" sz="1200" dirty="0">
                <a:sym typeface="Wingdings" panose="05000000000000000000" pitchFamily="2" charset="2"/>
              </a:rPr>
              <a:t>PRE: </a:t>
            </a:r>
            <a:r>
              <a:rPr lang="pt-PT" sz="1200" dirty="0"/>
              <a:t>c3cntotpre01-scan.totta.pre.corp:1521/OTTO1XCC_SD2M_SRV.totta.pre.corp</a:t>
            </a:r>
            <a:endParaRPr lang="pt-PT" altLang="es-ES" sz="1200" dirty="0">
              <a:sym typeface="Wingdings" panose="05000000000000000000" pitchFamily="2" charset="2"/>
            </a:endParaRPr>
          </a:p>
          <a:p>
            <a:pPr marL="1265238" lvl="2" indent="-285750">
              <a:lnSpc>
                <a:spcPct val="150000"/>
              </a:lnSpc>
              <a:buClr>
                <a:srgbClr val="FF0000"/>
              </a:buClr>
            </a:pPr>
            <a:r>
              <a:rPr lang="pt-PT" altLang="es-ES" sz="1200" dirty="0">
                <a:sym typeface="Wingdings" panose="05000000000000000000" pitchFamily="2" charset="2"/>
              </a:rPr>
              <a:t>DEV: </a:t>
            </a:r>
            <a:r>
              <a:rPr lang="pt-PT" sz="1200" dirty="0"/>
              <a:t>ODTOSD2M.TOTTA.DEV.CORP</a:t>
            </a:r>
            <a:endParaRPr lang="pt-PT" altLang="es-ES" sz="1200" dirty="0">
              <a:sym typeface="Wingdings" panose="05000000000000000000" pitchFamily="2" charset="2"/>
            </a:endParaRPr>
          </a:p>
          <a:p>
            <a:pPr marL="465138" lvl="1" indent="-285750">
              <a:lnSpc>
                <a:spcPct val="150000"/>
              </a:lnSpc>
              <a:buClr>
                <a:srgbClr val="FF0000"/>
              </a:buClr>
            </a:pPr>
            <a:r>
              <a:rPr lang="pt-PT" altLang="es-ES" sz="1200" i="1" dirty="0">
                <a:sym typeface="Wingdings" panose="05000000000000000000" pitchFamily="2" charset="2"/>
              </a:rPr>
              <a:t>B: Incremento BD : </a:t>
            </a:r>
          </a:p>
          <a:p>
            <a:pPr marL="1265238" lvl="2" indent="-285750">
              <a:lnSpc>
                <a:spcPct val="150000"/>
              </a:lnSpc>
              <a:buClr>
                <a:srgbClr val="FF0000"/>
              </a:buClr>
            </a:pPr>
            <a:r>
              <a:rPr lang="pt-PT" altLang="es-ES" sz="1200" i="1" dirty="0">
                <a:sym typeface="Wingdings" panose="05000000000000000000" pitchFamily="2" charset="2"/>
              </a:rPr>
              <a:t>PRO: 100 GB</a:t>
            </a:r>
          </a:p>
          <a:p>
            <a:pPr marL="1265238" lvl="2" indent="-285750">
              <a:lnSpc>
                <a:spcPct val="150000"/>
              </a:lnSpc>
              <a:buClr>
                <a:srgbClr val="FF0000"/>
              </a:buClr>
            </a:pPr>
            <a:r>
              <a:rPr lang="pt-PT" altLang="es-ES" sz="1200" i="1" dirty="0">
                <a:sym typeface="Wingdings" panose="05000000000000000000" pitchFamily="2" charset="2"/>
              </a:rPr>
              <a:t>PRE: 50 GB</a:t>
            </a:r>
          </a:p>
          <a:p>
            <a:pPr marL="1265238" lvl="2" indent="-285750">
              <a:lnSpc>
                <a:spcPct val="150000"/>
              </a:lnSpc>
              <a:buClr>
                <a:srgbClr val="FF0000"/>
              </a:buClr>
            </a:pPr>
            <a:r>
              <a:rPr lang="pt-PT" altLang="es-ES" sz="1200" i="1" dirty="0">
                <a:sym typeface="Wingdings" panose="05000000000000000000" pitchFamily="2" charset="2"/>
              </a:rPr>
              <a:t>DEV: 5 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2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200" i="1" dirty="0"/>
          </a:p>
          <a:p>
            <a:endParaRPr lang="pt-PT" sz="1200" i="1" dirty="0"/>
          </a:p>
          <a:p>
            <a:endParaRPr lang="pt-PT" sz="12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200" i="1" dirty="0"/>
          </a:p>
          <a:p>
            <a:pPr marL="350838" indent="-285750">
              <a:lnSpc>
                <a:spcPct val="150000"/>
              </a:lnSpc>
              <a:buClr>
                <a:srgbClr val="FF0000"/>
              </a:buClr>
            </a:pPr>
            <a:endParaRPr lang="pt-PT" altLang="es-ES" sz="1200" i="1" dirty="0">
              <a:sym typeface="Wingdings" panose="05000000000000000000" pitchFamily="2" charset="2"/>
            </a:endParaRP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102" y="197391"/>
            <a:ext cx="9679435" cy="304800"/>
          </a:xfrm>
        </p:spPr>
        <p:txBody>
          <a:bodyPr/>
          <a:lstStyle/>
          <a:p>
            <a:pPr marL="0" lvl="1">
              <a:spcBef>
                <a:spcPts val="1000"/>
              </a:spcBef>
              <a:buClr>
                <a:srgbClr val="FF0000"/>
              </a:buClr>
            </a:pPr>
            <a:r>
              <a:rPr lang="pt-PT" altLang="pt-PT" sz="2400" dirty="0">
                <a:solidFill>
                  <a:schemeClr val="accent1"/>
                </a:solidFill>
              </a:rPr>
              <a:t>Volumes</a:t>
            </a:r>
          </a:p>
        </p:txBody>
      </p:sp>
    </p:spTree>
    <p:extLst>
      <p:ext uri="{BB962C8B-B14F-4D97-AF65-F5344CB8AC3E}">
        <p14:creationId xmlns:p14="http://schemas.microsoft.com/office/powerpoint/2010/main" val="3613190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4412" y="6486833"/>
            <a:ext cx="377588" cy="365125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16</a:t>
            </a:fld>
            <a:endParaRPr lang="es-ES"/>
          </a:p>
        </p:txBody>
      </p:sp>
      <p:sp>
        <p:nvSpPr>
          <p:cNvPr id="10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9358" y="291478"/>
            <a:ext cx="11398367" cy="304800"/>
          </a:xfrm>
        </p:spPr>
        <p:txBody>
          <a:bodyPr/>
          <a:lstStyle/>
          <a:p>
            <a:pPr marL="0" lvl="1">
              <a:spcBef>
                <a:spcPts val="1000"/>
              </a:spcBef>
              <a:buClr>
                <a:srgbClr val="FF0000"/>
              </a:buClr>
            </a:pPr>
            <a:r>
              <a:rPr lang="pt-PT" altLang="pt-PT" sz="2000" dirty="0"/>
              <a:t>Caso </a:t>
            </a:r>
            <a:r>
              <a:rPr lang="pt-PT" altLang="pt-PT" sz="2000" dirty="0" err="1"/>
              <a:t>Particular:Contratação</a:t>
            </a:r>
            <a:r>
              <a:rPr lang="pt-PT" altLang="pt-PT" sz="2000" dirty="0"/>
              <a:t> </a:t>
            </a:r>
            <a:r>
              <a:rPr lang="pt-PT" altLang="pt-PT" sz="2000" dirty="0" err="1"/>
              <a:t>Private</a:t>
            </a:r>
            <a:endParaRPr lang="pt-PT" altLang="pt-PT" sz="2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191318"/>
              </p:ext>
            </p:extLst>
          </p:nvPr>
        </p:nvGraphicFramePr>
        <p:xfrm>
          <a:off x="487555" y="716823"/>
          <a:ext cx="10404939" cy="1562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2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92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81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089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72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76574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32509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Origem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0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Destino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0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Protocolo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0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Processo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0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Direcção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0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Quantidade ficheiros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Periodicidade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0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Janela de </a:t>
                      </a:r>
                      <a:br>
                        <a:rPr lang="pt-PT" sz="1000" b="0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pt-PT" sz="1000" b="0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Execução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0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Autenticação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0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Formato Ficheiro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0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Mainframe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Passarela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Interna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pt-PT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SFTP</a:t>
                      </a:r>
                    </a:p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pt-PT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Interno</a:t>
                      </a:r>
                      <a:endParaRPr lang="pt-PT" sz="1000" b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SFTP</a:t>
                      </a:r>
                      <a:b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via JCL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PUT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x por dia ()</a:t>
                      </a:r>
                      <a:b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1x por dia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/>
                      </a:r>
                      <a:b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PT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nocturno</a:t>
                      </a:r>
                      <a:endParaRPr lang="pt-PT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ctr" rtl="0" fontAlgn="ctr">
                        <a:buNone/>
                      </a:pP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Par de Chaves RSA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txt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ctr">
                        <a:buNone/>
                      </a:pP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Operações e Propostas </a:t>
                      </a:r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private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Passarela</a:t>
                      </a:r>
                      <a:br>
                        <a:rPr lang="pt-PT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</a:br>
                      <a:r>
                        <a:rPr lang="pt-PT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Interna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CONTRATAÇÃO AUTOMATICA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pt-PT" sz="1000" b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/>
                          <a:cs typeface="Times New Roman"/>
                        </a:rPr>
                        <a:t>https</a:t>
                      </a:r>
                      <a:endParaRPr lang="pt-PT" sz="1000" b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pt-PT" sz="1000" b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/>
                          <a:cs typeface="Times New Roman"/>
                        </a:rPr>
                        <a:t>cUrl</a:t>
                      </a:r>
                      <a:endParaRPr lang="pt-PT" sz="1000" b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pt-PT" sz="1000" b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/>
                          <a:cs typeface="Times New Roman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x por dia ()</a:t>
                      </a:r>
                      <a:b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1x por dia</a:t>
                      </a:r>
                    </a:p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endParaRPr lang="pt-PT" sz="1000" b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pt-PT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nocturno</a:t>
                      </a:r>
                      <a:endParaRPr lang="pt-PT" sz="1000" b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pt-PT" sz="1000" b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/>
                          <a:cs typeface="Times New Roman"/>
                        </a:rPr>
                        <a:t>JWT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txt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Operações e Propostas </a:t>
                      </a:r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private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48698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25468" y="2415587"/>
            <a:ext cx="247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err="1"/>
              <a:t>Filesystems</a:t>
            </a:r>
            <a:endParaRPr lang="pt-PT" dirty="0"/>
          </a:p>
        </p:txBody>
      </p:sp>
      <p:graphicFrame>
        <p:nvGraphicFramePr>
          <p:cNvPr id="12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851907"/>
              </p:ext>
            </p:extLst>
          </p:nvPr>
        </p:nvGraphicFramePr>
        <p:xfrm>
          <a:off x="424274" y="2929410"/>
          <a:ext cx="11343451" cy="1440160"/>
        </p:xfrm>
        <a:graphic>
          <a:graphicData uri="http://schemas.openxmlformats.org/drawingml/2006/table">
            <a:tbl>
              <a:tblPr firstRow="1" firstCol="1" bandRow="1"/>
              <a:tblGrid>
                <a:gridCol w="867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4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1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0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26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41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14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304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2346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0" kern="120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Ambiente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0" kern="120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Servidor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0" kern="120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FS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0" kern="120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SIZE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lang="pt-PT" sz="1000" b="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Usuário proprietário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lang="pt-PT" sz="1000" b="0" kern="1200">
                        <a:solidFill>
                          <a:schemeClr val="bg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lang="pt-PT" sz="1000" b="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Grupo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lang="pt-PT" sz="1000" b="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proprietário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lang="pt-PT" sz="1000" b="0" kern="1200">
                        <a:solidFill>
                          <a:schemeClr val="bg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0" kern="120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Permissões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000" b="0" kern="120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+mn-cs"/>
                        </a:rPr>
                        <a:t>Responsável Filesystems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70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pt-PT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PRO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-228600">
                        <a:lnSpc>
                          <a:spcPct val="150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pt-PT" sz="900" i="1"/>
                        <a:t>TOTLCCPBATP0003.TOTTA.CORP (TIER2_PRO)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/applx/capinv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1 GB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capinvusrp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capinvgrpp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rwx</a:t>
                      </a:r>
                      <a:endParaRPr lang="pt-PT" sz="1000" kern="120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fontAlgn="t"/>
                      <a:endParaRPr lang="pt-PT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fontAlgn="t"/>
                      <a:endParaRPr lang="pt-PT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Luiz Filipe Baptista Ferreira da Silva </a:t>
                      </a:r>
                      <a:r>
                        <a:rPr lang="pt-PT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  <a:hlinkClick r:id="rId2"/>
                        </a:rPr>
                        <a:t>luiz.silva@santander.pt</a:t>
                      </a:r>
                      <a:r>
                        <a:rPr lang="pt-PT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</a:p>
                    <a:p>
                      <a:pPr fontAlgn="t"/>
                      <a:endParaRPr lang="pt-PT" sz="10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70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pt-PT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PRE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-228600">
                        <a:lnSpc>
                          <a:spcPct val="150000"/>
                        </a:lnSpc>
                        <a:buClr>
                          <a:srgbClr val="FF00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pt-PT" sz="900" i="1"/>
                        <a:t>TOTLCCPBATI0003.TOTTA.PRE.CORP (TIER2_PRE)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/applx/capinv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500 MB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capinvusrq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capinvgrpq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rwx</a:t>
                      </a:r>
                      <a:endParaRPr lang="pt-PT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110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29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pt-PT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DEV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pt-PT" sz="900" i="1" dirty="0">
                          <a:solidFill>
                            <a:schemeClr val="tx1"/>
                          </a:solidFill>
                        </a:rPr>
                        <a:t>TOTLVDPBATD0003.TOTTA.DEV.CORP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applx</a:t>
                      </a: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capinv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100 MB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capinvusrd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capinvgrpd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rwx</a:t>
                      </a:r>
                      <a:endParaRPr lang="pt-PT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110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3" name="Grupo 12"/>
          <p:cNvGrpSpPr/>
          <p:nvPr/>
        </p:nvGrpSpPr>
        <p:grpSpPr>
          <a:xfrm>
            <a:off x="7006167" y="4459288"/>
            <a:ext cx="1896533" cy="1145645"/>
            <a:chOff x="7006167" y="4459288"/>
            <a:chExt cx="1896533" cy="1145645"/>
          </a:xfrm>
        </p:grpSpPr>
        <p:grpSp>
          <p:nvGrpSpPr>
            <p:cNvPr id="15" name="Grupo 14"/>
            <p:cNvGrpSpPr/>
            <p:nvPr/>
          </p:nvGrpSpPr>
          <p:grpSpPr>
            <a:xfrm>
              <a:off x="7006167" y="4459288"/>
              <a:ext cx="1896533" cy="1145645"/>
              <a:chOff x="7006167" y="4459288"/>
              <a:chExt cx="1896533" cy="1145645"/>
            </a:xfrm>
            <a:solidFill>
              <a:schemeClr val="bg1"/>
            </a:solidFill>
          </p:grpSpPr>
          <p:sp>
            <p:nvSpPr>
              <p:cNvPr id="19" name="Retângulo 18"/>
              <p:cNvSpPr/>
              <p:nvPr/>
            </p:nvSpPr>
            <p:spPr>
              <a:xfrm>
                <a:off x="8191500" y="4459288"/>
                <a:ext cx="711200" cy="593675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" name="Retângulo 19"/>
              <p:cNvSpPr/>
              <p:nvPr/>
            </p:nvSpPr>
            <p:spPr>
              <a:xfrm>
                <a:off x="7938562" y="4459817"/>
                <a:ext cx="388697" cy="1136650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" name="Retângulo 20"/>
              <p:cNvSpPr/>
              <p:nvPr/>
            </p:nvSpPr>
            <p:spPr>
              <a:xfrm>
                <a:off x="7006167" y="5232400"/>
                <a:ext cx="1331383" cy="372533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16" name="Retângulo 15"/>
            <p:cNvSpPr/>
            <p:nvPr/>
          </p:nvSpPr>
          <p:spPr>
            <a:xfrm>
              <a:off x="7918446" y="5202767"/>
              <a:ext cx="357188" cy="64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7931150" y="5199561"/>
              <a:ext cx="400048" cy="677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" name="Retângulo 17"/>
            <p:cNvSpPr/>
            <p:nvPr/>
          </p:nvSpPr>
          <p:spPr>
            <a:xfrm>
              <a:off x="8280400" y="4492744"/>
              <a:ext cx="114300" cy="5267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pic>
        <p:nvPicPr>
          <p:cNvPr id="2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516" y="4598596"/>
            <a:ext cx="3698259" cy="2108175"/>
          </a:xfrm>
          <a:prstGeom prst="rect">
            <a:avLst/>
          </a:prstGeom>
        </p:spPr>
      </p:pic>
      <p:sp>
        <p:nvSpPr>
          <p:cNvPr id="2" name="AutoShape 35">
            <a:extLst>
              <a:ext uri="{FF2B5EF4-FFF2-40B4-BE49-F238E27FC236}">
                <a16:creationId xmlns:a16="http://schemas.microsoft.com/office/drawing/2014/main" id="{F0C9FB2B-6C71-244B-E34E-393C9F0DC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7283" y="6102967"/>
            <a:ext cx="349104" cy="290344"/>
          </a:xfrm>
          <a:prstGeom prst="star8">
            <a:avLst>
              <a:gd name="adj" fmla="val 38250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00" u="sng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pt-PT" altLang="pt-PT" sz="900" b="1" u="none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5540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Segurança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57297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18</a:t>
            </a:fld>
            <a:endParaRPr lang="es-ES"/>
          </a:p>
        </p:txBody>
      </p:sp>
      <p:sp>
        <p:nvSpPr>
          <p:cNvPr id="10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9679435" cy="304800"/>
          </a:xfrm>
        </p:spPr>
        <p:txBody>
          <a:bodyPr/>
          <a:lstStyle/>
          <a:p>
            <a:pPr marL="0" lvl="1">
              <a:spcBef>
                <a:spcPts val="1000"/>
              </a:spcBef>
              <a:buClr>
                <a:srgbClr val="FF0000"/>
              </a:buClr>
            </a:pPr>
            <a:r>
              <a:rPr lang="pt-PT" altLang="pt-PT" sz="2400" dirty="0">
                <a:solidFill>
                  <a:schemeClr val="accent1"/>
                </a:solidFill>
              </a:rPr>
              <a:t>Segurança</a:t>
            </a:r>
            <a:endParaRPr lang="pt-PT" altLang="pt-PT" sz="1800" dirty="0">
              <a:solidFill>
                <a:schemeClr val="accent1"/>
              </a:solidFill>
            </a:endParaRPr>
          </a:p>
          <a:p>
            <a:pPr marL="0" lvl="1">
              <a:spcBef>
                <a:spcPts val="1000"/>
              </a:spcBef>
              <a:buClr>
                <a:srgbClr val="FF0000"/>
              </a:buClr>
            </a:pPr>
            <a:endParaRPr lang="pt-PT" altLang="pt-PT" sz="1400" dirty="0">
              <a:solidFill>
                <a:schemeClr val="accent1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77104" y="701914"/>
            <a:ext cx="11423743" cy="480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indent="0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465138" lvl="1" indent="-285750">
              <a:lnSpc>
                <a:spcPct val="150000"/>
              </a:lnSpc>
              <a:buClr>
                <a:srgbClr val="FF0000"/>
              </a:buClr>
            </a:pPr>
            <a:endParaRPr lang="pt-PT" altLang="es-ES" sz="1100" i="1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77104" y="837630"/>
            <a:ext cx="11423743" cy="5022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>
              <a:lnSpc>
                <a:spcPct val="150000"/>
              </a:lnSpc>
              <a:buClr>
                <a:srgbClr val="FF0000"/>
              </a:buClr>
              <a:buNone/>
              <a:tabLst>
                <a:tab pos="457200" algn="l"/>
              </a:tabLst>
            </a:pPr>
            <a:r>
              <a:rPr lang="pt-PT" altLang="es-ES" sz="1300" b="1" i="1" u="sng" dirty="0" err="1">
                <a:solidFill>
                  <a:srgbClr val="FF0000"/>
                </a:solidFill>
                <a:sym typeface="Wingdings" panose="05000000000000000000" pitchFamily="2" charset="2"/>
              </a:rPr>
              <a:t>APIs</a:t>
            </a:r>
            <a:r>
              <a:rPr lang="pt-PT" altLang="es-ES" sz="1300" b="1" i="1" u="sng" dirty="0">
                <a:solidFill>
                  <a:srgbClr val="FF0000"/>
                </a:solidFill>
                <a:sym typeface="Wingdings" panose="05000000000000000000" pitchFamily="2" charset="2"/>
              </a:rPr>
              <a:t> REST Expostas</a:t>
            </a:r>
            <a:endParaRPr lang="pt-PT" sz="1300" i="1" dirty="0">
              <a:solidFill>
                <a:schemeClr val="tx1"/>
              </a:solidFill>
            </a:endParaRPr>
          </a:p>
          <a:p>
            <a:pPr marL="465138" lvl="1" indent="-285750">
              <a:lnSpc>
                <a:spcPct val="150000"/>
              </a:lnSpc>
              <a:buClr>
                <a:srgbClr val="FF0000"/>
              </a:buClr>
              <a:tabLst>
                <a:tab pos="457200" algn="l"/>
              </a:tabLst>
            </a:pPr>
            <a:r>
              <a:rPr lang="pt-PT" sz="1300" i="1" dirty="0">
                <a:solidFill>
                  <a:schemeClr val="tx1"/>
                </a:solidFill>
              </a:rPr>
              <a:t>Os serviços </a:t>
            </a:r>
            <a:r>
              <a:rPr lang="pt-PT" sz="1300" i="1" dirty="0" err="1">
                <a:solidFill>
                  <a:schemeClr val="tx1"/>
                </a:solidFill>
              </a:rPr>
              <a:t>rest</a:t>
            </a:r>
            <a:r>
              <a:rPr lang="pt-PT" sz="1300" i="1" dirty="0">
                <a:solidFill>
                  <a:schemeClr val="tx1"/>
                </a:solidFill>
              </a:rPr>
              <a:t> expostos pelo sistema deverão estar protegidas por </a:t>
            </a:r>
            <a:r>
              <a:rPr lang="pt-PT" sz="1300" i="1" dirty="0" err="1">
                <a:solidFill>
                  <a:schemeClr val="tx1"/>
                </a:solidFill>
              </a:rPr>
              <a:t>Token</a:t>
            </a:r>
            <a:r>
              <a:rPr lang="pt-PT" sz="1300" i="1" dirty="0">
                <a:solidFill>
                  <a:schemeClr val="tx1"/>
                </a:solidFill>
              </a:rPr>
              <a:t> JWT gerado pelo API Gateway </a:t>
            </a:r>
            <a:r>
              <a:rPr lang="pt-PT" sz="1300" i="1" dirty="0" err="1">
                <a:solidFill>
                  <a:schemeClr val="tx1"/>
                </a:solidFill>
              </a:rPr>
              <a:t>apartir</a:t>
            </a:r>
            <a:r>
              <a:rPr lang="pt-PT" sz="1300" i="1" dirty="0">
                <a:solidFill>
                  <a:schemeClr val="tx1"/>
                </a:solidFill>
              </a:rPr>
              <a:t> do </a:t>
            </a:r>
            <a:r>
              <a:rPr lang="pt-PT" sz="1300" i="1" dirty="0" err="1">
                <a:solidFill>
                  <a:schemeClr val="tx1"/>
                </a:solidFill>
              </a:rPr>
              <a:t>access</a:t>
            </a:r>
            <a:r>
              <a:rPr lang="pt-PT" sz="1300" i="1" dirty="0">
                <a:solidFill>
                  <a:schemeClr val="tx1"/>
                </a:solidFill>
              </a:rPr>
              <a:t> </a:t>
            </a:r>
            <a:r>
              <a:rPr lang="pt-PT" sz="1300" i="1" dirty="0" err="1">
                <a:solidFill>
                  <a:schemeClr val="tx1"/>
                </a:solidFill>
              </a:rPr>
              <a:t>token</a:t>
            </a:r>
            <a:r>
              <a:rPr lang="pt-PT" sz="1300" i="1" dirty="0">
                <a:solidFill>
                  <a:schemeClr val="tx1"/>
                </a:solidFill>
              </a:rPr>
              <a:t> passado pelas consumidoras (obtido através do servidor </a:t>
            </a:r>
            <a:r>
              <a:rPr lang="pt-PT" sz="1300" i="1" dirty="0" err="1">
                <a:solidFill>
                  <a:schemeClr val="tx1"/>
                </a:solidFill>
              </a:rPr>
              <a:t>oAuth</a:t>
            </a:r>
            <a:r>
              <a:rPr lang="pt-PT" sz="1300" i="1" dirty="0">
                <a:solidFill>
                  <a:schemeClr val="tx1"/>
                </a:solidFill>
              </a:rPr>
              <a:t> correspondente)</a:t>
            </a:r>
          </a:p>
          <a:p>
            <a:pPr marL="465138" lvl="1" indent="-285750">
              <a:lnSpc>
                <a:spcPct val="150000"/>
              </a:lnSpc>
              <a:buClr>
                <a:srgbClr val="FF0000"/>
              </a:buClr>
              <a:tabLst>
                <a:tab pos="457200" algn="l"/>
              </a:tabLst>
            </a:pPr>
            <a:r>
              <a:rPr lang="pt-PT" sz="1300" i="1" dirty="0">
                <a:solidFill>
                  <a:schemeClr val="tx1"/>
                </a:solidFill>
              </a:rPr>
              <a:t>Cabe a cada micro-serviço do sistema a validação do </a:t>
            </a:r>
            <a:r>
              <a:rPr lang="pt-PT" sz="1300" i="1" dirty="0" err="1">
                <a:solidFill>
                  <a:schemeClr val="tx1"/>
                </a:solidFill>
              </a:rPr>
              <a:t>token</a:t>
            </a:r>
            <a:r>
              <a:rPr lang="pt-PT" sz="1300" i="1" dirty="0">
                <a:solidFill>
                  <a:schemeClr val="tx1"/>
                </a:solidFill>
              </a:rPr>
              <a:t> através de incorporação de </a:t>
            </a:r>
            <a:r>
              <a:rPr lang="pt-PT" sz="1300" i="1" dirty="0" err="1">
                <a:solidFill>
                  <a:schemeClr val="tx1"/>
                </a:solidFill>
              </a:rPr>
              <a:t>libs</a:t>
            </a:r>
            <a:r>
              <a:rPr lang="pt-PT" sz="1300" i="1" dirty="0">
                <a:solidFill>
                  <a:schemeClr val="tx1"/>
                </a:solidFill>
              </a:rPr>
              <a:t>/filtro de segurança que faz a validação local (mediante previa descarga da chave publica – funcionalidade incorporada na </a:t>
            </a:r>
            <a:r>
              <a:rPr lang="pt-PT" sz="1300" i="1" dirty="0" err="1">
                <a:solidFill>
                  <a:schemeClr val="tx1"/>
                </a:solidFill>
              </a:rPr>
              <a:t>lib</a:t>
            </a:r>
            <a:r>
              <a:rPr lang="pt-PT" sz="1300" i="1" dirty="0">
                <a:solidFill>
                  <a:schemeClr val="tx1"/>
                </a:solidFill>
              </a:rPr>
              <a:t>).</a:t>
            </a:r>
          </a:p>
          <a:p>
            <a:pPr marL="465138" lvl="1" indent="-285750">
              <a:lnSpc>
                <a:spcPct val="150000"/>
              </a:lnSpc>
              <a:buClr>
                <a:srgbClr val="FF0000"/>
              </a:buClr>
              <a:tabLst>
                <a:tab pos="457200" algn="l"/>
              </a:tabLst>
            </a:pPr>
            <a:r>
              <a:rPr lang="pt-PT" sz="1300" i="1" dirty="0">
                <a:solidFill>
                  <a:schemeClr val="tx1"/>
                </a:solidFill>
              </a:rPr>
              <a:t>Toda a comunicação deverá ser </a:t>
            </a:r>
            <a:r>
              <a:rPr lang="pt-PT" sz="1300" i="1" dirty="0" err="1">
                <a:solidFill>
                  <a:schemeClr val="tx1"/>
                </a:solidFill>
              </a:rPr>
              <a:t>https</a:t>
            </a:r>
            <a:r>
              <a:rPr lang="pt-PT" sz="1300" i="1" dirty="0">
                <a:solidFill>
                  <a:schemeClr val="tx1"/>
                </a:solidFill>
              </a:rPr>
              <a:t>. A terminação TLS fica a cargo da plataforma Openshift, sendo no entanto necessário gerar certificados para cada </a:t>
            </a:r>
            <a:r>
              <a:rPr lang="pt-PT" sz="1300" i="1" dirty="0" err="1">
                <a:solidFill>
                  <a:schemeClr val="tx1"/>
                </a:solidFill>
              </a:rPr>
              <a:t>route</a:t>
            </a:r>
            <a:r>
              <a:rPr lang="pt-PT" sz="1300" i="1" dirty="0">
                <a:solidFill>
                  <a:schemeClr val="tx1"/>
                </a:solidFill>
              </a:rPr>
              <a:t>/</a:t>
            </a:r>
            <a:r>
              <a:rPr lang="pt-PT" sz="1300" i="1" dirty="0" err="1">
                <a:solidFill>
                  <a:schemeClr val="tx1"/>
                </a:solidFill>
              </a:rPr>
              <a:t>dns</a:t>
            </a:r>
            <a:r>
              <a:rPr lang="pt-PT" sz="1300" i="1" dirty="0">
                <a:solidFill>
                  <a:schemeClr val="tx1"/>
                </a:solidFill>
              </a:rPr>
              <a:t> exposto.</a:t>
            </a:r>
          </a:p>
          <a:p>
            <a:pPr marL="465138" lvl="1" indent="-285750">
              <a:lnSpc>
                <a:spcPct val="150000"/>
              </a:lnSpc>
              <a:buClr>
                <a:srgbClr val="FF0000"/>
              </a:buClr>
              <a:tabLst>
                <a:tab pos="457200" algn="l"/>
              </a:tabLst>
            </a:pPr>
            <a:endParaRPr lang="pt-PT" sz="1300" i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  <a:tabLst>
                <a:tab pos="457200" algn="l"/>
              </a:tabLst>
            </a:pPr>
            <a:r>
              <a:rPr lang="pt-PT" altLang="es-ES" sz="1300" b="1" i="1" u="sng" dirty="0">
                <a:solidFill>
                  <a:srgbClr val="FF0000"/>
                </a:solidFill>
                <a:sym typeface="Wingdings" panose="05000000000000000000" pitchFamily="2" charset="2"/>
              </a:rPr>
              <a:t>SSO Broker Online</a:t>
            </a:r>
            <a:endParaRPr lang="pt-PT" sz="1300" i="1" dirty="0">
              <a:solidFill>
                <a:schemeClr val="tx1"/>
              </a:solidFill>
            </a:endParaRPr>
          </a:p>
          <a:p>
            <a:pPr marL="465138" lvl="1" indent="-285750">
              <a:lnSpc>
                <a:spcPct val="150000"/>
              </a:lnSpc>
              <a:buClr>
                <a:srgbClr val="FF0000"/>
              </a:buClr>
              <a:tabLst>
                <a:tab pos="457200" algn="l"/>
              </a:tabLst>
            </a:pPr>
            <a:r>
              <a:rPr lang="pt-PT" sz="1300" i="1" dirty="0">
                <a:solidFill>
                  <a:schemeClr val="tx1"/>
                </a:solidFill>
              </a:rPr>
              <a:t>A integração entre MCS Contratação </a:t>
            </a:r>
            <a:r>
              <a:rPr lang="pt-PT" sz="1300" i="1" dirty="0" err="1">
                <a:solidFill>
                  <a:schemeClr val="tx1"/>
                </a:solidFill>
              </a:rPr>
              <a:t>Automatica</a:t>
            </a:r>
            <a:r>
              <a:rPr lang="pt-PT" sz="1300" i="1" dirty="0">
                <a:solidFill>
                  <a:schemeClr val="tx1"/>
                </a:solidFill>
              </a:rPr>
              <a:t> / Broker Online (SSO) será feita de acordo com o DT anexo (#REF1), slide 62. 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  <a:tabLst>
                <a:tab pos="457200" algn="l"/>
              </a:tabLst>
            </a:pPr>
            <a:endParaRPr lang="pt-PT" altLang="es-ES" sz="1300" b="1" i="1" u="sng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2892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Monitorização, Logging e</a:t>
            </a:r>
            <a:br>
              <a:rPr lang="pt-PT" dirty="0"/>
            </a:br>
            <a:r>
              <a:rPr lang="pt-PT" dirty="0"/>
              <a:t>Auditing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2574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108446-6E87-53E6-CBB3-777CCE4B0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705" y="442814"/>
            <a:ext cx="7395586" cy="5246706"/>
          </a:xfrm>
          <a:prstGeom prst="rect">
            <a:avLst/>
          </a:prstGeom>
        </p:spPr>
      </p:pic>
      <p:sp>
        <p:nvSpPr>
          <p:cNvPr id="5" name="CuadroTexto 5">
            <a:extLst>
              <a:ext uri="{FF2B5EF4-FFF2-40B4-BE49-F238E27FC236}">
                <a16:creationId xmlns:a16="http://schemas.microsoft.com/office/drawing/2014/main" id="{E220775D-5790-A2D1-1806-40BD654C6B9F}"/>
              </a:ext>
            </a:extLst>
          </p:cNvPr>
          <p:cNvSpPr txBox="1"/>
          <p:nvPr/>
        </p:nvSpPr>
        <p:spPr>
          <a:xfrm>
            <a:off x="99745" y="113594"/>
            <a:ext cx="5257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noProof="1">
                <a:solidFill>
                  <a:srgbClr val="FF0000"/>
                </a:solidFill>
              </a:rPr>
              <a:t>Observability - </a:t>
            </a:r>
            <a:r>
              <a:rPr lang="en-US" b="1" noProof="1">
                <a:solidFill>
                  <a:srgbClr val="FF0000"/>
                </a:solidFill>
              </a:rPr>
              <a:t>Monitoring</a:t>
            </a:r>
            <a:endParaRPr lang="en-US" sz="2800" b="1" noProof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8C38AE-8CE1-714E-AC31-63C6F0D7AA7C}"/>
              </a:ext>
            </a:extLst>
          </p:cNvPr>
          <p:cNvSpPr/>
          <p:nvPr/>
        </p:nvSpPr>
        <p:spPr>
          <a:xfrm>
            <a:off x="8761621" y="1611681"/>
            <a:ext cx="949068" cy="992491"/>
          </a:xfrm>
          <a:prstGeom prst="rect">
            <a:avLst/>
          </a:prstGeom>
          <a:solidFill>
            <a:srgbClr val="7030A0">
              <a:alpha val="1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Marcador de número de diapositiva 4">
            <a:extLst>
              <a:ext uri="{FF2B5EF4-FFF2-40B4-BE49-F238E27FC236}">
                <a16:creationId xmlns:a16="http://schemas.microsoft.com/office/drawing/2014/main" id="{34D2C47E-C972-AC2E-2E65-828D130F5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6620" y="6495350"/>
            <a:ext cx="427092" cy="365125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20</a:t>
            </a:fld>
            <a:endParaRPr lang="es-ES"/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0" y="840459"/>
            <a:ext cx="4468483" cy="504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r>
              <a:rPr lang="en-US" sz="1200" i="1" dirty="0">
                <a:solidFill>
                  <a:srgbClr val="FF0000"/>
                </a:solidFill>
                <a:latin typeface="Arial"/>
                <a:cs typeface="Arial"/>
              </a:rPr>
              <a:t>PaaS Application</a:t>
            </a:r>
            <a:endParaRPr lang="en-US" dirty="0">
              <a:latin typeface="Arial"/>
              <a:cs typeface="Arial"/>
            </a:endParaRP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altLang="es-ES" sz="1200" i="1" dirty="0">
                <a:solidFill>
                  <a:schemeClr val="tx1"/>
                </a:solidFill>
                <a:latin typeface="Arial"/>
                <a:cs typeface="Arial"/>
              </a:rPr>
              <a:t>The monitoring solution is based on APM of </a:t>
            </a:r>
            <a:r>
              <a:rPr lang="en-US" altLang="es-ES" sz="1200" i="1" dirty="0" err="1">
                <a:solidFill>
                  <a:schemeClr val="tx1"/>
                </a:solidFill>
                <a:latin typeface="Arial"/>
                <a:cs typeface="Arial"/>
              </a:rPr>
              <a:t>Dynatrace</a:t>
            </a:r>
            <a:endParaRPr lang="en-US" altLang="es-ES" sz="1200" i="1" dirty="0">
              <a:solidFill>
                <a:schemeClr val="tx1"/>
              </a:solidFill>
              <a:cs typeface="Arial"/>
              <a:sym typeface="Wingdings" panose="05000000000000000000" pitchFamily="2" charset="2"/>
            </a:endParaRP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altLang="es-ES" sz="1200" i="1" dirty="0">
                <a:solidFill>
                  <a:schemeClr val="tx1"/>
                </a:solidFill>
                <a:latin typeface="Arial"/>
                <a:cs typeface="Arial"/>
              </a:rPr>
              <a:t>The monitoring of the application should be solicited  by the Project team </a:t>
            </a:r>
            <a:endParaRPr lang="en-US" altLang="es-ES" sz="1200" i="1" dirty="0">
              <a:solidFill>
                <a:schemeClr val="tx1"/>
              </a:solidFill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altLang="es-ES" sz="1200" i="1" dirty="0">
              <a:solidFill>
                <a:srgbClr val="000000"/>
              </a:solidFill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r>
              <a:rPr lang="en-US" sz="1200" i="1" dirty="0">
                <a:solidFill>
                  <a:srgbClr val="FF0000"/>
                </a:solidFill>
                <a:latin typeface="Arial"/>
                <a:cs typeface="Arial"/>
              </a:rPr>
              <a:t>Health check PaaS</a:t>
            </a: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sz="1200" i="1" dirty="0">
                <a:solidFill>
                  <a:schemeClr val="tx1"/>
                </a:solidFill>
                <a:latin typeface="Arial"/>
                <a:cs typeface="Arial"/>
              </a:rPr>
              <a:t>The </a:t>
            </a:r>
            <a:r>
              <a:rPr lang="en-US" sz="1200" i="1" dirty="0" err="1">
                <a:solidFill>
                  <a:schemeClr val="tx1"/>
                </a:solidFill>
                <a:latin typeface="Arial"/>
                <a:cs typeface="Arial"/>
              </a:rPr>
              <a:t>Openshift</a:t>
            </a:r>
            <a:r>
              <a:rPr lang="en-US" sz="1200" i="1" dirty="0">
                <a:solidFill>
                  <a:schemeClr val="tx1"/>
                </a:solidFill>
                <a:latin typeface="Arial"/>
                <a:cs typeface="Arial"/>
              </a:rPr>
              <a:t> controls the readiness state of the Pods. The apps should expose an end-point for health check, the application could create a there unique end-point or by default add Spring-boot-actuator giving access to “/actuator/health/readiness”</a:t>
            </a: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sz="1200" dirty="0">
                <a:latin typeface="Arial"/>
                <a:cs typeface="Arial"/>
                <a:hlinkClick r:id="rId3"/>
              </a:rPr>
              <a:t>https://spring.io/blog/2020/03/25/liveness-and-readiness-probes-with-spring-boot</a:t>
            </a:r>
            <a:endParaRPr lang="en-US" sz="1200" dirty="0">
              <a:latin typeface="Arial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r>
              <a:rPr lang="en-US" sz="1200" i="1" dirty="0">
                <a:solidFill>
                  <a:srgbClr val="FF0000"/>
                </a:solidFill>
                <a:latin typeface="Arial"/>
                <a:cs typeface="Arial"/>
              </a:rPr>
              <a:t>Azure Monitoring</a:t>
            </a:r>
            <a:endParaRPr lang="en-US" sz="1200" dirty="0">
              <a:latin typeface="Arial"/>
              <a:cs typeface="Arial"/>
            </a:endParaRP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altLang="es-ES" sz="1200" i="1" dirty="0">
                <a:solidFill>
                  <a:schemeClr val="tx1"/>
                </a:solidFill>
                <a:latin typeface="Arial"/>
                <a:cs typeface="Arial"/>
              </a:rPr>
              <a:t>The monitoring solution is based on APM of </a:t>
            </a:r>
            <a:r>
              <a:rPr lang="en-US" altLang="es-ES" sz="1200" i="1" dirty="0" err="1">
                <a:solidFill>
                  <a:schemeClr val="tx1"/>
                </a:solidFill>
                <a:latin typeface="Arial"/>
                <a:cs typeface="Arial"/>
              </a:rPr>
              <a:t>Dynatrace</a:t>
            </a:r>
            <a:endParaRPr lang="en-US" altLang="es-ES" sz="1200" i="1" dirty="0">
              <a:solidFill>
                <a:schemeClr val="tx1"/>
              </a:solidFill>
              <a:cs typeface="Arial"/>
              <a:sym typeface="Wingdings" panose="05000000000000000000" pitchFamily="2" charset="2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altLang="es-ES" sz="1200" i="1" dirty="0">
              <a:solidFill>
                <a:schemeClr val="tx1"/>
              </a:solidFill>
              <a:latin typeface="Arial"/>
              <a:cs typeface="Arial"/>
            </a:endParaRP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endParaRPr lang="en-US" altLang="es-ES" sz="1200" i="1" dirty="0">
              <a:solidFill>
                <a:schemeClr val="tx1"/>
              </a:solidFill>
              <a:latin typeface="Arial"/>
              <a:cs typeface="Arial"/>
            </a:endParaRP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endParaRPr lang="en-US" altLang="es-ES" sz="1200" i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B8C38AE-8CE1-714E-AC31-63C6F0D7AA7C}"/>
              </a:ext>
            </a:extLst>
          </p:cNvPr>
          <p:cNvSpPr/>
          <p:nvPr/>
        </p:nvSpPr>
        <p:spPr>
          <a:xfrm>
            <a:off x="8761621" y="531002"/>
            <a:ext cx="949068" cy="992491"/>
          </a:xfrm>
          <a:prstGeom prst="rect">
            <a:avLst/>
          </a:prstGeom>
          <a:solidFill>
            <a:srgbClr val="7030A0">
              <a:alpha val="1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8620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5">
            <a:extLst>
              <a:ext uri="{FF2B5EF4-FFF2-40B4-BE49-F238E27FC236}">
                <a16:creationId xmlns:a16="http://schemas.microsoft.com/office/drawing/2014/main" id="{E220775D-5790-A2D1-1806-40BD654C6B9F}"/>
              </a:ext>
            </a:extLst>
          </p:cNvPr>
          <p:cNvSpPr txBox="1"/>
          <p:nvPr/>
        </p:nvSpPr>
        <p:spPr>
          <a:xfrm>
            <a:off x="99745" y="113594"/>
            <a:ext cx="525725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noProof="1">
                <a:solidFill>
                  <a:srgbClr val="FF0000"/>
                </a:solidFill>
              </a:rPr>
              <a:t>Backup</a:t>
            </a:r>
            <a:endParaRPr lang="en-US" b="1" noProof="1">
              <a:solidFill>
                <a:srgbClr val="FF0000"/>
              </a:solidFill>
              <a:cs typeface="Arial"/>
            </a:endParaRPr>
          </a:p>
        </p:txBody>
      </p:sp>
      <p:sp>
        <p:nvSpPr>
          <p:cNvPr id="14" name="Marcador de número de diapositiva 4">
            <a:extLst>
              <a:ext uri="{FF2B5EF4-FFF2-40B4-BE49-F238E27FC236}">
                <a16:creationId xmlns:a16="http://schemas.microsoft.com/office/drawing/2014/main" id="{34D2C47E-C972-AC2E-2E65-828D130F5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6620" y="6495350"/>
            <a:ext cx="427092" cy="365125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21</a:t>
            </a:fld>
            <a:endParaRPr lang="es-ES"/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18070970-2BC6-F515-483D-974768D40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030" y="961775"/>
            <a:ext cx="7106152" cy="4934452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AB8C38AE-8CE1-714E-AC31-63C6F0D7AA7C}"/>
              </a:ext>
            </a:extLst>
          </p:cNvPr>
          <p:cNvSpPr/>
          <p:nvPr/>
        </p:nvSpPr>
        <p:spPr>
          <a:xfrm>
            <a:off x="6130564" y="1025085"/>
            <a:ext cx="949068" cy="992491"/>
          </a:xfrm>
          <a:prstGeom prst="rect">
            <a:avLst/>
          </a:prstGeom>
          <a:solidFill>
            <a:srgbClr val="7030A0">
              <a:alpha val="1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B8C38AE-8CE1-714E-AC31-63C6F0D7AA7C}"/>
              </a:ext>
            </a:extLst>
          </p:cNvPr>
          <p:cNvSpPr/>
          <p:nvPr/>
        </p:nvSpPr>
        <p:spPr>
          <a:xfrm>
            <a:off x="6130564" y="2017576"/>
            <a:ext cx="949068" cy="992491"/>
          </a:xfrm>
          <a:prstGeom prst="rect">
            <a:avLst/>
          </a:prstGeom>
          <a:solidFill>
            <a:srgbClr val="7030A0">
              <a:alpha val="1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86395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50512" y="6495350"/>
            <a:ext cx="2743200" cy="365125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22</a:t>
            </a:fld>
            <a:endParaRPr lang="es-ES"/>
          </a:p>
        </p:txBody>
      </p:sp>
      <p:sp>
        <p:nvSpPr>
          <p:cNvPr id="10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9679435" cy="3048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lvl="1">
              <a:spcBef>
                <a:spcPts val="1000"/>
              </a:spcBef>
              <a:buClr>
                <a:srgbClr val="FF0000"/>
              </a:buClr>
            </a:pPr>
            <a:r>
              <a:rPr lang="pt-PT" altLang="pt-PT" sz="2400" dirty="0" err="1">
                <a:solidFill>
                  <a:schemeClr val="accent1"/>
                </a:solidFill>
                <a:latin typeface="Santander Text"/>
              </a:rPr>
              <a:t>Logging</a:t>
            </a:r>
            <a:r>
              <a:rPr lang="pt-PT" altLang="pt-PT" sz="2400" dirty="0">
                <a:solidFill>
                  <a:schemeClr val="accent1"/>
                </a:solidFill>
                <a:latin typeface="Santander Text"/>
              </a:rPr>
              <a:t> - OHE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77104" y="701914"/>
            <a:ext cx="11423743" cy="480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indent="0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465138" lvl="1" indent="-285750">
              <a:lnSpc>
                <a:spcPct val="150000"/>
              </a:lnSpc>
              <a:buClr>
                <a:srgbClr val="FF0000"/>
              </a:buClr>
            </a:pPr>
            <a:endParaRPr lang="pt-PT" altLang="es-ES" sz="1100" i="1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77104" y="1045029"/>
            <a:ext cx="10828205" cy="1947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r>
              <a:rPr lang="en-US" altLang="es-ES" sz="1200" i="1" dirty="0">
                <a:solidFill>
                  <a:srgbClr val="FF0000"/>
                </a:solidFill>
                <a:latin typeface="Santander Text"/>
                <a:sym typeface="Wingdings" panose="05000000000000000000" pitchFamily="2" charset="2"/>
              </a:rPr>
              <a:t>Logging micro-services</a:t>
            </a:r>
            <a:endParaRPr lang="en-US" altLang="es-ES" sz="1200" i="1" dirty="0">
              <a:solidFill>
                <a:srgbClr val="FF0000"/>
              </a:solidFill>
              <a:latin typeface="Santander Text"/>
              <a:cs typeface="Arial" panose="020B0604020202020204" pitchFamily="34" charset="0"/>
            </a:endParaRP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altLang="es-ES" sz="1200" i="1" dirty="0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The architecture of the </a:t>
            </a:r>
            <a:r>
              <a:rPr lang="en-US" altLang="es-ES" sz="1200" i="1" dirty="0" err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Paas</a:t>
            </a:r>
            <a:r>
              <a:rPr lang="en-US" altLang="es-ES" sz="1200" i="1" dirty="0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 assures that all the information is sent to </a:t>
            </a:r>
            <a:r>
              <a:rPr lang="en-US" altLang="es-ES" sz="1200" i="1" dirty="0" err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stdout</a:t>
            </a:r>
            <a:r>
              <a:rPr lang="en-US" altLang="es-ES" sz="1200" i="1" dirty="0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 and </a:t>
            </a:r>
            <a:r>
              <a:rPr lang="en-US" altLang="es-ES" sz="1200" i="1" dirty="0" err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stderr</a:t>
            </a:r>
            <a:r>
              <a:rPr lang="en-US" altLang="es-ES" sz="1200" i="1" dirty="0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 and sent to a repository centralized on the Elastic Search .</a:t>
            </a: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sz="1200" i="1" dirty="0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This repository could be used to analyze problems/errors in the application, but this rep is only keeps a storage of information for one week</a:t>
            </a: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sz="1200" i="1" dirty="0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The log accesses are done by </a:t>
            </a:r>
            <a:r>
              <a:rPr lang="en-US" sz="1200" i="1" dirty="0" err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Kibana</a:t>
            </a:r>
            <a:r>
              <a:rPr lang="en-US" sz="1200" i="1" dirty="0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 through the link:</a:t>
            </a: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  <a:defRPr/>
            </a:pPr>
            <a:endParaRPr lang="pt-PT" altLang="es-ES" sz="1200" i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200" i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pt-PT" sz="1200" i="1" dirty="0">
              <a:solidFill>
                <a:srgbClr val="FF0000"/>
              </a:solidFill>
              <a:latin typeface="Santander Text"/>
              <a:cs typeface="Arial" panose="020B0604020202020204" pitchFamily="34" charset="0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 dirty="0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 dirty="0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 dirty="0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 dirty="0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 dirty="0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 dirty="0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r>
              <a:rPr lang="en-US" sz="1200" i="1" dirty="0">
                <a:solidFill>
                  <a:srgbClr val="FF0000"/>
                </a:solidFill>
                <a:latin typeface="Santander Text"/>
                <a:cs typeface="Arial"/>
              </a:rPr>
              <a:t>Logging Traceability between components</a:t>
            </a: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  <a:defRPr/>
            </a:pPr>
            <a:r>
              <a:rPr lang="en-US" sz="1200" i="1" dirty="0">
                <a:solidFill>
                  <a:schemeClr val="tx1"/>
                </a:solidFill>
                <a:latin typeface="Santander Text"/>
                <a:cs typeface="Arial"/>
              </a:rPr>
              <a:t>All the micro-services should include the lib: "Spring Cloud Sleuth" to active the distributed login  (“Adds trace and span ids to the </a:t>
            </a:r>
            <a:r>
              <a:rPr lang="en-US" sz="1200" i="1" dirty="0">
                <a:solidFill>
                  <a:schemeClr val="tx1"/>
                </a:solidFill>
                <a:latin typeface="Santander Text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Slf4J</a:t>
            </a:r>
            <a:r>
              <a:rPr lang="en-US" sz="1200" i="1" dirty="0">
                <a:solidFill>
                  <a:schemeClr val="tx1"/>
                </a:solidFill>
                <a:latin typeface="Santander Text"/>
                <a:cs typeface="Arial"/>
              </a:rPr>
              <a:t>”). </a:t>
            </a: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  <a:defRPr/>
            </a:pPr>
            <a:r>
              <a:rPr lang="en-US" sz="1200" dirty="0">
                <a:latin typeface="Santander Text"/>
                <a:cs typeface="Arial"/>
                <a:hlinkClick r:id="rId3"/>
              </a:rPr>
              <a:t>https://confluence.ci.gsnet.corp/pages/viewpage.action?pageId=212378538</a:t>
            </a:r>
            <a:endParaRPr lang="en-US" sz="1200" i="1" dirty="0">
              <a:solidFill>
                <a:schemeClr val="tx1"/>
              </a:solidFill>
              <a:latin typeface="Santander Text"/>
              <a:cs typeface="Arial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1024" y="2385845"/>
          <a:ext cx="9008619" cy="1333504"/>
        </p:xfrm>
        <a:graphic>
          <a:graphicData uri="http://schemas.openxmlformats.org/drawingml/2006/table">
            <a:tbl>
              <a:tblPr/>
              <a:tblGrid>
                <a:gridCol w="1897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1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pt-PT" sz="1400" b="1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Ambiente</a:t>
                      </a:r>
                    </a:p>
                    <a:p>
                      <a:pPr algn="ctr" fontAlgn="t"/>
                      <a:r>
                        <a:rPr lang="pt-PT" sz="1400" b="1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Intranet</a:t>
                      </a: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PT" sz="1400" b="1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URL </a:t>
                      </a:r>
                      <a:r>
                        <a:rPr lang="pt-PT" sz="1400" b="1" err="1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Kibana</a:t>
                      </a:r>
                      <a:endParaRPr lang="pt-PT" sz="1400" b="1">
                        <a:solidFill>
                          <a:schemeClr val="bg1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kern="1200" dirty="0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  <a:ea typeface="+mn-ea"/>
                          <a:cs typeface="+mn-cs"/>
                        </a:rPr>
                        <a:t>DEV</a:t>
                      </a: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u="none" strike="noStrike" kern="1200" dirty="0">
                          <a:solidFill>
                            <a:srgbClr val="3572B0"/>
                          </a:solidFill>
                          <a:effectLst/>
                          <a:latin typeface="Santander Headline" panose="020B0504020201020104" pitchFamily="34" charset="0"/>
                          <a:ea typeface="+mn-ea"/>
                          <a:cs typeface="+mn-cs"/>
                          <a:hlinkClick r:id="rId4"/>
                        </a:rPr>
                        <a:t>https://paas.logging.ccc.pre.cn.paas.cloudcenter.corp/</a:t>
                      </a:r>
                      <a:endParaRPr lang="pt-PT" sz="1400" u="none" strike="noStrike" kern="1200" dirty="0">
                        <a:solidFill>
                          <a:srgbClr val="3572B0"/>
                        </a:solidFill>
                        <a:effectLst/>
                        <a:latin typeface="Santander Headline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dirty="0">
                          <a:effectLst/>
                          <a:latin typeface="Santander Headline" panose="020B0504020201020104" pitchFamily="34" charset="0"/>
                        </a:rPr>
                        <a:t>PRE</a:t>
                      </a: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pt-PT" sz="1400" u="none" strike="noStrike" kern="1200" dirty="0">
                          <a:solidFill>
                            <a:srgbClr val="3572B0"/>
                          </a:solidFill>
                          <a:effectLst/>
                          <a:latin typeface="Santander Headline" panose="020B0504020201020104" pitchFamily="34" charset="0"/>
                          <a:ea typeface="+mn-ea"/>
                          <a:cs typeface="+mn-cs"/>
                          <a:hlinkClick r:id="rId5"/>
                        </a:rPr>
                        <a:t>https://paas-pro.logs.global.ccc.srvb.can.paas.cloudcenter.corp/</a:t>
                      </a:r>
                      <a:endParaRPr lang="pt-PT" sz="1400" u="none" strike="noStrike" kern="1200" dirty="0">
                        <a:solidFill>
                          <a:srgbClr val="3572B0"/>
                        </a:solidFill>
                        <a:effectLst/>
                        <a:latin typeface="Santander Headline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47625" marR="47625" marT="33338" marB="3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175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dirty="0">
                          <a:effectLst/>
                          <a:latin typeface="Santander Headline" panose="020B0504020201020104" pitchFamily="34" charset="0"/>
                        </a:rPr>
                        <a:t>PRO</a:t>
                      </a: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pt-PT" sz="1400" dirty="0"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8"/>
          <p:cNvGraphicFramePr>
            <a:graphicFrameLocks noGrp="1"/>
          </p:cNvGraphicFramePr>
          <p:nvPr/>
        </p:nvGraphicFramePr>
        <p:xfrm>
          <a:off x="711024" y="3816466"/>
          <a:ext cx="9008619" cy="1053468"/>
        </p:xfrm>
        <a:graphic>
          <a:graphicData uri="http://schemas.openxmlformats.org/drawingml/2006/table">
            <a:tbl>
              <a:tblPr/>
              <a:tblGrid>
                <a:gridCol w="1897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1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pt-PT" sz="1400" b="1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Ambiente</a:t>
                      </a:r>
                    </a:p>
                    <a:p>
                      <a:pPr algn="ctr" fontAlgn="t"/>
                      <a:r>
                        <a:rPr lang="pt-PT" sz="1400" b="1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DMZ </a:t>
                      </a:r>
                      <a:r>
                        <a:rPr lang="pt-PT" sz="1400" b="1" dirty="0" err="1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Back</a:t>
                      </a:r>
                      <a:endParaRPr lang="pt-PT" sz="1400" b="1" dirty="0">
                        <a:solidFill>
                          <a:schemeClr val="bg1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PT" sz="1400" b="1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URL </a:t>
                      </a:r>
                      <a:r>
                        <a:rPr lang="pt-PT" sz="1400" b="1" err="1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Kibana</a:t>
                      </a:r>
                      <a:endParaRPr lang="pt-PT" sz="1400" b="1">
                        <a:solidFill>
                          <a:schemeClr val="bg1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kern="1200" dirty="0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  <a:ea typeface="+mn-ea"/>
                          <a:cs typeface="+mn-cs"/>
                        </a:rPr>
                        <a:t>PRE</a:t>
                      </a: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u="none" strike="noStrike" kern="1200" dirty="0">
                          <a:solidFill>
                            <a:srgbClr val="3572B0"/>
                          </a:solidFill>
                          <a:effectLst/>
                          <a:latin typeface="Santander Headline" panose="020B0504020201020104" pitchFamily="34" charset="0"/>
                          <a:ea typeface="+mn-ea"/>
                          <a:cs typeface="+mn-cs"/>
                          <a:hlinkClick r:id="rId5"/>
                        </a:rPr>
                        <a:t>https://paas-pro.logs.global.ccc.srvb.can.paas.cloudcenter.corp/</a:t>
                      </a:r>
                      <a:endParaRPr lang="pt-PT" sz="1400" u="none" strike="noStrike" kern="1200" dirty="0">
                        <a:solidFill>
                          <a:srgbClr val="3572B0"/>
                        </a:solidFill>
                        <a:effectLst/>
                        <a:latin typeface="Santander Headline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dirty="0">
                          <a:effectLst/>
                          <a:latin typeface="Santander Headline" panose="020B0504020201020104" pitchFamily="34" charset="0"/>
                        </a:rPr>
                        <a:t>PRO</a:t>
                      </a: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u="none" strike="noStrike" kern="1200" dirty="0">
                          <a:solidFill>
                            <a:srgbClr val="3572B0"/>
                          </a:solidFill>
                          <a:effectLst/>
                          <a:latin typeface="Santander Headline" panose="020B0504020201020104" pitchFamily="34" charset="0"/>
                          <a:ea typeface="+mn-ea"/>
                          <a:cs typeface="+mn-cs"/>
                          <a:hlinkClick r:id="rId5"/>
                        </a:rPr>
                        <a:t>https://paas-pro.logs.global.ccc.srvb.can.paas.cloudcenter.corp/</a:t>
                      </a:r>
                      <a:endParaRPr lang="pt-PT" sz="1400" u="none" strike="noStrike" kern="1200" dirty="0">
                        <a:solidFill>
                          <a:srgbClr val="3572B0"/>
                        </a:solidFill>
                        <a:effectLst/>
                        <a:latin typeface="Santander Headline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47625" marR="47625" marT="33338" marB="3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178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50512" y="6495350"/>
            <a:ext cx="2743200" cy="365125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23</a:t>
            </a:fld>
            <a:endParaRPr lang="es-ES"/>
          </a:p>
        </p:txBody>
      </p:sp>
      <p:sp>
        <p:nvSpPr>
          <p:cNvPr id="10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9679435" cy="3048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lvl="1">
              <a:spcBef>
                <a:spcPts val="1000"/>
              </a:spcBef>
              <a:buClr>
                <a:srgbClr val="FF0000"/>
              </a:buClr>
            </a:pPr>
            <a:r>
              <a:rPr lang="pt-PT" altLang="pt-PT" sz="2400" dirty="0" err="1">
                <a:solidFill>
                  <a:schemeClr val="accent1"/>
                </a:solidFill>
                <a:latin typeface="Santander Text"/>
              </a:rPr>
              <a:t>Logging</a:t>
            </a:r>
            <a:r>
              <a:rPr lang="pt-PT" altLang="pt-PT" sz="2400" dirty="0">
                <a:solidFill>
                  <a:schemeClr val="accent1"/>
                </a:solidFill>
                <a:latin typeface="Santander Text"/>
              </a:rPr>
              <a:t> - </a:t>
            </a:r>
            <a:r>
              <a:rPr lang="pt-PT" altLang="pt-PT" sz="2400" dirty="0" err="1">
                <a:solidFill>
                  <a:schemeClr val="accent1"/>
                </a:solidFill>
                <a:latin typeface="Santander Text"/>
              </a:rPr>
              <a:t>Azure</a:t>
            </a:r>
            <a:endParaRPr lang="pt-PT" altLang="pt-PT" sz="2400" dirty="0">
              <a:solidFill>
                <a:schemeClr val="accent1"/>
              </a:solidFill>
              <a:latin typeface="Santander Text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77104" y="701914"/>
            <a:ext cx="11423743" cy="480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indent="0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465138" lvl="1" indent="-285750">
              <a:lnSpc>
                <a:spcPct val="150000"/>
              </a:lnSpc>
              <a:buClr>
                <a:srgbClr val="FF0000"/>
              </a:buClr>
            </a:pPr>
            <a:endParaRPr lang="pt-PT" altLang="es-ES" sz="1100" i="1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400" i="1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77104" y="1045029"/>
            <a:ext cx="10828205" cy="1947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r>
              <a:rPr lang="en-US" altLang="es-ES" sz="1200" i="1">
                <a:solidFill>
                  <a:srgbClr val="FF0000"/>
                </a:solidFill>
                <a:latin typeface="Santander Text"/>
                <a:sym typeface="Wingdings" panose="05000000000000000000" pitchFamily="2" charset="2"/>
              </a:rPr>
              <a:t>Logging micro-services</a:t>
            </a:r>
            <a:endParaRPr lang="en-US" altLang="es-ES" sz="1200" i="1">
              <a:solidFill>
                <a:srgbClr val="FF0000"/>
              </a:solidFill>
              <a:latin typeface="Santander Text"/>
              <a:cs typeface="Arial" panose="020B0604020202020204" pitchFamily="34" charset="0"/>
            </a:endParaRP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altLang="es-ES" sz="1200" i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The architecture of the </a:t>
            </a:r>
            <a:r>
              <a:rPr lang="en-US" altLang="es-ES" sz="1200" i="1" err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Paas</a:t>
            </a:r>
            <a:r>
              <a:rPr lang="en-US" altLang="es-ES" sz="1200" i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 Azure assures that all the information is sent to stdout and stderr and sent to a repository centralized on the Elastic Search .</a:t>
            </a: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sz="1200" i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This repository could be used to analyze problems/errors in the application, but this rep is only keeps a storage of information for one week</a:t>
            </a: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</a:pPr>
            <a:r>
              <a:rPr lang="en-US" sz="1200" i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The log accesses are done by </a:t>
            </a:r>
            <a:r>
              <a:rPr lang="en-US" sz="1200" i="1" err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Kibana</a:t>
            </a:r>
            <a:r>
              <a:rPr lang="en-US" sz="1200" i="1">
                <a:solidFill>
                  <a:schemeClr val="tx1"/>
                </a:solidFill>
                <a:latin typeface="Santander Text"/>
                <a:sym typeface="Wingdings" panose="05000000000000000000" pitchFamily="2" charset="2"/>
              </a:rPr>
              <a:t> through the link:</a:t>
            </a: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  <a:defRPr/>
            </a:pPr>
            <a:endParaRPr lang="pt-PT" altLang="es-ES" sz="1200" i="1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pt-PT" altLang="es-ES" sz="1200" i="1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pt-PT" sz="1200" i="1">
              <a:solidFill>
                <a:srgbClr val="FF0000"/>
              </a:solidFill>
              <a:latin typeface="Santander Text"/>
              <a:cs typeface="Arial" panose="020B0604020202020204" pitchFamily="34" charset="0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endParaRPr lang="en-US" sz="1200" i="1">
              <a:solidFill>
                <a:srgbClr val="FF0000"/>
              </a:solidFill>
              <a:latin typeface="Santander Text"/>
              <a:cs typeface="Arial"/>
            </a:endParaRPr>
          </a:p>
          <a:p>
            <a:pPr marL="179070" lvl="1">
              <a:lnSpc>
                <a:spcPct val="150000"/>
              </a:lnSpc>
              <a:buClr>
                <a:srgbClr val="FF0000"/>
              </a:buClr>
              <a:buNone/>
            </a:pPr>
            <a:r>
              <a:rPr lang="en-US" sz="1200" i="1">
                <a:solidFill>
                  <a:srgbClr val="FF0000"/>
                </a:solidFill>
                <a:latin typeface="Santander Text"/>
                <a:cs typeface="Arial"/>
              </a:rPr>
              <a:t>Logging Traceability between components</a:t>
            </a: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  <a:defRPr/>
            </a:pPr>
            <a:r>
              <a:rPr lang="en-US" sz="1200" i="1">
                <a:solidFill>
                  <a:schemeClr val="tx1"/>
                </a:solidFill>
                <a:latin typeface="Santander Text"/>
                <a:cs typeface="Arial"/>
              </a:rPr>
              <a:t>All the micro-services should include the lib: "Spring Cloud Sleuth" to active the distributed login  (“Adds trace and span ids to the </a:t>
            </a:r>
            <a:r>
              <a:rPr lang="en-US" sz="1200" i="1">
                <a:solidFill>
                  <a:schemeClr val="tx1"/>
                </a:solidFill>
                <a:latin typeface="Santander Text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Slf4J</a:t>
            </a:r>
            <a:r>
              <a:rPr lang="en-US" sz="1200" i="1">
                <a:solidFill>
                  <a:schemeClr val="tx1"/>
                </a:solidFill>
                <a:latin typeface="Santander Text"/>
                <a:cs typeface="Arial"/>
              </a:rPr>
              <a:t>”). </a:t>
            </a:r>
          </a:p>
          <a:p>
            <a:pPr marL="464820" lvl="1" indent="-285750">
              <a:lnSpc>
                <a:spcPct val="150000"/>
              </a:lnSpc>
              <a:buClr>
                <a:srgbClr val="FF0000"/>
              </a:buClr>
              <a:defRPr/>
            </a:pPr>
            <a:r>
              <a:rPr lang="en-US" sz="1200">
                <a:latin typeface="Santander Text"/>
                <a:cs typeface="Arial"/>
                <a:hlinkClick r:id="rId3"/>
              </a:rPr>
              <a:t>https://confluence.ci.gsnet.corp/pages/viewpage.action?pageId=212378538</a:t>
            </a:r>
            <a:endParaRPr lang="en-US" sz="1200" i="1">
              <a:solidFill>
                <a:schemeClr val="tx1"/>
              </a:solidFill>
              <a:latin typeface="Santander Text"/>
              <a:cs typeface="Arial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29903" y="2872737"/>
          <a:ext cx="9008619" cy="1333504"/>
        </p:xfrm>
        <a:graphic>
          <a:graphicData uri="http://schemas.openxmlformats.org/drawingml/2006/table">
            <a:tbl>
              <a:tblPr/>
              <a:tblGrid>
                <a:gridCol w="1897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1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pt-PT" sz="1400" b="1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Ambiente</a:t>
                      </a:r>
                    </a:p>
                    <a:p>
                      <a:pPr algn="ctr" fontAlgn="t"/>
                      <a:r>
                        <a:rPr lang="pt-PT" sz="1400" b="1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AZURE</a:t>
                      </a: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PT" sz="1400" b="1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URL </a:t>
                      </a:r>
                      <a:r>
                        <a:rPr lang="pt-PT" sz="1400" b="1" err="1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Kibana</a:t>
                      </a:r>
                      <a:endParaRPr lang="pt-PT" sz="1400" b="1">
                        <a:solidFill>
                          <a:schemeClr val="bg1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>
                          <a:effectLst/>
                          <a:latin typeface="Santander Headline" panose="020B0504020201020104" pitchFamily="34" charset="0"/>
                        </a:rPr>
                        <a:t>DEV AZURE</a:t>
                      </a: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u="none" strike="noStrike">
                          <a:solidFill>
                            <a:srgbClr val="3572B0"/>
                          </a:solidFill>
                          <a:effectLst/>
                          <a:latin typeface="Santander Headline" panose="020B0504020201020104" pitchFamily="34" charset="0"/>
                          <a:hlinkClick r:id="rId4"/>
                        </a:rPr>
                        <a:t>https://paas-dev.logs.global.ccc.weu.azure.paas.cloudcenter.corp/</a:t>
                      </a:r>
                      <a:endParaRPr lang="pt-PT" sz="1400"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>
                          <a:effectLst/>
                          <a:latin typeface="Santander Headline" panose="020B0504020201020104" pitchFamily="34" charset="0"/>
                        </a:rPr>
                        <a:t>PRE AZURE</a:t>
                      </a: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u="none" strike="noStrike">
                          <a:solidFill>
                            <a:srgbClr val="3572B0"/>
                          </a:solidFill>
                          <a:effectLst/>
                          <a:latin typeface="Santander Headline" panose="020B0504020201020104" pitchFamily="34" charset="0"/>
                          <a:hlinkClick r:id="rId5"/>
                        </a:rPr>
                        <a:t>https://paas-pre.logs.global.ccc.weu.azure.paas.cloudcenter.corp/</a:t>
                      </a:r>
                      <a:endParaRPr lang="pt-PT" sz="1400"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175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>
                          <a:effectLst/>
                          <a:latin typeface="Santander Headline" panose="020B0504020201020104" pitchFamily="34" charset="0"/>
                        </a:rPr>
                        <a:t>PRO AZURE</a:t>
                      </a: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u="none" strike="noStrike">
                          <a:solidFill>
                            <a:srgbClr val="3572B0"/>
                          </a:solidFill>
                          <a:effectLst/>
                          <a:latin typeface="Santander Headline" panose="020B0504020201020104" pitchFamily="34" charset="0"/>
                          <a:hlinkClick r:id="rId6"/>
                        </a:rPr>
                        <a:t>https://paas-pro.logs.global.ccc.weu.azure.paas.cloudcenter.corp/</a:t>
                      </a:r>
                      <a:endParaRPr lang="pt-PT" sz="1400"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47625" marR="47625" marT="33338" marB="333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208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Referencias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4752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3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6803581"/>
              </p:ext>
            </p:extLst>
          </p:nvPr>
        </p:nvGraphicFramePr>
        <p:xfrm>
          <a:off x="657786" y="1062527"/>
          <a:ext cx="10368728" cy="4081456"/>
        </p:xfrm>
        <a:graphic>
          <a:graphicData uri="http://schemas.openxmlformats.org/drawingml/2006/table">
            <a:tbl>
              <a:tblPr/>
              <a:tblGrid>
                <a:gridCol w="745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9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7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08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#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Nome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Data</a:t>
                      </a:r>
                      <a:endParaRPr kumimoji="0" lang="pt-PT" sz="13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Comentário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Autor</a:t>
                      </a:r>
                      <a:endParaRPr kumimoji="0" lang="pt-PT" sz="13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26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REF#1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0" lang="nl-NL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20240726 ASW PT - DT  Broker Online - en V14c</a:t>
                      </a:r>
                      <a:endParaRPr kumimoji="0" lang="pt-PT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5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26/07/2024</a:t>
                      </a: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lang="pt-PT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5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Arquitectura</a:t>
                      </a:r>
                      <a:r>
                        <a:rPr kumimoji="0" lang="pt-PT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 Portugal</a:t>
                      </a: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6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REF#2</a:t>
                      </a: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5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kumimoji="0" lang="pt-PT" sz="105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6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REF#3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5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05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altLang="es-E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5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26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REF#4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5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5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5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25</a:t>
            </a:fld>
            <a:endParaRPr lang="pt-PT" dirty="0"/>
          </a:p>
        </p:txBody>
      </p:sp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/>
          <a:lstStyle/>
          <a:p>
            <a:r>
              <a:rPr lang="pt-PT" sz="2400" dirty="0"/>
              <a:t>Referencias</a:t>
            </a:r>
          </a:p>
        </p:txBody>
      </p:sp>
      <p:graphicFrame>
        <p:nvGraphicFramePr>
          <p:cNvPr id="2" name="Objeto 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464686"/>
              </p:ext>
            </p:extLst>
          </p:nvPr>
        </p:nvGraphicFramePr>
        <p:xfrm>
          <a:off x="4496429" y="1661424"/>
          <a:ext cx="1680084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Presentation" showAsIcon="1" r:id="rId3" imgW="914400" imgH="771480" progId="PowerPoint.Show.12">
                  <p:embed/>
                </p:oleObj>
              </mc:Choice>
              <mc:Fallback>
                <p:oleObj name="Presentation" showAsIcon="1" r:id="rId3" imgW="914400" imgH="771480" progId="PowerPoint.Show.12">
                  <p:embed/>
                  <p:pic>
                    <p:nvPicPr>
                      <p:cNvPr id="2" name="Objeto 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96429" y="1661424"/>
                        <a:ext cx="1680084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941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578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t"/>
      <a:lstStyle>
        <a:defPPr marL="171450" indent="-171450">
          <a:buFont typeface="Wingdings" panose="05000000000000000000" pitchFamily="2" charset="2"/>
          <a:buChar char="§"/>
          <a:defRPr sz="10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9ba3e0-3d22-4408-96b5-c8a59fd87904" xsi:nil="true"/>
    <lcf76f155ced4ddcb4097134ff3c332f xmlns="84cc0d6f-51d2-4273-a95b-2243f39b32fa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  <APMF xmlns="84cc0d6f-51d2-4273-a95b-2243f39b32f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6BFEDD1D559E4BA79C2EB28F04D42B" ma:contentTypeVersion="22" ma:contentTypeDescription="Create a new document." ma:contentTypeScope="" ma:versionID="86a1b39fdfee4deebd9f028f32c47293">
  <xsd:schema xmlns:xsd="http://www.w3.org/2001/XMLSchema" xmlns:xs="http://www.w3.org/2001/XMLSchema" xmlns:p="http://schemas.microsoft.com/office/2006/metadata/properties" xmlns:ns1="http://schemas.microsoft.com/sharepoint/v3" xmlns:ns2="84cc0d6f-51d2-4273-a95b-2243f39b32fa" xmlns:ns3="0e9ba3e0-3d22-4408-96b5-c8a59fd87904" targetNamespace="http://schemas.microsoft.com/office/2006/metadata/properties" ma:root="true" ma:fieldsID="e2114df6d4d848f6946ffea8eec2fa32" ns1:_="" ns2:_="" ns3:_="">
    <xsd:import namespace="http://schemas.microsoft.com/sharepoint/v3"/>
    <xsd:import namespace="84cc0d6f-51d2-4273-a95b-2243f39b32fa"/>
    <xsd:import namespace="0e9ba3e0-3d22-4408-96b5-c8a59fd879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APMF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cc0d6f-51d2-4273-a95b-2243f39b32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PMF" ma:index="28" nillable="true" ma:displayName="APMF" ma:format="Dropdown" ma:internalName="APMF">
      <xsd:simpleType>
        <xsd:restriction base="dms:Text">
          <xsd:maxLength value="255"/>
        </xsd:restriction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9ba3e0-3d22-4408-96b5-c8a59fd8790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2b9f94-8f62-49ac-a0d0-8dc592b90ec1}" ma:internalName="TaxCatchAll" ma:showField="CatchAllData" ma:web="0e9ba3e0-3d22-4408-96b5-c8a59fd879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562DC41-7046-42CB-838F-614672713449}">
  <ds:schemaRefs>
    <ds:schemaRef ds:uri="http://purl.org/dc/dcmitype/"/>
    <ds:schemaRef ds:uri="http://schemas.microsoft.com/office/2006/documentManagement/types"/>
    <ds:schemaRef ds:uri="0e9ba3e0-3d22-4408-96b5-c8a59fd87904"/>
    <ds:schemaRef ds:uri="http://schemas.microsoft.com/office/2006/metadata/properties"/>
    <ds:schemaRef ds:uri="http://purl.org/dc/elements/1.1/"/>
    <ds:schemaRef ds:uri="84cc0d6f-51d2-4273-a95b-2243f39b32fa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C2C2521-E929-4E96-8F7C-6289DF6E0A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4cc0d6f-51d2-4273-a95b-2243f39b32fa"/>
    <ds:schemaRef ds:uri="0e9ba3e0-3d22-4408-96b5-c8a59fd879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DE0840-130D-42F8-BB23-1874788526F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76895</TotalTime>
  <Words>1468</Words>
  <Application>Microsoft Office PowerPoint</Application>
  <PresentationFormat>Widescreen</PresentationFormat>
  <Paragraphs>420</Paragraphs>
  <Slides>26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Arial</vt:lpstr>
      <vt:lpstr>Arial Black</vt:lpstr>
      <vt:lpstr>Calibri</vt:lpstr>
      <vt:lpstr>Santander Headline</vt:lpstr>
      <vt:lpstr>Santander Logo</vt:lpstr>
      <vt:lpstr>Santander Text</vt:lpstr>
      <vt:lpstr>Times</vt:lpstr>
      <vt:lpstr>Times New Roman</vt:lpstr>
      <vt:lpstr>Wingdings</vt:lpstr>
      <vt:lpstr>Tema de Office</vt:lpstr>
      <vt:lpstr>Worksheet</vt:lpstr>
      <vt:lpstr>Presentation</vt:lpstr>
      <vt:lpstr>Contratação Automática Mifid</vt:lpstr>
      <vt:lpstr>PowerPoint Presentation</vt:lpstr>
      <vt:lpstr>PowerPoint Presentation</vt:lpstr>
      <vt:lpstr>Necessidades e proposta de solução</vt:lpstr>
      <vt:lpstr>PowerPoint Presentation</vt:lpstr>
      <vt:lpstr>PowerPoint Presentation</vt:lpstr>
      <vt:lpstr>PowerPoint Presentation</vt:lpstr>
      <vt:lpstr>Solução técnica</vt:lpstr>
      <vt:lpstr>PowerPoint Presentation</vt:lpstr>
      <vt:lpstr>Sumário de infra-estrutura</vt:lpstr>
      <vt:lpstr>PowerPoint Presentation</vt:lpstr>
      <vt:lpstr>Volumes</vt:lpstr>
      <vt:lpstr>PowerPoint Presentation</vt:lpstr>
      <vt:lpstr>PowerPoint Presentation</vt:lpstr>
      <vt:lpstr>PowerPoint Presentation</vt:lpstr>
      <vt:lpstr>PowerPoint Presentation</vt:lpstr>
      <vt:lpstr>Segurança</vt:lpstr>
      <vt:lpstr>PowerPoint Presentation</vt:lpstr>
      <vt:lpstr>Monitorização, Logging e Auditing</vt:lpstr>
      <vt:lpstr>PowerPoint Presentation</vt:lpstr>
      <vt:lpstr>PowerPoint Presentation</vt:lpstr>
      <vt:lpstr>PowerPoint Presentation</vt:lpstr>
      <vt:lpstr>PowerPoint Presentation</vt:lpstr>
      <vt:lpstr>Referencias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Vera Susana Gomes Mestrinho da Cruz</cp:lastModifiedBy>
  <cp:revision>2560</cp:revision>
  <cp:lastPrinted>2019-07-28T15:40:30Z</cp:lastPrinted>
  <dcterms:created xsi:type="dcterms:W3CDTF">2018-03-19T11:10:43Z</dcterms:created>
  <dcterms:modified xsi:type="dcterms:W3CDTF">2025-07-30T09:47:29Z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0x010100106BFEDD1D559E4BA79C2EB28F04D42B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2025-07-30T09:47:23Z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b96b2ace-cfec-4f5f-a034-237fdcfc9179</vt:lpwstr>
  </property>
  <property fmtid="{D5CDD505-2E9C-101B-9397-08002B2CF9AE}" pid="10" name="MSIP_Label_3c41c091-3cbc-4dba-8b59-ce62f19500db_ContentBits">
    <vt:lpwstr>1</vt:lpwstr>
  </property>
</Properties>
</file>