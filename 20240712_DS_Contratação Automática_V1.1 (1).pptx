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478" r:id="rId6"/>
    <p:sldId id="268" r:id="rId7"/>
    <p:sldId id="378" r:id="rId8"/>
    <p:sldId id="459" r:id="rId9"/>
    <p:sldId id="258" r:id="rId10"/>
    <p:sldId id="483" r:id="rId11"/>
    <p:sldId id="490" r:id="rId12"/>
    <p:sldId id="486" r:id="rId13"/>
    <p:sldId id="491" r:id="rId14"/>
    <p:sldId id="484" r:id="rId15"/>
    <p:sldId id="492" r:id="rId16"/>
    <p:sldId id="487" r:id="rId17"/>
    <p:sldId id="493" r:id="rId18"/>
    <p:sldId id="362" r:id="rId19"/>
    <p:sldId id="504" r:id="rId20"/>
    <p:sldId id="503" r:id="rId21"/>
    <p:sldId id="463" r:id="rId22"/>
    <p:sldId id="289" r:id="rId23"/>
    <p:sldId id="290" r:id="rId24"/>
    <p:sldId id="271" r:id="rId25"/>
    <p:sldId id="265" r:id="rId26"/>
    <p:sldId id="479" r:id="rId27"/>
  </p:sldIdLst>
  <p:sldSz cx="12192000" cy="6858000"/>
  <p:notesSz cx="6858000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23A5F3-30F1-44A7-91C0-EAA170D53334}">
          <p14:sldIdLst>
            <p14:sldId id="256"/>
            <p14:sldId id="478"/>
            <p14:sldId id="268"/>
            <p14:sldId id="378"/>
            <p14:sldId id="459"/>
            <p14:sldId id="258"/>
            <p14:sldId id="483"/>
            <p14:sldId id="490"/>
            <p14:sldId id="486"/>
            <p14:sldId id="491"/>
            <p14:sldId id="484"/>
            <p14:sldId id="492"/>
            <p14:sldId id="487"/>
            <p14:sldId id="493"/>
            <p14:sldId id="362"/>
            <p14:sldId id="504"/>
            <p14:sldId id="503"/>
            <p14:sldId id="463"/>
            <p14:sldId id="289"/>
            <p14:sldId id="290"/>
            <p14:sldId id="271"/>
            <p14:sldId id="265"/>
            <p14:sldId id="4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AFAFA"/>
    <a:srgbClr val="FCFCFC"/>
    <a:srgbClr val="FDFDFD"/>
    <a:srgbClr val="FFFFCC"/>
    <a:srgbClr val="F7F7F7"/>
    <a:srgbClr val="FFFFFF"/>
    <a:srgbClr val="363636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3FBC3-FB6F-46E0-AB6A-24BF6B8E8323}" v="72" dt="2024-03-15T10:11:08.027"/>
    <p1510:client id="{DBDC2710-2F08-4D63-ABF9-E6AF2D772B1D}" v="179" dt="2024-03-15T10:20:51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0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19/02/2025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19/02/2025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5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5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350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9124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2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861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1900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8244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2A2B0-7773-D3D4-A158-0FEBD9739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DB7CB-0345-980E-0D7D-A23F09D5F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57CA2-1D27-4101-D085-10F6C69B7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BF6A6-C6C5-2C62-7380-C76052F38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4088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2809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779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  <a:latin typeface="Santander Text" panose="020B0504020201020104" pitchFamily="34" charset="0"/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T 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  <a:latin typeface="Santander Text" panose="020B0504020201020104" pitchFamily="34" charset="0"/>
              </a:rPr>
              <a:t>Índice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32642" y="1104900"/>
            <a:ext cx="10648158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Necessidades e proposta de solução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Solução</a:t>
            </a:r>
            <a:r>
              <a:rPr lang="pt-PT" sz="2000" b="0" baseline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 </a:t>
            </a: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técnica</a:t>
            </a:r>
          </a:p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0000"/>
              </a:buClr>
              <a:buSzPct val="45000"/>
              <a:buFont typeface="Wingdings" panose="05000000000000000000" pitchFamily="2" charset="2"/>
              <a:buChar char="§"/>
            </a:pP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Considerações</a:t>
            </a:r>
            <a:r>
              <a:rPr lang="pt-PT" sz="2000" b="0" baseline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 e r</a:t>
            </a:r>
            <a:r>
              <a:rPr lang="pt-PT" sz="2000" b="0">
                <a:solidFill>
                  <a:prstClr val="black">
                    <a:lumMod val="75000"/>
                    <a:lumOff val="25000"/>
                  </a:prstClr>
                </a:solidFill>
                <a:latin typeface="Santander Text" panose="020B0504020201020104" pitchFamily="34" charset="0"/>
                <a:cs typeface="Arial" pitchFamily="34" charset="0"/>
              </a:rPr>
              <a:t>eferências</a:t>
            </a:r>
          </a:p>
        </p:txBody>
      </p:sp>
    </p:spTree>
    <p:extLst>
      <p:ext uri="{BB962C8B-B14F-4D97-AF65-F5344CB8AC3E}">
        <p14:creationId xmlns:p14="http://schemas.microsoft.com/office/powerpoint/2010/main" val="3060023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latin typeface="Santander Text" panose="020B0504020201020104" pitchFamily="34" charset="0"/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  <a:latin typeface="Santander Text" panose="020B0504020201020104" pitchFamily="34" charset="0"/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pt-PT" smtClean="0"/>
              <a:pPr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  <a:latin typeface="Santander Text" panose="020B0504020201020104" pitchFamily="34" charset="0"/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  <a:latin typeface="Santander Text" panose="020B0504020201020104" pitchFamily="34" charset="0"/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  <a:latin typeface="Santander Text" panose="020B0504020201020104" pitchFamily="34" charset="0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noProof="0">
              <a:latin typeface="Santander Text" panose="020B05040202010201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noProof="0">
                <a:solidFill>
                  <a:schemeClr val="tx2"/>
                </a:solidFill>
                <a:latin typeface="Santander Text" panose="020B0504020201020104" pitchFamily="34" charset="0"/>
              </a:rPr>
              <a:t>A nossa missão é contribuir para o desenvolvimento das pessoas e as empresas.</a:t>
            </a:r>
          </a:p>
          <a:p>
            <a:endParaRPr lang="pt-PT" sz="1400" noProof="0">
              <a:solidFill>
                <a:schemeClr val="tx2"/>
              </a:solidFill>
              <a:latin typeface="Santander Text" panose="020B0504020201020104" pitchFamily="34" charset="0"/>
            </a:endParaRPr>
          </a:p>
          <a:p>
            <a:r>
              <a:rPr lang="pt-PT" sz="1400" noProof="0">
                <a:solidFill>
                  <a:schemeClr val="tx2"/>
                </a:solidFill>
                <a:latin typeface="Santander Text" panose="020B0504020201020104" pitchFamily="34" charset="0"/>
              </a:rPr>
              <a:t>A nossa cultura baseia-se no princípio de que tudo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  <a:latin typeface="Santander Text" panose="020B0504020201020104" pitchFamily="34" charset="0"/>
              </a:rPr>
              <a:t>Obrigado.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noProof="0">
              <a:latin typeface="Santander Text" panose="020B05040202010201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6291A-449C-92AE-1773-E252E8E4AE60}"/>
              </a:ext>
            </a:extLst>
          </p:cNvPr>
          <p:cNvSpPr txBox="1"/>
          <p:nvPr userDrawn="1"/>
        </p:nvSpPr>
        <p:spPr>
          <a:xfrm>
            <a:off x="719288" y="3560855"/>
            <a:ext cx="2931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Simples</a:t>
            </a:r>
            <a:r>
              <a:rPr lang="pt-PT" sz="20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| </a:t>
            </a: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Próximo</a:t>
            </a:r>
            <a:r>
              <a:rPr lang="pt-PT" sz="200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</a:rPr>
              <a:t> | </a:t>
            </a:r>
            <a:r>
              <a:rPr lang="pt-PT" sz="2000" b="1">
                <a:solidFill>
                  <a:srgbClr val="FF0000"/>
                </a:solidFill>
                <a:latin typeface="Santander Text" panose="020B0504020201020104" pitchFamily="34" charset="0"/>
              </a:rPr>
              <a:t>Justo</a:t>
            </a:r>
          </a:p>
        </p:txBody>
      </p:sp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kern="1200" smtClean="0">
                <a:solidFill>
                  <a:schemeClr val="tx1">
                    <a:tint val="7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</a:lstStyle>
          <a:p>
            <a:fld id="{BC0D97B6-E32F-4D7D-B839-7C3B51F2640F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6" r:id="rId3"/>
    <p:sldLayoutId id="2147483651" r:id="rId4"/>
    <p:sldLayoutId id="2147483652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antander Text" panose="020B05040202010201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antander Text" panose="020B05040202010201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an-portugal.atlassian.net/wiki/spaces/BSTMETODOLOGIAS/pages/31588561/API+Portfolio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4" y="1096484"/>
            <a:ext cx="6026786" cy="1711109"/>
          </a:xfrm>
        </p:spPr>
        <p:txBody>
          <a:bodyPr>
            <a:normAutofit/>
          </a:bodyPr>
          <a:lstStyle/>
          <a:p>
            <a:r>
              <a:rPr lang="pt-PT" dirty="0">
                <a:latin typeface="Santander Text"/>
              </a:rPr>
              <a:t>Documento de Requisitos 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69795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dirty="0">
                <a:latin typeface="Santander Text"/>
              </a:rPr>
              <a:t>Contratação Automática / </a:t>
            </a:r>
            <a:r>
              <a:rPr lang="pt-PT" dirty="0"/>
              <a:t>P2400399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619386"/>
          </a:xfrm>
        </p:spPr>
        <p:txBody>
          <a:bodyPr/>
          <a:lstStyle/>
          <a:p>
            <a:r>
              <a:rPr lang="pt-PT" dirty="0"/>
              <a:t>Service </a:t>
            </a:r>
            <a:r>
              <a:rPr lang="pt-PT" dirty="0" err="1"/>
              <a:t>Strategy</a:t>
            </a:r>
            <a:r>
              <a:rPr lang="pt-PT" dirty="0"/>
              <a:t> | </a:t>
            </a:r>
            <a:r>
              <a:rPr lang="pt-PT" b="1" dirty="0" err="1"/>
              <a:t>Enterprise</a:t>
            </a:r>
            <a:r>
              <a:rPr lang="pt-PT" b="1" dirty="0"/>
              <a:t> </a:t>
            </a:r>
            <a:r>
              <a:rPr lang="pt-PT" b="1" dirty="0" err="1"/>
              <a:t>Architecture</a:t>
            </a:r>
            <a:endParaRPr lang="pt-PT" b="1" dirty="0"/>
          </a:p>
          <a:p>
            <a:r>
              <a:rPr lang="pt-PT" dirty="0"/>
              <a:t>Lisboa, Junho de 2024</a:t>
            </a: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id="{4AC02B24-4078-4D7C-A0F9-A2DD2B8151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973" y="363409"/>
            <a:ext cx="1584176" cy="117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o Número do Diapositivo 2">
            <a:extLst>
              <a:ext uri="{FF2B5EF4-FFF2-40B4-BE49-F238E27FC236}">
                <a16:creationId xmlns:a16="http://schemas.microsoft.com/office/drawing/2014/main" id="{6BE5CD3F-0FAD-4B4F-A5D9-A3828F68F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10" name="Marcador de Posição do Texto 9">
            <a:extLst>
              <a:ext uri="{FF2B5EF4-FFF2-40B4-BE49-F238E27FC236}">
                <a16:creationId xmlns:a16="http://schemas.microsoft.com/office/drawing/2014/main" id="{4234CC62-0792-1067-D902-645764D004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6633" y="415273"/>
            <a:ext cx="10758734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pt-PT" sz="1800">
                <a:solidFill>
                  <a:schemeClr val="tx1"/>
                </a:solidFill>
                <a:latin typeface="Santander Text"/>
              </a:rPr>
              <a:t>Copyright, IP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Rights</a:t>
            </a:r>
            <a:r>
              <a:rPr lang="pt-PT" sz="1800">
                <a:solidFill>
                  <a:schemeClr val="tx1"/>
                </a:solidFill>
                <a:latin typeface="Santander Text"/>
              </a:rPr>
              <a:t>,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Proprietary</a:t>
            </a:r>
            <a:r>
              <a:rPr lang="pt-PT" sz="1800">
                <a:solidFill>
                  <a:schemeClr val="tx1"/>
                </a:solidFill>
                <a:latin typeface="Santander Text"/>
              </a:rPr>
              <a:t> </a:t>
            </a:r>
            <a:r>
              <a:rPr lang="pt-PT" sz="1800" err="1">
                <a:solidFill>
                  <a:schemeClr val="tx1"/>
                </a:solidFill>
                <a:latin typeface="Santander Text"/>
              </a:rPr>
              <a:t>Information</a:t>
            </a:r>
            <a:endParaRPr lang="pt-PT" sz="1800">
              <a:solidFill>
                <a:schemeClr val="tx1"/>
              </a:solidFill>
              <a:latin typeface="Santander Text"/>
            </a:endParaRPr>
          </a:p>
          <a:p>
            <a:endParaRPr lang="pt-PT" sz="1800"/>
          </a:p>
        </p:txBody>
      </p:sp>
      <p:sp>
        <p:nvSpPr>
          <p:cNvPr id="11" name="Marcador de Posição do Texto 10">
            <a:extLst>
              <a:ext uri="{FF2B5EF4-FFF2-40B4-BE49-F238E27FC236}">
                <a16:creationId xmlns:a16="http://schemas.microsoft.com/office/drawing/2014/main" id="{B503E70D-A2C2-6EBE-B800-454B49FE0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634" y="1116240"/>
            <a:ext cx="10758733" cy="4761032"/>
          </a:xfrm>
        </p:spPr>
        <p:txBody>
          <a:bodyPr vert="horz" lIns="91440" tIns="45720" rIns="91440" bIns="45720" numCol="2" spcCol="72000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Todo o conteúdo deste documento/apresentação é protegido por direitos autorais e/ou outros direitos de propriedade intelectual, salvo indicação em contrário. Todos os direitos são reservados e propriedade do Santander Portugal e do Grupo Santander. </a:t>
            </a:r>
            <a:endParaRPr lang="pt-PT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Nenhuma reprodução ou distribuição de todo ou parte deste documento pode ser feita sem autorização prévia por escrito do Santander. Apenas para os fins exclusivos para os quais você é o destinatário deste documento/apresentação, você poderá fazer uma cópia ou imprimi-lo, desde que não haja alterações em seu conteúdo e esta nota seja incluída para que os direitos sejam acreditados e incorporado na reprodução. </a:t>
            </a:r>
            <a:r>
              <a:rPr lang="pt-PT" u="sng">
                <a:latin typeface="Santander Text"/>
              </a:rPr>
              <a:t>Qualquer uso comercial é totalmente proibido. </a:t>
            </a:r>
            <a:endParaRPr lang="pt-PT" u="sng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O Santander Portugal é o proprietário, titular dos direitos de propriedade intelectual e industrial ou utilizador autorizado e legítimo de todo o conteúdo e aspectos deste documento/apresentação incluindo marcas, informações, textos, fotografias e design, salvo indicação em contrário. </a:t>
            </a:r>
            <a:endParaRPr lang="pt-PT"/>
          </a:p>
          <a:p>
            <a:pPr>
              <a:lnSpc>
                <a:spcPct val="100000"/>
              </a:lnSpc>
            </a:pPr>
            <a:r>
              <a:rPr lang="pt-PT">
                <a:latin typeface="Santander Text"/>
              </a:rPr>
              <a:t>Embora todos os esforços tenham sido feitos para fornecer informações precisas, erros e omissões podem ocorrer. Assim, o Santander Portugal não assume qualquer responsabilidade por qualquer perda ou dano que possa, direta ou indiretamente, resultar de qualquer conselho, opinião, informação, representação ou omissão, negligente ou não, a dados ou informações contidas neste documento/apresentação.</a:t>
            </a:r>
            <a:endParaRPr lang="pt-PT">
              <a:solidFill>
                <a:srgbClr val="C00000"/>
              </a:solidFill>
              <a:latin typeface="Santander Text"/>
            </a:endParaRPr>
          </a:p>
          <a:p>
            <a:pPr>
              <a:lnSpc>
                <a:spcPct val="100000"/>
              </a:lnSpc>
            </a:pPr>
            <a:r>
              <a:rPr lang="pt-PT" err="1">
                <a:solidFill>
                  <a:srgbClr val="C00000"/>
                </a:solidFill>
                <a:latin typeface="Santander Text"/>
              </a:rPr>
              <a:t>Everything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copyrighted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unless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rights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reserved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remain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exclusive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property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 Santander Portugal 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Grupo Santander.</a:t>
            </a:r>
          </a:p>
          <a:p>
            <a:pPr>
              <a:lnSpc>
                <a:spcPct val="100000"/>
              </a:lnSpc>
            </a:pPr>
            <a:r>
              <a:rPr lang="pt-PT">
                <a:solidFill>
                  <a:srgbClr val="C00000"/>
                </a:solidFill>
                <a:latin typeface="Santander Text"/>
              </a:rPr>
              <a:t>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reproduction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distribution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part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reason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without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first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receiving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written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permission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from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Santander Portugal.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intended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purpose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which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you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receiving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you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would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allowed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make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 single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copy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print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provided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changes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are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provided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a copyright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notice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accrediting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attached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reproduction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Beyond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that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no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further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copies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distributed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without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written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authorization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commercial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use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expressly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forbidden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pt-PT">
                <a:solidFill>
                  <a:srgbClr val="C00000"/>
                </a:solidFill>
                <a:latin typeface="Santander Text"/>
              </a:rPr>
              <a:t>Santander Portugal 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owner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copyright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owner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authorized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user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all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aspects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of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paper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/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including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trademark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text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photographs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design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unless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stated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pt-PT" err="1">
                <a:solidFill>
                  <a:srgbClr val="C00000"/>
                </a:solidFill>
                <a:latin typeface="Santander Text"/>
              </a:rPr>
              <a:t>While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every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endeavour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has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been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made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to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supply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accurate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errors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omissions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occur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.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Accordingly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Santander Portugal does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not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accept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liability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for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loss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damage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which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may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directly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indirectly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result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from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any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advice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opinion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information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representation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omission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whether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negligent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or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otherwise</a:t>
            </a:r>
            <a:r>
              <a:rPr lang="pt-PT">
                <a:solidFill>
                  <a:srgbClr val="C00000"/>
                </a:solidFill>
                <a:latin typeface="Santander Text"/>
              </a:rPr>
              <a:t>,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contained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on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this</a:t>
            </a:r>
            <a:r>
              <a:rPr lang="pt-PT">
                <a:solidFill>
                  <a:srgbClr val="C00000"/>
                </a:solidFill>
                <a:latin typeface="Santander Text"/>
              </a:rPr>
              <a:t> </a:t>
            </a:r>
            <a:r>
              <a:rPr lang="pt-PT" err="1">
                <a:solidFill>
                  <a:srgbClr val="C00000"/>
                </a:solidFill>
                <a:latin typeface="Santander Text"/>
              </a:rPr>
              <a:t>document</a:t>
            </a:r>
            <a:endParaRPr lang="pt-PT">
              <a:solidFill>
                <a:srgbClr val="C00000"/>
              </a:solidFill>
              <a:latin typeface="Santander Text"/>
            </a:endParaRPr>
          </a:p>
          <a:p>
            <a:pPr>
              <a:lnSpc>
                <a:spcPct val="100000"/>
              </a:lnSpc>
            </a:pP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37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763382" cy="304800"/>
          </a:xfrm>
        </p:spPr>
        <p:txBody>
          <a:bodyPr/>
          <a:lstStyle/>
          <a:p>
            <a:r>
              <a:rPr lang="pt-PT" sz="2400"/>
              <a:t>Controlo de Alterações</a:t>
            </a: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04855"/>
              </p:ext>
            </p:extLst>
          </p:nvPr>
        </p:nvGraphicFramePr>
        <p:xfrm>
          <a:off x="711024" y="922570"/>
          <a:ext cx="5763382" cy="4704109"/>
        </p:xfrm>
        <a:graphic>
          <a:graphicData uri="http://schemas.openxmlformats.org/drawingml/2006/table">
            <a:tbl>
              <a:tblPr/>
              <a:tblGrid>
                <a:gridCol w="380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Ver.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Autor/</a:t>
                      </a:r>
                      <a:r>
                        <a:rPr kumimoji="0" lang="pt-PT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Dpto</a:t>
                      </a:r>
                      <a:endParaRPr kumimoji="0" lang="pt-PT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1.0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08/07/2024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Versão inicial do documento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Maria Simão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Savings</a:t>
                      </a: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&amp; </a:t>
                      </a:r>
                      <a:r>
                        <a:rPr kumimoji="0" lang="pt-PT" sz="11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Investments</a:t>
                      </a: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1.1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23/07/2024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Solução de arquitectura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Tiago Costa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EA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3365573" y="5933538"/>
            <a:ext cx="5460855" cy="807830"/>
            <a:chOff x="3155589" y="5671693"/>
            <a:chExt cx="5460855" cy="807830"/>
          </a:xfrm>
        </p:grpSpPr>
        <p:sp>
          <p:nvSpPr>
            <p:cNvPr id="11" name="Rectangle 36"/>
            <p:cNvSpPr>
              <a:spLocks noChangeArrowheads="1"/>
            </p:cNvSpPr>
            <p:nvPr/>
          </p:nvSpPr>
          <p:spPr bwMode="auto">
            <a:xfrm>
              <a:off x="3155589" y="5671693"/>
              <a:ext cx="5460855" cy="80783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Simbologia usada para </a:t>
              </a:r>
            </a:p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identificar alterações na solução face à</a:t>
              </a:r>
            </a:p>
            <a:p>
              <a:pPr algn="l" eaLnBrk="1" hangingPunct="1"/>
              <a:r>
                <a:rPr lang="pt-PT" altLang="pt-PT" sz="1400" b="0" u="none">
                  <a:latin typeface="Santander Text" panose="020B0504020201020104" pitchFamily="34" charset="0"/>
                </a:rPr>
                <a:t>situação actual ou entre versões do documento</a:t>
              </a:r>
            </a:p>
          </p:txBody>
        </p:sp>
        <p:sp>
          <p:nvSpPr>
            <p:cNvPr id="13" name="TextBox 1"/>
            <p:cNvSpPr txBox="1">
              <a:spLocks noChangeArrowheads="1"/>
            </p:cNvSpPr>
            <p:nvPr/>
          </p:nvSpPr>
          <p:spPr bwMode="auto">
            <a:xfrm>
              <a:off x="7325610" y="5799305"/>
              <a:ext cx="999891" cy="599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pt-PT" altLang="pt-PT" sz="1100" u="none">
                  <a:latin typeface="Santander Text" panose="020B0504020201020104" pitchFamily="34" charset="0"/>
                </a:rPr>
                <a:t>Novo</a:t>
              </a:r>
            </a:p>
            <a:p>
              <a:pPr eaLnBrk="1" hangingPunct="1"/>
              <a:endParaRPr lang="pt-PT" altLang="pt-PT" sz="1100" u="none">
                <a:latin typeface="Santander Text" panose="020B0504020201020104" pitchFamily="34" charset="0"/>
              </a:endParaRPr>
            </a:p>
            <a:p>
              <a:pPr eaLnBrk="1" hangingPunct="1"/>
              <a:r>
                <a:rPr lang="pt-PT" altLang="pt-PT" sz="1100" u="none">
                  <a:latin typeface="Santander Text" panose="020B0504020201020104" pitchFamily="34" charset="0"/>
                </a:rPr>
                <a:t>Modificado</a:t>
              </a:r>
            </a:p>
          </p:txBody>
        </p:sp>
        <p:sp>
          <p:nvSpPr>
            <p:cNvPr id="14" name="AutoShape 38"/>
            <p:cNvSpPr>
              <a:spLocks noChangeArrowheads="1"/>
            </p:cNvSpPr>
            <p:nvPr/>
          </p:nvSpPr>
          <p:spPr bwMode="auto">
            <a:xfrm>
              <a:off x="7035854" y="6099588"/>
              <a:ext cx="349104" cy="290344"/>
            </a:xfrm>
            <a:prstGeom prst="star8">
              <a:avLst>
                <a:gd name="adj" fmla="val 38250"/>
              </a:avLst>
            </a:prstGeom>
            <a:solidFill>
              <a:srgbClr val="00B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s-ES" altLang="pt-PT" sz="900" b="1" u="none">
                  <a:latin typeface="Santander Text" panose="020B0504020201020104" pitchFamily="34" charset="0"/>
                </a:rPr>
                <a:t>M</a:t>
              </a:r>
            </a:p>
          </p:txBody>
        </p:sp>
        <p:sp>
          <p:nvSpPr>
            <p:cNvPr id="15" name="AutoShape 35"/>
            <p:cNvSpPr>
              <a:spLocks noChangeArrowheads="1"/>
            </p:cNvSpPr>
            <p:nvPr/>
          </p:nvSpPr>
          <p:spPr bwMode="auto">
            <a:xfrm>
              <a:off x="7035854" y="5760946"/>
              <a:ext cx="349104" cy="290344"/>
            </a:xfrm>
            <a:prstGeom prst="star8">
              <a:avLst>
                <a:gd name="adj" fmla="val 3825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500" u="sng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s-ES" altLang="pt-PT" sz="900" b="1" u="none">
                  <a:latin typeface="Santander Text" panose="020B0504020201020104" pitchFamily="34" charset="0"/>
                </a:rPr>
                <a:t>N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7B2FF-0565-FE2F-616E-F78DB7EBC3EA}"/>
              </a:ext>
            </a:extLst>
          </p:cNvPr>
          <p:cNvSpPr txBox="1"/>
          <p:nvPr/>
        </p:nvSpPr>
        <p:spPr>
          <a:xfrm>
            <a:off x="6803923" y="886593"/>
            <a:ext cx="4698209" cy="336354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01</a:t>
            </a:r>
            <a:r>
              <a:rPr lang="pt-PT" sz="1200" dirty="0">
                <a:latin typeface="Santander Text" panose="020B0504020201020104" pitchFamily="34" charset="0"/>
              </a:rPr>
              <a:t> Identificação da Iniciativa/Projeto e as Necessidade de Catalogação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/>
              </a:rPr>
              <a:t>02</a:t>
            </a:r>
            <a:r>
              <a:rPr lang="pt-PT" sz="1200" dirty="0">
                <a:latin typeface="Santander Text"/>
              </a:rPr>
              <a:t> Enquadramento da Iniciativa/Projeto</a:t>
            </a:r>
            <a:endParaRPr lang="pt-PT" sz="1200" dirty="0">
              <a:latin typeface="Santander Text" panose="020B0504020201020104" pitchFamily="34" charset="0"/>
            </a:endParaRP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03</a:t>
            </a:r>
            <a:r>
              <a:rPr lang="pt-PT" sz="1200" dirty="0">
                <a:latin typeface="Santander Text" panose="020B0504020201020104" pitchFamily="34" charset="0"/>
              </a:rPr>
              <a:t> Situação Atual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/>
              </a:rPr>
              <a:t>04</a:t>
            </a:r>
            <a:r>
              <a:rPr lang="pt-PT" sz="1200" dirty="0">
                <a:latin typeface="Santander Text"/>
              </a:rPr>
              <a:t> Objetivo da Iniciativa/Projeto</a:t>
            </a:r>
            <a:endParaRPr lang="pt-PT" sz="1200" dirty="0">
              <a:latin typeface="Santander Text" panose="020B0504020201020104" pitchFamily="34" charset="0"/>
            </a:endParaRP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05</a:t>
            </a:r>
            <a:r>
              <a:rPr lang="pt-PT" sz="1200" dirty="0">
                <a:latin typeface="Santander Text" panose="020B0504020201020104" pitchFamily="34" charset="0"/>
              </a:rPr>
              <a:t> Requisitos Funcionais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06 </a:t>
            </a:r>
            <a:r>
              <a:rPr lang="pt-PT" sz="1200" dirty="0">
                <a:latin typeface="Santander Text" panose="020B0504020201020104" pitchFamily="34" charset="0"/>
              </a:rPr>
              <a:t>Solução Proposta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07 </a:t>
            </a:r>
            <a:r>
              <a:rPr lang="pt-PT" sz="1200" dirty="0">
                <a:latin typeface="Santander Text" panose="020B0504020201020104" pitchFamily="34" charset="0"/>
              </a:rPr>
              <a:t>Solução Arquitectura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rgbClr val="FF0000"/>
                </a:solidFill>
                <a:latin typeface="Santander Text" panose="020B0504020201020104" pitchFamily="34" charset="0"/>
              </a:rPr>
              <a:t>08 </a:t>
            </a:r>
            <a:r>
              <a:rPr lang="pt-PT" sz="1200" dirty="0">
                <a:latin typeface="Santander Text" panose="020B0504020201020104" pitchFamily="34" charset="0"/>
              </a:rPr>
              <a:t>Dados, Fontes, Transformações e Consumo</a:t>
            </a:r>
          </a:p>
          <a:p>
            <a:pPr>
              <a:lnSpc>
                <a:spcPct val="200000"/>
              </a:lnSpc>
            </a:pPr>
            <a:r>
              <a:rPr lang="pt-PT" sz="1200" dirty="0">
                <a:solidFill>
                  <a:schemeClr val="accent1"/>
                </a:solidFill>
                <a:latin typeface="Santander Text" panose="020B0504020201020104" pitchFamily="34" charset="0"/>
              </a:rPr>
              <a:t>09 </a:t>
            </a:r>
            <a:r>
              <a:rPr lang="pt-PT" sz="1200" dirty="0">
                <a:latin typeface="Santander Text" panose="020B0504020201020104" pitchFamily="34" charset="0"/>
              </a:rPr>
              <a:t>Referência e Glossário</a:t>
            </a:r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671F19D9-4E00-81BD-AB32-935A41478BC1}"/>
              </a:ext>
            </a:extLst>
          </p:cNvPr>
          <p:cNvSpPr txBox="1">
            <a:spLocks/>
          </p:cNvSpPr>
          <p:nvPr/>
        </p:nvSpPr>
        <p:spPr>
          <a:xfrm>
            <a:off x="6803923" y="415150"/>
            <a:ext cx="4914601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406278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26373"/>
            <a:ext cx="5877538" cy="2852737"/>
          </a:xfrm>
        </p:spPr>
        <p:txBody>
          <a:bodyPr/>
          <a:lstStyle/>
          <a:p>
            <a:r>
              <a:rPr lang="pt-PT" dirty="0"/>
              <a:t>Identificação da Iniciativa/Projeto e das Necessidade de Catalogação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43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C87CF2-88A9-4952-9878-9894D4CB3E5F}"/>
              </a:ext>
            </a:extLst>
          </p:cNvPr>
          <p:cNvSpPr/>
          <p:nvPr/>
        </p:nvSpPr>
        <p:spPr>
          <a:xfrm>
            <a:off x="-1" y="719091"/>
            <a:ext cx="12192001" cy="5317725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endParaRPr lang="pt-PT" sz="100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57978"/>
            <a:ext cx="2743200" cy="365125"/>
          </a:xfrm>
        </p:spPr>
        <p:txBody>
          <a:bodyPr/>
          <a:lstStyle/>
          <a:p>
            <a:fld id="{BC0D97B6-E32F-4D7D-B839-7C3B51F2640F}" type="slidenum">
              <a:rPr lang="pt-PT" smtClean="0"/>
              <a:pPr/>
              <a:t>5</a:t>
            </a:fld>
            <a:endParaRPr lang="pt-PT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3292805" cy="304800"/>
          </a:xfrm>
        </p:spPr>
        <p:txBody>
          <a:bodyPr/>
          <a:lstStyle/>
          <a:p>
            <a:r>
              <a:rPr lang="pt-PT" sz="2400"/>
              <a:t>Informação do projecto</a:t>
            </a:r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4E5D693B-462C-4D34-9F93-21124A01063C}"/>
              </a:ext>
            </a:extLst>
          </p:cNvPr>
          <p:cNvSpPr txBox="1">
            <a:spLocks/>
          </p:cNvSpPr>
          <p:nvPr/>
        </p:nvSpPr>
        <p:spPr>
          <a:xfrm>
            <a:off x="7084442" y="337100"/>
            <a:ext cx="3292805" cy="304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300" kern="1200">
                <a:solidFill>
                  <a:schemeClr val="accent1"/>
                </a:solidFill>
                <a:latin typeface="Santander Text" panose="020B05040202010201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1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5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Santander Text" panose="020B05040202010201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/>
              <a:t>Informação do Catálogo</a:t>
            </a:r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7663387E-9092-401F-9605-672CD8069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54648"/>
              </p:ext>
            </p:extLst>
          </p:nvPr>
        </p:nvGraphicFramePr>
        <p:xfrm>
          <a:off x="6490761" y="1670158"/>
          <a:ext cx="5361662" cy="2499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76718">
                  <a:extLst>
                    <a:ext uri="{9D8B030D-6E8A-4147-A177-3AD203B41FA5}">
                      <a16:colId xmlns:a16="http://schemas.microsoft.com/office/drawing/2014/main" val="227919820"/>
                    </a:ext>
                  </a:extLst>
                </a:gridCol>
                <a:gridCol w="3684944">
                  <a:extLst>
                    <a:ext uri="{9D8B030D-6E8A-4147-A177-3AD203B41FA5}">
                      <a16:colId xmlns:a16="http://schemas.microsoft.com/office/drawing/2014/main" val="318222492"/>
                    </a:ext>
                  </a:extLst>
                </a:gridCol>
              </a:tblGrid>
              <a:tr h="201415"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Campo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Código | 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656011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Domain</a:t>
                      </a:r>
                      <a:endParaRPr lang="pt-PT" sz="1100" b="0" i="1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504020201020104" pitchFamily="34" charset="0"/>
                        </a:rPr>
                        <a:t>Products and Services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301094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Area</a:t>
                      </a:r>
                      <a:endParaRPr lang="pt-PT" sz="1100" b="0" i="1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dirty="0">
                          <a:latin typeface="Santander Text" panose="020B0504020201020104" pitchFamily="34" charset="0"/>
                        </a:rPr>
                        <a:t>Private Banking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841437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dirty="0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 dirty="0"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1100" b="0" i="1" dirty="0" err="1">
                          <a:latin typeface="Santander Text" panose="020B0504020201020104" pitchFamily="34" charset="0"/>
                        </a:rPr>
                        <a:t>Subarea</a:t>
                      </a:r>
                      <a:endParaRPr lang="pt-PT" sz="1100" b="0" i="1" dirty="0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Santander Text" panose="020B0504020201020104" pitchFamily="34" charset="0"/>
                        </a:rPr>
                        <a:t>Global Private Banking - Commercial and Business Management</a:t>
                      </a:r>
                      <a:endParaRPr lang="pt-PT" sz="1100" dirty="0">
                        <a:latin typeface="Santander Text" panose="020B05040202010201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57349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err="1">
                          <a:latin typeface="Santander Text" panose="020B0504020201020104" pitchFamily="34" charset="0"/>
                        </a:rPr>
                        <a:t>Functional</a:t>
                      </a: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 Application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#Código da Aplicação Funcional# (ex.: APMF0001013971)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698515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Contact </a:t>
                      </a:r>
                      <a:r>
                        <a:rPr lang="pt-PT" sz="1100" b="0" i="1" kern="120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person</a:t>
                      </a: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(Negócio)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#Nome do Contacto Responsável Negócio#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355403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Contact </a:t>
                      </a:r>
                      <a:r>
                        <a:rPr lang="pt-PT" sz="1100" b="0" i="1" kern="1200" err="1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person</a:t>
                      </a: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(IT)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#Nome do Contacto Responsável IT#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526269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Technical Application 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>
                          <a:latin typeface="Santander Text" panose="020B0504020201020104" pitchFamily="34" charset="0"/>
                        </a:rPr>
                        <a:t>#Código da Aplicação Funcional# (ex.: APMT0100048481)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685003"/>
                  </a:ext>
                </a:extLst>
              </a:tr>
              <a:tr h="2014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i="1">
                          <a:latin typeface="Santander Text" panose="020B0504020201020104" pitchFamily="34" charset="0"/>
                        </a:rPr>
                        <a:t>Acronym *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10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#Código do Acrónimo da aplicação Técnica# (ex.: CCCENT)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5985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864049C-9A14-4084-90B4-A5FD13118130}"/>
              </a:ext>
            </a:extLst>
          </p:cNvPr>
          <p:cNvSpPr txBox="1"/>
          <p:nvPr/>
        </p:nvSpPr>
        <p:spPr>
          <a:xfrm>
            <a:off x="168676" y="872281"/>
            <a:ext cx="3193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latin typeface="Santander Text" panose="020B0504020201020104" pitchFamily="34" charset="0"/>
              </a:rPr>
              <a:t>Referência do Iniciativa/Projeto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B100EA-6846-4DBD-B8F7-A7FB8CA5080D}"/>
              </a:ext>
            </a:extLst>
          </p:cNvPr>
          <p:cNvSpPr/>
          <p:nvPr/>
        </p:nvSpPr>
        <p:spPr>
          <a:xfrm>
            <a:off x="207148" y="1197223"/>
            <a:ext cx="5944038" cy="1046311"/>
          </a:xfrm>
          <a:prstGeom prst="roundRect">
            <a:avLst>
              <a:gd name="adj" fmla="val 6445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Código Iniciativa/Projeto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: P2400399</a:t>
            </a:r>
          </a:p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b="1" dirty="0">
                <a:solidFill>
                  <a:schemeClr val="tx1"/>
                </a:solidFill>
                <a:latin typeface="Santander Text" panose="020B0504020201020104" pitchFamily="34" charset="0"/>
              </a:rPr>
              <a:t>Designação</a:t>
            </a: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: Contratação Automática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D5EF70-FBE2-46D6-BFB5-20AD84466183}"/>
              </a:ext>
            </a:extLst>
          </p:cNvPr>
          <p:cNvSpPr txBox="1"/>
          <p:nvPr/>
        </p:nvSpPr>
        <p:spPr>
          <a:xfrm>
            <a:off x="168676" y="4058824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Santander Text" panose="020B0504020201020104" pitchFamily="34" charset="0"/>
              </a:rPr>
              <a:t>Quem é quem?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E55AAE-1D55-4827-9CC8-FBC2B2FA9B2F}"/>
              </a:ext>
            </a:extLst>
          </p:cNvPr>
          <p:cNvSpPr txBox="1"/>
          <p:nvPr/>
        </p:nvSpPr>
        <p:spPr>
          <a:xfrm>
            <a:off x="168676" y="2385459"/>
            <a:ext cx="14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>
                <a:latin typeface="Santander Text" panose="020B0504020201020104" pitchFamily="34" charset="0"/>
              </a:rPr>
              <a:t>Simplificação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EB12809-9F89-4EC6-B545-850A94B00714}"/>
              </a:ext>
            </a:extLst>
          </p:cNvPr>
          <p:cNvSpPr/>
          <p:nvPr/>
        </p:nvSpPr>
        <p:spPr>
          <a:xfrm>
            <a:off x="207149" y="2718956"/>
            <a:ext cx="5944038" cy="1107267"/>
          </a:xfrm>
          <a:prstGeom prst="roundRect">
            <a:avLst>
              <a:gd name="adj" fmla="val 6445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buClr>
                <a:schemeClr val="accent1"/>
              </a:buClr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um processo de contratação automática para clientes Private de modo a tornar mais sustentável o método atual de contratação de produtos financeiros.</a:t>
            </a: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D37E5996-C0BA-4846-AC3D-11A34AAC068E}"/>
              </a:ext>
            </a:extLst>
          </p:cNvPr>
          <p:cNvSpPr/>
          <p:nvPr/>
        </p:nvSpPr>
        <p:spPr>
          <a:xfrm>
            <a:off x="6490761" y="1197223"/>
            <a:ext cx="5361662" cy="452010"/>
          </a:xfrm>
          <a:prstGeom prst="round2Same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600">
              <a:latin typeface="Santander Text" panose="020B05040202010201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A74FC3-E172-4B87-97EF-D9CF1B5EA63C}"/>
              </a:ext>
            </a:extLst>
          </p:cNvPr>
          <p:cNvGrpSpPr/>
          <p:nvPr/>
        </p:nvGrpSpPr>
        <p:grpSpPr>
          <a:xfrm>
            <a:off x="7228411" y="1122816"/>
            <a:ext cx="3793118" cy="600824"/>
            <a:chOff x="6698634" y="762627"/>
            <a:chExt cx="3793118" cy="60082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E22D1B9-C868-4960-860A-CCB5CA8A96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8634" y="762627"/>
              <a:ext cx="1695596" cy="6008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EFCC116-831F-4B1B-BF26-F9A4ED0F4D04}"/>
                </a:ext>
              </a:extLst>
            </p:cNvPr>
            <p:cNvSpPr txBox="1"/>
            <p:nvPr/>
          </p:nvSpPr>
          <p:spPr>
            <a:xfrm>
              <a:off x="8403518" y="847596"/>
              <a:ext cx="20882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100" b="1" err="1">
                  <a:solidFill>
                    <a:schemeClr val="bg1"/>
                  </a:solidFill>
                  <a:latin typeface="Santander Text" panose="020B0504020201020104" pitchFamily="34" charset="0"/>
                </a:rPr>
                <a:t>Application</a:t>
              </a:r>
              <a: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 Portfolio</a:t>
              </a:r>
              <a:b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</a:br>
              <a:r>
                <a:rPr lang="pt-PT" sz="1100" b="1">
                  <a:solidFill>
                    <a:schemeClr val="bg1"/>
                  </a:solidFill>
                  <a:latin typeface="Santander Text" panose="020B0504020201020104" pitchFamily="34" charset="0"/>
                </a:rPr>
                <a:t>Management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5B05103-40A2-6FCE-80E6-964E77E317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188193"/>
              </p:ext>
            </p:extLst>
          </p:nvPr>
        </p:nvGraphicFramePr>
        <p:xfrm>
          <a:off x="230483" y="4475323"/>
          <a:ext cx="5920704" cy="805619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842157">
                  <a:extLst>
                    <a:ext uri="{9D8B030D-6E8A-4147-A177-3AD203B41FA5}">
                      <a16:colId xmlns:a16="http://schemas.microsoft.com/office/drawing/2014/main" val="2373311025"/>
                    </a:ext>
                  </a:extLst>
                </a:gridCol>
                <a:gridCol w="4078547">
                  <a:extLst>
                    <a:ext uri="{9D8B030D-6E8A-4147-A177-3AD203B41FA5}">
                      <a16:colId xmlns:a16="http://schemas.microsoft.com/office/drawing/2014/main" val="537697615"/>
                    </a:ext>
                  </a:extLst>
                </a:gridCol>
              </a:tblGrid>
              <a:tr h="233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Solicitante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e807473 |</a:t>
                      </a:r>
                      <a:r>
                        <a:rPr lang="pt-PT" sz="1100" b="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 Maria Simão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218015"/>
                  </a:ext>
                </a:extLst>
              </a:tr>
              <a:tr h="2330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Product Owner</a:t>
                      </a:r>
                      <a:endParaRPr lang="pt-PT" sz="1100" b="0" i="1" kern="120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S607280 |</a:t>
                      </a:r>
                      <a:r>
                        <a:rPr lang="pt-PT" sz="1100" b="0" kern="1200" baseline="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 Tiago Pousinha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344193"/>
                  </a:ext>
                </a:extLst>
              </a:tr>
              <a:tr h="2874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Gestor Projeto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100" b="0" kern="1200" dirty="0">
                          <a:solidFill>
                            <a:schemeClr val="dk1"/>
                          </a:solidFill>
                          <a:latin typeface="Santander Text" panose="020B0504020201020104" pitchFamily="34" charset="0"/>
                        </a:rPr>
                        <a:t>S613590 | Rui Valentim</a:t>
                      </a:r>
                      <a:endParaRPr lang="pt-PT" sz="1100" b="0" i="1" kern="1200" dirty="0">
                        <a:solidFill>
                          <a:schemeClr val="dk1"/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3884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EF357D3-A953-371C-A102-9BD96B913173}"/>
              </a:ext>
            </a:extLst>
          </p:cNvPr>
          <p:cNvSpPr/>
          <p:nvPr/>
        </p:nvSpPr>
        <p:spPr>
          <a:xfrm>
            <a:off x="6490761" y="4150775"/>
            <a:ext cx="2553149" cy="185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PT" sz="900" dirty="0">
                <a:solidFill>
                  <a:schemeClr val="tx1"/>
                </a:solidFill>
              </a:rPr>
              <a:t>*</a:t>
            </a:r>
            <a:r>
              <a:rPr lang="pt-PT" sz="900" i="1" dirty="0">
                <a:solidFill>
                  <a:schemeClr val="tx1"/>
                </a:solidFill>
              </a:rPr>
              <a:t>Caso já exista catalogação</a:t>
            </a:r>
            <a:endParaRPr lang="pt-PT" sz="9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7CD2C4-7DA2-5B56-B2F4-983E685D7229}"/>
              </a:ext>
            </a:extLst>
          </p:cNvPr>
          <p:cNvSpPr/>
          <p:nvPr/>
        </p:nvSpPr>
        <p:spPr>
          <a:xfrm>
            <a:off x="99515" y="3819900"/>
            <a:ext cx="2553149" cy="185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PT" sz="900">
                <a:solidFill>
                  <a:schemeClr val="tx1"/>
                </a:solidFill>
              </a:rPr>
              <a:t>*</a:t>
            </a:r>
            <a:r>
              <a:rPr lang="pt-PT" sz="900" i="1">
                <a:solidFill>
                  <a:schemeClr val="tx1"/>
                </a:solidFill>
              </a:rPr>
              <a:t>Caso aplique</a:t>
            </a:r>
            <a:endParaRPr lang="pt-PT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08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Enquadramento da Iniciativa/Projeto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126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 dirty="0">
                <a:latin typeface="Santander Text"/>
              </a:rPr>
              <a:t>Enquadramento da Iniciativa/Projeto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4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Será criado um mecanismo de contratação automática de modo a substituir o processo atual. Este desenvolvimento permitirá ao Gestor enviar propostas diretamente para mercado sem necessidade de validação por parte do BackOffice. 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É, também, um objetivo permitir ao Gestor registar todas as interações associadas à proposta, nomeadamente, emails, chamadas e notas de reunião. Estas interações irão estar disponíveis para consulta 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traçabilidade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das mesmas através de um ecrã de seguimento.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Impactos: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Private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Helper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Cockpit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Este desenvolvimento começará com uma fase inicial com: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Fundos (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excepto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052);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Depósitos;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Ebroker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Seguros (incluindo 052)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979170" lvl="2" indent="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979170" lvl="2" indent="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7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9995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39C3-54FD-6B37-979D-696E52E5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8019B-E3AF-5D78-B277-8D92B6DB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Situação Atual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549B84-B441-142C-3D1E-8B0258AB2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120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/>
              <a:t>Situação Atual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4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Atualmente, a contratação de produtos passa por um processo manual, onde o Gestor gera a documentação contratual no Private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Helper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e depois envia, manualmente, por email à equipa de BackOffice para validação e contratação dos produtos. </a:t>
            </a:r>
          </a:p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Além disso, não era possível ao Gestor ter a informação segregada no mesmo local relativamente às propostas. Atualmente, toda a informação está dispersa em outros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cards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na Gestão de Património Financeiro, dificultando a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traçabilidade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de toda a informação.</a:t>
            </a:r>
            <a:endParaRPr lang="pt-PT" sz="1200" dirty="0">
              <a:solidFill>
                <a:schemeClr val="bg1">
                  <a:lumMod val="50000"/>
                </a:schemeClr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42448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E983F-684D-E41D-9E7E-804099BF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64818-B777-8230-2E56-38192A55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Objectivos</a:t>
            </a:r>
            <a:r>
              <a:rPr lang="pt-PT" dirty="0"/>
              <a:t> da Iniciativa/Projeto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A72E98-FCBC-9223-0CED-D5744D0F8C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14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5168952" cy="304800"/>
          </a:xfrm>
        </p:spPr>
        <p:txBody>
          <a:bodyPr/>
          <a:lstStyle/>
          <a:p>
            <a:r>
              <a:rPr lang="pt-PT" sz="2400" dirty="0"/>
              <a:t>Objetivos da Iniciativa/Projeto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O objetivo principal destes desenvolvimentos passa por: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Automatizar o processo de contratação;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Disponibilizar informação compactada e segregada ao Gestor/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Compliance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;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Possibilitar o registo de interações com o cliente no momento da proposta (Private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Helper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);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Permitir o seguimento das propostas contratadas/pendentes de contratação;</a:t>
            </a:r>
          </a:p>
          <a:p>
            <a:pPr marL="350520" lvl="1" indent="-171450" algn="just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PT" sz="1200" dirty="0">
                <a:solidFill>
                  <a:schemeClr val="tx1"/>
                </a:solidFill>
                <a:latin typeface="Santander Text"/>
              </a:rPr>
              <a:t>Permitir realizar uma </a:t>
            </a:r>
            <a:r>
              <a:rPr lang="pt-PT" sz="1200" dirty="0" err="1">
                <a:solidFill>
                  <a:schemeClr val="tx1"/>
                </a:solidFill>
                <a:latin typeface="Santander Text"/>
              </a:rPr>
              <a:t>traçabilidade</a:t>
            </a:r>
            <a:r>
              <a:rPr lang="pt-PT" sz="1200" dirty="0">
                <a:solidFill>
                  <a:schemeClr val="tx1"/>
                </a:solidFill>
                <a:latin typeface="Santander Text"/>
              </a:rPr>
              <a:t> da informação contratual.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1383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97535-CC41-19E0-1FF2-0F3B642C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5A1C1-8DF8-3594-CE46-DFFE70B18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Requisitos Funcionais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795E43-6925-6A37-C9DF-00358AB515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6731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7353113" cy="304800"/>
          </a:xfrm>
        </p:spPr>
        <p:txBody>
          <a:bodyPr/>
          <a:lstStyle/>
          <a:p>
            <a:r>
              <a:rPr lang="pt-PT" sz="2400"/>
              <a:t>Identificação e Descrição de Requisitos Funcionais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551383" y="836100"/>
            <a:ext cx="10922661" cy="5147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No âmbito desta iniciativa/projeto pretende-se criar um mecanismo de automático para a contratação de produtos financeiros assim como, registar todas as interações ocorridas no seguimento de cada proposta, nomeadamente, chamadas, emails e notas de reunião.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Private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Helper</a:t>
            </a: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lphaL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novo ecrã que permite o registo das interações com o cliente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lphaL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novos campos para ordem de contratação 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Cockpit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Criação de novo ecrã para acompanhamento de todas as propostas contratadas/pendentes de contratação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Permitir a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traçabilidade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das interações com os clientes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Acompanhamento das propostas pendentes de interações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arenR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Contratar propostas pendentes</a:t>
            </a:r>
          </a:p>
          <a:p>
            <a:pPr marL="228600" indent="0" algn="just">
              <a:lnSpc>
                <a:spcPct val="150000"/>
              </a:lnSpc>
              <a:spcBef>
                <a:spcPts val="400"/>
              </a:spcBef>
              <a:buNone/>
            </a:pPr>
            <a:endParaRPr lang="pt-PT" sz="1400" b="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0" algn="just">
              <a:lnSpc>
                <a:spcPct val="150000"/>
              </a:lnSpc>
              <a:spcBef>
                <a:spcPts val="400"/>
              </a:spcBef>
              <a:buNone/>
            </a:pPr>
            <a:endParaRPr lang="pt-PT" sz="1400" b="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804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1C79-D94D-331B-B379-B569AFFF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1F8E2-38E8-5A76-343A-3F114F85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Solução Proposta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9D2A4-DDA6-EE27-D19C-E5734892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2382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>
            <a:extLst>
              <a:ext uri="{FF2B5EF4-FFF2-40B4-BE49-F238E27FC236}">
                <a16:creationId xmlns:a16="http://schemas.microsoft.com/office/drawing/2014/main" id="{53C0C1D0-E38F-A040-697B-1419CA694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3" y="1062528"/>
            <a:ext cx="10922661" cy="49920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lgDash"/>
          </a:ln>
        </p:spPr>
        <p:txBody>
          <a:bodyPr lIns="91440" tIns="45720" rIns="91440" bIns="45720" anchor="t"/>
          <a:lstStyle>
            <a:lvl1pPr marL="342900" indent="-342900" defTabSz="698500">
              <a:spcBef>
                <a:spcPct val="20000"/>
              </a:spcBef>
              <a:buClr>
                <a:srgbClr val="FF0000"/>
              </a:buClr>
              <a:buFont typeface="Wingdings" panose="05000000000000000000" pitchFamily="2" charset="2"/>
              <a:buChar char="w"/>
              <a:defRPr sz="2400" b="1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179388" defTabSz="6985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600">
                <a:solidFill>
                  <a:srgbClr val="808080"/>
                </a:solidFill>
                <a:latin typeface="Arial" panose="020B0604020202020204" pitchFamily="34" charset="0"/>
              </a:defRPr>
            </a:lvl2pPr>
            <a:lvl3pPr marL="979488" indent="-3429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 defTabSz="698500">
              <a:spcBef>
                <a:spcPct val="200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defTabSz="698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–"/>
              <a:defRPr sz="20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179070" lvl="1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None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A solução proposta passa por: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Mecanismo de envio da proposta do cliente diretamente para ordem de contratação/sala de mercados, etc.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Criar nova pestana no Private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Helper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para registo de interações com o Cliente;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Criar novos </a:t>
            </a:r>
            <a:r>
              <a:rPr lang="pt-PT" sz="1200" dirty="0" err="1">
                <a:solidFill>
                  <a:schemeClr val="tx1"/>
                </a:solidFill>
                <a:latin typeface="Santander Text" panose="020B0504020201020104" pitchFamily="34" charset="0"/>
              </a:rPr>
              <a:t>cards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 na Gestão de Património Financeiro;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Seguimento de propostas </a:t>
            </a:r>
          </a:p>
          <a:p>
            <a:pPr marL="1207770" lvl="2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Propostas Pendentes de Interação</a:t>
            </a:r>
            <a:endParaRPr lang="pt-PT" sz="18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Criar um serviço de atualização do estado das operações liquidadas/não liquidadas no Central;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Envio de um ficheiro noturno para atualização do estado na BBDD da contratação automática;</a:t>
            </a:r>
          </a:p>
          <a:p>
            <a:pPr marL="407670" lvl="1" indent="-228600" algn="just">
              <a:lnSpc>
                <a:spcPct val="150000"/>
              </a:lnSpc>
              <a:spcBef>
                <a:spcPts val="400"/>
              </a:spcBef>
              <a:buClr>
                <a:srgbClr val="FF0000"/>
              </a:buClr>
              <a:buFont typeface="+mj-lt"/>
              <a:buAutoNum type="arabicPeriod"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15</a:t>
            </a:fld>
            <a:endParaRPr lang="pt-PT" dirty="0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E9D962A9-73FA-0091-57D8-C002FB87E0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/>
              <a:t>Solução Proposta</a:t>
            </a:r>
            <a:br>
              <a:rPr lang="pt-PT" sz="2400"/>
            </a:br>
            <a:r>
              <a:rPr lang="pt-PT" sz="1800">
                <a:solidFill>
                  <a:schemeClr val="bg1">
                    <a:lumMod val="50000"/>
                  </a:schemeClr>
                </a:solidFill>
              </a:rPr>
              <a:t>Fluxo e principais componentes envolvidas</a:t>
            </a:r>
            <a:endParaRPr lang="pt-PT" sz="24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59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81C79-D94D-331B-B379-B569AFFF4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1F8E2-38E8-5A76-343A-3F114F85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Solução Arquitectura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9D2A4-DDA6-EE27-D19C-E5734892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3069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F4F2B-29CA-3CB0-0B45-2166EA81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CF668-FD06-FDCE-32BA-61D61195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17</a:t>
            </a:fld>
            <a:endParaRPr lang="pt-PT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B3E72940-D4F6-E7A0-76FA-9F7E156F7C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/>
          <a:lstStyle/>
          <a:p>
            <a:r>
              <a:rPr lang="pt-PT" sz="2400" dirty="0"/>
              <a:t>Solução Arquitetura</a:t>
            </a:r>
            <a:br>
              <a:rPr lang="pt-PT" sz="2400" dirty="0"/>
            </a:br>
            <a:r>
              <a:rPr lang="pt-PT" sz="1800" dirty="0">
                <a:solidFill>
                  <a:schemeClr val="bg1">
                    <a:lumMod val="50000"/>
                  </a:schemeClr>
                </a:solidFill>
              </a:rPr>
              <a:t>Fluxo e principais componentes envolvidas</a:t>
            </a:r>
            <a:endParaRPr lang="pt-PT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ABBDBA-A475-3404-486A-734434B30768}"/>
              </a:ext>
            </a:extLst>
          </p:cNvPr>
          <p:cNvSpPr/>
          <p:nvPr/>
        </p:nvSpPr>
        <p:spPr>
          <a:xfrm>
            <a:off x="1377917" y="2526786"/>
            <a:ext cx="2019730" cy="3189434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IBM API Connect</a:t>
            </a: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[Intra Client]</a:t>
            </a: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latin typeface="Santander Text" panose="020B0504020201020104" pitchFamily="34" charset="0"/>
            </a:endParaRPr>
          </a:p>
          <a:p>
            <a:pPr algn="ctr"/>
            <a:endParaRPr lang="pt-PT" sz="11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pic>
        <p:nvPicPr>
          <p:cNvPr id="1028" name="Picture 4" descr="AWS Marketplace: IBM API Connect - Full lifecycle API management">
            <a:extLst>
              <a:ext uri="{FF2B5EF4-FFF2-40B4-BE49-F238E27FC236}">
                <a16:creationId xmlns:a16="http://schemas.microsoft.com/office/drawing/2014/main" id="{D8C0B53B-A531-F320-B4DC-DB6A0135A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168" y="2885744"/>
            <a:ext cx="349794" cy="34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C57B283-0494-120B-DCF4-9B6B95928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7109" y="137162"/>
            <a:ext cx="310852" cy="235229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b="0" u="none">
                <a:latin typeface="Santander Text" panose="020B0504020201020104" pitchFamily="34" charset="0"/>
              </a:rPr>
              <a:t>~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8994433-69A2-DDA7-6B5D-323EEE80E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7109" y="441347"/>
            <a:ext cx="310852" cy="235229"/>
          </a:xfrm>
          <a:prstGeom prst="rect">
            <a:avLst/>
          </a:prstGeom>
          <a:solidFill>
            <a:srgbClr val="C00000">
              <a:alpha val="10000"/>
            </a:srgbClr>
          </a:solidFill>
          <a:ln w="12700" algn="ctr">
            <a:solidFill>
              <a:srgbClr val="9D35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1100" dirty="0">
                <a:latin typeface="Santander Text" panose="020B0504020201020104" pitchFamily="34" charset="0"/>
              </a:rPr>
              <a:t>~</a:t>
            </a:r>
          </a:p>
        </p:txBody>
      </p:sp>
      <p:sp>
        <p:nvSpPr>
          <p:cNvPr id="44" name="Rectangle 59">
            <a:extLst>
              <a:ext uri="{FF2B5EF4-FFF2-40B4-BE49-F238E27FC236}">
                <a16:creationId xmlns:a16="http://schemas.microsoft.com/office/drawing/2014/main" id="{645E5A4A-2428-057D-0EFC-634559FAE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2729" y="114373"/>
            <a:ext cx="1062632" cy="877662"/>
          </a:xfrm>
          <a:prstGeom prst="rect">
            <a:avLst/>
          </a:prstGeom>
          <a:noFill/>
          <a:ln w="9525" cap="rnd">
            <a:noFill/>
            <a:prstDash val="sysDot"/>
            <a:miter lim="800000"/>
            <a:headEnd/>
            <a:tailEnd/>
          </a:ln>
        </p:spPr>
        <p:txBody>
          <a:bodyPr lIns="0" tIns="0" rIns="0" bIns="0" anchor="t"/>
          <a:lstStyle/>
          <a:p>
            <a:pPr algn="l">
              <a:defRPr/>
            </a:pPr>
            <a:endParaRPr lang="pt-PT" sz="800" b="0" dirty="0">
              <a:latin typeface="Santander Text" panose="020B0504020201020104" pitchFamily="34" charset="0"/>
            </a:endParaRPr>
          </a:p>
          <a:p>
            <a:pPr algn="l">
              <a:defRPr/>
            </a:pPr>
            <a:r>
              <a:rPr lang="pt-PT" sz="800" b="0" dirty="0">
                <a:latin typeface="Santander Text" panose="020B0504020201020104" pitchFamily="34" charset="0"/>
              </a:rPr>
              <a:t>Existente</a:t>
            </a:r>
          </a:p>
          <a:p>
            <a:pPr algn="l">
              <a:defRPr/>
            </a:pPr>
            <a:endParaRPr lang="pt-PT" sz="800" b="0" u="none" dirty="0">
              <a:latin typeface="Santander Text" panose="020B0504020201020104" pitchFamily="34" charset="0"/>
            </a:endParaRPr>
          </a:p>
          <a:p>
            <a:pPr algn="l">
              <a:defRPr/>
            </a:pPr>
            <a:r>
              <a:rPr lang="pt-PT" sz="800" b="0" dirty="0">
                <a:latin typeface="Santander Text" panose="020B0504020201020104" pitchFamily="34" charset="0"/>
              </a:rPr>
              <a:t>Novo</a:t>
            </a:r>
          </a:p>
          <a:p>
            <a:pPr algn="l">
              <a:defRPr/>
            </a:pPr>
            <a:endParaRPr lang="pt-PT" sz="800" dirty="0">
              <a:latin typeface="Santander Text" panose="020B0504020201020104" pitchFamily="34" charset="0"/>
            </a:endParaRPr>
          </a:p>
          <a:p>
            <a:pPr algn="l">
              <a:defRPr/>
            </a:pPr>
            <a:r>
              <a:rPr lang="pt-PT" sz="800" b="0" dirty="0">
                <a:latin typeface="Santander Text" panose="020B0504020201020104" pitchFamily="34" charset="0"/>
              </a:rPr>
              <a:t>Alterado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6AFB8F-77A0-B098-8FFB-B4BA0CBF5BEF}"/>
              </a:ext>
            </a:extLst>
          </p:cNvPr>
          <p:cNvCxnSpPr>
            <a:cxnSpLocks/>
          </p:cNvCxnSpPr>
          <p:nvPr/>
        </p:nvCxnSpPr>
        <p:spPr bwMode="auto">
          <a:xfrm>
            <a:off x="10456981" y="164403"/>
            <a:ext cx="0" cy="816358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1A451B13-F061-14D9-1734-0C04F4053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7109" y="745532"/>
            <a:ext cx="310852" cy="235229"/>
          </a:xfrm>
          <a:prstGeom prst="rect">
            <a:avLst/>
          </a:prstGeom>
          <a:solidFill>
            <a:schemeClr val="accent2">
              <a:lumMod val="90000"/>
              <a:alpha val="10000"/>
            </a:scheme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1100" dirty="0">
                <a:latin typeface="Santander Text" panose="020B0504020201020104" pitchFamily="34" charset="0"/>
              </a:rPr>
              <a:t>~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3793C0-E701-089F-C9F2-C234333E0B20}"/>
              </a:ext>
            </a:extLst>
          </p:cNvPr>
          <p:cNvSpPr txBox="1"/>
          <p:nvPr/>
        </p:nvSpPr>
        <p:spPr>
          <a:xfrm>
            <a:off x="7748546" y="1427761"/>
            <a:ext cx="4254416" cy="3622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pt-PT" sz="1200" b="1" dirty="0">
                <a:latin typeface="Santander Text" panose="020B0504020201020104" pitchFamily="34" charset="0"/>
              </a:rPr>
              <a:t>Características e descrição do fluxo</a:t>
            </a:r>
            <a:endParaRPr lang="pt-PT" sz="1200" dirty="0">
              <a:latin typeface="Santander Text" panose="020B0504020201020104" pitchFamily="34" charset="0"/>
            </a:endParaRPr>
          </a:p>
          <a:p>
            <a:pPr marL="496888" lvl="1" indent="-228600">
              <a:lnSpc>
                <a:spcPct val="120000"/>
              </a:lnSpc>
              <a:buFont typeface="+mj-lt"/>
              <a:buAutoNum type="arabicPeriod"/>
            </a:pPr>
            <a:r>
              <a:rPr lang="pt-PT" sz="1200" dirty="0">
                <a:latin typeface="Santander Text" panose="020B0504020201020104" pitchFamily="34" charset="0"/>
              </a:rPr>
              <a:t>O novo front do Private Helper deverá estar disponivel através de uma novo Card na </a:t>
            </a: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Gestão de Património Financeiro que está disponível no cockpit.</a:t>
            </a:r>
          </a:p>
          <a:p>
            <a:pPr marL="496888" lvl="1" indent="-228600">
              <a:lnSpc>
                <a:spcPct val="120000"/>
              </a:lnSpc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O front do Private Helper deverá consumir APIs de modo a suportar a funcionalidades disponíveis no mesmo</a:t>
            </a:r>
          </a:p>
          <a:p>
            <a:pPr marL="496888" lvl="1" indent="-228600">
              <a:lnSpc>
                <a:spcPct val="120000"/>
              </a:lnSpc>
              <a:buFont typeface="+mj-lt"/>
              <a:buAutoNum type="arabicPeriod"/>
            </a:pPr>
            <a:r>
              <a:rPr lang="pt-PT" sz="1200" dirty="0">
                <a:solidFill>
                  <a:schemeClr val="tx1"/>
                </a:solidFill>
                <a:latin typeface="Santander Text" panose="020B0504020201020104" pitchFamily="34" charset="0"/>
              </a:rPr>
              <a:t>Repositório de dados necessário para persistir os dados da aplicação. Reutilizar a BD já criada para o private Helper e solicitar incremento se necessário.</a:t>
            </a:r>
          </a:p>
          <a:p>
            <a:pPr marL="496888" lvl="1" indent="-228600">
              <a:lnSpc>
                <a:spcPct val="120000"/>
              </a:lnSpc>
              <a:buFont typeface="+mj-lt"/>
              <a:buAutoNum type="arabicPeriod"/>
            </a:pPr>
            <a:r>
              <a:rPr lang="pt-PT" sz="1200" dirty="0">
                <a:latin typeface="Santander Text" panose="020B0504020201020104" pitchFamily="34" charset="0"/>
              </a:rPr>
              <a:t>Para contratação via eBroker será necessário desde o private Helper abrir o front  do eBroker numa nova tab do browser e garantir o SSO. Neste momento não está previsto haver outra forma de integração.</a:t>
            </a: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496888" lvl="1" indent="-228600">
              <a:lnSpc>
                <a:spcPct val="120000"/>
              </a:lnSpc>
              <a:buFont typeface="+mj-lt"/>
              <a:buAutoNum type="arabicPeriod"/>
            </a:pPr>
            <a:endParaRPr lang="pt-PT" sz="12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496888" lvl="1" indent="-228600">
              <a:lnSpc>
                <a:spcPct val="120000"/>
              </a:lnSpc>
              <a:buFont typeface="+mj-lt"/>
              <a:buAutoNum type="arabicPeriod"/>
            </a:pPr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1055" name="Rectangle 12">
            <a:extLst>
              <a:ext uri="{FF2B5EF4-FFF2-40B4-BE49-F238E27FC236}">
                <a16:creationId xmlns:a16="http://schemas.microsoft.com/office/drawing/2014/main" id="{2FC3D51C-4734-F604-5CE7-680CADD0F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726" y="3765619"/>
            <a:ext cx="1121341" cy="424444"/>
          </a:xfrm>
          <a:prstGeom prst="rect">
            <a:avLst/>
          </a:prstGeom>
          <a:solidFill>
            <a:srgbClr val="C00000">
              <a:alpha val="10000"/>
            </a:srgbClr>
          </a:solidFill>
          <a:ln w="12700" algn="ctr">
            <a:solidFill>
              <a:srgbClr val="9D35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dirty="0">
                <a:latin typeface="Santander Text" panose="020B0504020201020104" pitchFamily="34" charset="0"/>
              </a:rPr>
              <a:t>API</a:t>
            </a: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B4F</a:t>
            </a:r>
          </a:p>
        </p:txBody>
      </p:sp>
      <p:sp>
        <p:nvSpPr>
          <p:cNvPr id="3" name="Star: 8 Points 2">
            <a:extLst>
              <a:ext uri="{FF2B5EF4-FFF2-40B4-BE49-F238E27FC236}">
                <a16:creationId xmlns:a16="http://schemas.microsoft.com/office/drawing/2014/main" id="{51FDCC65-790D-1CA7-D75D-C7E1CCE61D85}"/>
              </a:ext>
            </a:extLst>
          </p:cNvPr>
          <p:cNvSpPr/>
          <p:nvPr/>
        </p:nvSpPr>
        <p:spPr>
          <a:xfrm>
            <a:off x="1396416" y="2568517"/>
            <a:ext cx="259781" cy="210901"/>
          </a:xfrm>
          <a:prstGeom prst="star8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2615B3F-4C98-1872-1730-C87F928838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89" y="1219448"/>
            <a:ext cx="1548766" cy="131523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B67B455-20F2-1384-0CA8-1658811D5197}"/>
              </a:ext>
            </a:extLst>
          </p:cNvPr>
          <p:cNvSpPr txBox="1"/>
          <p:nvPr/>
        </p:nvSpPr>
        <p:spPr>
          <a:xfrm>
            <a:off x="1046689" y="1180128"/>
            <a:ext cx="848930" cy="243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latin typeface="Santander Text" panose="020B0504020201020104" pitchFamily="34" charset="0"/>
              </a:rPr>
              <a:t>Cockpit</a:t>
            </a:r>
          </a:p>
        </p:txBody>
      </p:sp>
      <p:cxnSp>
        <p:nvCxnSpPr>
          <p:cNvPr id="1038" name="Connector: Elbow 1037">
            <a:extLst>
              <a:ext uri="{FF2B5EF4-FFF2-40B4-BE49-F238E27FC236}">
                <a16:creationId xmlns:a16="http://schemas.microsoft.com/office/drawing/2014/main" id="{D3EA43FF-906E-75D0-92C3-526E17862172}"/>
              </a:ext>
            </a:extLst>
          </p:cNvPr>
          <p:cNvCxnSpPr>
            <a:cxnSpLocks/>
            <a:stCxn id="11" idx="1"/>
            <a:endCxn id="19" idx="1"/>
          </p:cNvCxnSpPr>
          <p:nvPr/>
        </p:nvCxnSpPr>
        <p:spPr>
          <a:xfrm rot="10800000" flipH="1" flipV="1">
            <a:off x="1360551" y="1965043"/>
            <a:ext cx="17366" cy="2156459"/>
          </a:xfrm>
          <a:prstGeom prst="bentConnector3">
            <a:avLst>
              <a:gd name="adj1" fmla="val -131636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8" name="Star: 8 Points 1067">
            <a:extLst>
              <a:ext uri="{FF2B5EF4-FFF2-40B4-BE49-F238E27FC236}">
                <a16:creationId xmlns:a16="http://schemas.microsoft.com/office/drawing/2014/main" id="{FCE1DC34-D8EF-D07E-86A7-DFC84AAE24BF}"/>
              </a:ext>
            </a:extLst>
          </p:cNvPr>
          <p:cNvSpPr/>
          <p:nvPr/>
        </p:nvSpPr>
        <p:spPr>
          <a:xfrm>
            <a:off x="2513586" y="1236142"/>
            <a:ext cx="259781" cy="210901"/>
          </a:xfrm>
          <a:prstGeom prst="star8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FCC1F5-B47C-28DC-BDD5-9785C9A10A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51" y="1690511"/>
            <a:ext cx="982043" cy="549065"/>
          </a:xfrm>
          <a:prstGeom prst="rect">
            <a:avLst/>
          </a:prstGeom>
          <a:solidFill>
            <a:srgbClr val="C00000">
              <a:alpha val="10000"/>
            </a:srgbClr>
          </a:solidFill>
          <a:ln w="12700" algn="ctr">
            <a:solidFill>
              <a:srgbClr val="9D35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B29DD9-7CE5-8DFA-F9FB-FEF1E68C1AF0}"/>
              </a:ext>
            </a:extLst>
          </p:cNvPr>
          <p:cNvSpPr txBox="1"/>
          <p:nvPr/>
        </p:nvSpPr>
        <p:spPr>
          <a:xfrm>
            <a:off x="1377917" y="1863750"/>
            <a:ext cx="1006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latin typeface="Santander Text" panose="020B0504020201020104" pitchFamily="34" charset="0"/>
              </a:rPr>
              <a:t>Contratação 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176618ED-9F8F-CFD7-A6DF-A5EAD535D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726" y="3270350"/>
            <a:ext cx="1121341" cy="424444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dirty="0">
                <a:latin typeface="Santander Text" panose="020B0504020201020104" pitchFamily="34" charset="0"/>
              </a:rPr>
              <a:t>SintD</a:t>
            </a: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AC227F08-3EA1-403A-7047-22705B574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725" y="4269820"/>
            <a:ext cx="1121341" cy="424444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dirty="0">
                <a:latin typeface="Santander Text" panose="020B0504020201020104" pitchFamily="34" charset="0"/>
              </a:rPr>
              <a:t>Investment </a:t>
            </a: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Funds Process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574DA58-9F18-D2B5-BCB1-8F347E8E4D39}"/>
              </a:ext>
            </a:extLst>
          </p:cNvPr>
          <p:cNvSpPr/>
          <p:nvPr/>
        </p:nvSpPr>
        <p:spPr>
          <a:xfrm>
            <a:off x="3617232" y="3949243"/>
            <a:ext cx="826223" cy="39168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r>
              <a:rPr lang="pt-PT" sz="1200" dirty="0">
                <a:latin typeface="Santander Text" panose="020B0504020201020104" pitchFamily="34" charset="0"/>
              </a:rPr>
              <a:t>HOST</a:t>
            </a: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D292B0-5CC7-8D85-07A8-BA15542C5E82}"/>
              </a:ext>
            </a:extLst>
          </p:cNvPr>
          <p:cNvCxnSpPr>
            <a:cxnSpLocks/>
            <a:stCxn id="1055" idx="3"/>
            <a:endCxn id="29" idx="1"/>
          </p:cNvCxnSpPr>
          <p:nvPr/>
        </p:nvCxnSpPr>
        <p:spPr>
          <a:xfrm>
            <a:off x="2592067" y="3977841"/>
            <a:ext cx="1025165" cy="167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ylinder 35">
            <a:extLst>
              <a:ext uri="{FF2B5EF4-FFF2-40B4-BE49-F238E27FC236}">
                <a16:creationId xmlns:a16="http://schemas.microsoft.com/office/drawing/2014/main" id="{7C5AC8DB-D333-2096-19BD-345C8B3919BF}"/>
              </a:ext>
            </a:extLst>
          </p:cNvPr>
          <p:cNvSpPr/>
          <p:nvPr/>
        </p:nvSpPr>
        <p:spPr>
          <a:xfrm>
            <a:off x="3626455" y="3124962"/>
            <a:ext cx="826223" cy="608076"/>
          </a:xfrm>
          <a:prstGeom prst="can">
            <a:avLst/>
          </a:prstGeom>
          <a:solidFill>
            <a:schemeClr val="accent2">
              <a:lumMod val="90000"/>
              <a:alpha val="10000"/>
            </a:schemeClr>
          </a:solidFill>
          <a:ln w="12700" algn="ctr">
            <a:solidFill>
              <a:srgbClr val="0066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PT" sz="1100" dirty="0">
                <a:solidFill>
                  <a:schemeClr val="tx1"/>
                </a:solidFill>
                <a:latin typeface="Santander Text" panose="020B0504020201020104" pitchFamily="34" charset="0"/>
              </a:rPr>
              <a:t>BD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062B7D-7035-50C1-D546-DDE4721EF02F}"/>
              </a:ext>
            </a:extLst>
          </p:cNvPr>
          <p:cNvCxnSpPr>
            <a:cxnSpLocks/>
            <a:stCxn id="1055" idx="3"/>
            <a:endCxn id="36" idx="2"/>
          </p:cNvCxnSpPr>
          <p:nvPr/>
        </p:nvCxnSpPr>
        <p:spPr>
          <a:xfrm flipV="1">
            <a:off x="2592067" y="3429000"/>
            <a:ext cx="1034388" cy="54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94D7A36-B0E7-6159-B1DB-0ED80A3A3B70}"/>
              </a:ext>
            </a:extLst>
          </p:cNvPr>
          <p:cNvSpPr txBox="1"/>
          <p:nvPr/>
        </p:nvSpPr>
        <p:spPr>
          <a:xfrm>
            <a:off x="197627" y="5569656"/>
            <a:ext cx="11425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b="1" u="sng" dirty="0">
                <a:solidFill>
                  <a:srgbClr val="FF0000"/>
                </a:solidFill>
                <a:latin typeface="Santander Text" panose="020B0504020201020104" pitchFamily="34" charset="0"/>
              </a:rPr>
              <a:t>Notas:</a:t>
            </a:r>
          </a:p>
          <a:p>
            <a:pPr marL="171450" indent="-171450">
              <a:buFontTx/>
              <a:buChar char="-"/>
            </a:pPr>
            <a:r>
              <a:rPr lang="pt-PT" sz="1100" dirty="0">
                <a:latin typeface="Santander Text" panose="020B0504020201020104" pitchFamily="34" charset="0"/>
              </a:rPr>
              <a:t>O novo modelo de dados que dará suporte ás novas funcionalidades deverá ser criado na BD oracle já existente, que é utilizada pela implementação atual do Private Helper.</a:t>
            </a:r>
          </a:p>
          <a:p>
            <a:pPr marL="171450" indent="-171450">
              <a:buFontTx/>
              <a:buChar char="-"/>
            </a:pPr>
            <a:r>
              <a:rPr lang="pt-PT" sz="1100" dirty="0">
                <a:latin typeface="Santander Text" panose="020B0504020201020104" pitchFamily="34" charset="0"/>
              </a:rPr>
              <a:t>Para o Front e MCS novos deverá ser utilizado o Namespace já existente para o private helper. </a:t>
            </a:r>
            <a:r>
              <a:rPr lang="pt-PT" sz="1200" b="0" i="0" u="none" strike="noStrike" baseline="0" dirty="0">
                <a:solidFill>
                  <a:srgbClr val="FF0000"/>
                </a:solidFill>
                <a:latin typeface="Santander Text" panose="020B0504020201020104" pitchFamily="34" charset="0"/>
              </a:rPr>
              <a:t>tot-savingsinvestment-spirithelper-(dev|pre|pro)</a:t>
            </a:r>
            <a:endParaRPr lang="pt-PT" sz="1200" dirty="0">
              <a:solidFill>
                <a:srgbClr val="FF0000"/>
              </a:solidFill>
              <a:latin typeface="Santander Text" panose="020B0504020201020104" pitchFamily="34" charset="0"/>
            </a:endParaRPr>
          </a:p>
          <a:p>
            <a:pPr marL="171450" indent="-171450">
              <a:buFontTx/>
              <a:buChar char="-"/>
            </a:pPr>
            <a:r>
              <a:rPr lang="pt-PT" sz="1100" dirty="0">
                <a:latin typeface="Santander Text" panose="020B0504020201020104" pitchFamily="34" charset="0"/>
              </a:rPr>
              <a:t>A API terms Deposit ainda não está desenvolvida.</a:t>
            </a:r>
          </a:p>
          <a:p>
            <a:pPr marL="171450" indent="-171450">
              <a:buFontTx/>
              <a:buChar char="-"/>
            </a:pPr>
            <a:endParaRPr lang="pt-PT" sz="1100" dirty="0">
              <a:latin typeface="Santander Text" panose="020B0504020201020104" pitchFamily="34" charset="0"/>
            </a:endParaRPr>
          </a:p>
        </p:txBody>
      </p:sp>
      <p:sp>
        <p:nvSpPr>
          <p:cNvPr id="50" name="Rectangle 12">
            <a:extLst>
              <a:ext uri="{FF2B5EF4-FFF2-40B4-BE49-F238E27FC236}">
                <a16:creationId xmlns:a16="http://schemas.microsoft.com/office/drawing/2014/main" id="{CA5B29E5-D1B6-3C7D-8337-8D0BB7F44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724" y="4760743"/>
            <a:ext cx="1121341" cy="424444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dirty="0">
                <a:latin typeface="Santander Text" panose="020B0504020201020104" pitchFamily="34" charset="0"/>
              </a:rPr>
              <a:t>Terms Deposit</a:t>
            </a:r>
          </a:p>
        </p:txBody>
      </p:sp>
      <p:pic>
        <p:nvPicPr>
          <p:cNvPr id="1032" name="Picture 1031">
            <a:extLst>
              <a:ext uri="{FF2B5EF4-FFF2-40B4-BE49-F238E27FC236}">
                <a16:creationId xmlns:a16="http://schemas.microsoft.com/office/drawing/2014/main" id="{F695BDA6-2684-BFAD-D084-18698D9FC7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122" y="1636778"/>
            <a:ext cx="982043" cy="549065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AC0163C0-51B4-8D6B-439D-40C1F3A23944}"/>
              </a:ext>
            </a:extLst>
          </p:cNvPr>
          <p:cNvSpPr txBox="1"/>
          <p:nvPr/>
        </p:nvSpPr>
        <p:spPr>
          <a:xfrm>
            <a:off x="4793806" y="1846792"/>
            <a:ext cx="1006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latin typeface="Santander Text" panose="020B0504020201020104" pitchFamily="34" charset="0"/>
              </a:rPr>
              <a:t>eBroker</a:t>
            </a:r>
          </a:p>
        </p:txBody>
      </p: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EDDFBC1A-5401-2DDB-5492-6D8EDFB0A737}"/>
              </a:ext>
            </a:extLst>
          </p:cNvPr>
          <p:cNvCxnSpPr>
            <a:cxnSpLocks/>
            <a:stCxn id="12" idx="3"/>
            <a:endCxn id="1037" idx="1"/>
          </p:cNvCxnSpPr>
          <p:nvPr/>
        </p:nvCxnSpPr>
        <p:spPr>
          <a:xfrm flipV="1">
            <a:off x="2384558" y="1969903"/>
            <a:ext cx="2409248" cy="16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533AAC07-2905-E82F-DE5B-CE58B76C550C}"/>
              </a:ext>
            </a:extLst>
          </p:cNvPr>
          <p:cNvSpPr txBox="1"/>
          <p:nvPr/>
        </p:nvSpPr>
        <p:spPr>
          <a:xfrm>
            <a:off x="3397647" y="1800702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highlight>
                  <a:srgbClr val="FFFF00"/>
                </a:highlight>
                <a:latin typeface="Santander Text" panose="020B0504020201020104" pitchFamily="34" charset="0"/>
              </a:rPr>
              <a:t>SSO</a:t>
            </a:r>
          </a:p>
        </p:txBody>
      </p: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B51702BB-2BCD-5C4E-ADE9-2C86F8880B4E}"/>
              </a:ext>
            </a:extLst>
          </p:cNvPr>
          <p:cNvGrpSpPr/>
          <p:nvPr/>
        </p:nvGrpSpPr>
        <p:grpSpPr>
          <a:xfrm>
            <a:off x="-70057" y="1453631"/>
            <a:ext cx="725269" cy="520084"/>
            <a:chOff x="85574" y="956850"/>
            <a:chExt cx="801401" cy="678188"/>
          </a:xfrm>
        </p:grpSpPr>
        <p:pic>
          <p:nvPicPr>
            <p:cNvPr id="1045" name="Picture 2" descr="C:\Users\i090064\AppData\Local\Microsoft\Windows\Temporary Internet Files\Content.IE5\GAF0PWD6\User_icon_2.svg[1].png">
              <a:extLst>
                <a:ext uri="{FF2B5EF4-FFF2-40B4-BE49-F238E27FC236}">
                  <a16:creationId xmlns:a16="http://schemas.microsoft.com/office/drawing/2014/main" id="{27EF7516-29F8-6A1B-86F9-9F9A68447C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4F81BD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287" y="956850"/>
              <a:ext cx="476672" cy="476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DDD8469C-B6B5-B0C0-120F-1D5CC52313EF}"/>
                </a:ext>
              </a:extLst>
            </p:cNvPr>
            <p:cNvSpPr txBox="1"/>
            <p:nvPr/>
          </p:nvSpPr>
          <p:spPr>
            <a:xfrm>
              <a:off x="85574" y="1354099"/>
              <a:ext cx="801401" cy="280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pt-PT" sz="8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Gestor</a:t>
              </a:r>
              <a:endParaRPr lang="pt-PT" sz="800" b="0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CC41D84C-781A-83AD-3FCD-E6325C245674}"/>
              </a:ext>
            </a:extLst>
          </p:cNvPr>
          <p:cNvCxnSpPr>
            <a:cxnSpLocks/>
            <a:stCxn id="1045" idx="3"/>
          </p:cNvCxnSpPr>
          <p:nvPr/>
        </p:nvCxnSpPr>
        <p:spPr>
          <a:xfrm>
            <a:off x="505872" y="1636405"/>
            <a:ext cx="512005" cy="13057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A4A1DA5-BD64-E091-234A-85D3EAC9BD74}"/>
              </a:ext>
            </a:extLst>
          </p:cNvPr>
          <p:cNvGrpSpPr/>
          <p:nvPr/>
        </p:nvGrpSpPr>
        <p:grpSpPr>
          <a:xfrm>
            <a:off x="-78936" y="1931068"/>
            <a:ext cx="725269" cy="643192"/>
            <a:chOff x="85574" y="956850"/>
            <a:chExt cx="801401" cy="838721"/>
          </a:xfrm>
        </p:grpSpPr>
        <p:pic>
          <p:nvPicPr>
            <p:cNvPr id="1051" name="Picture 2" descr="C:\Users\i090064\AppData\Local\Microsoft\Windows\Temporary Internet Files\Content.IE5\GAF0PWD6\User_icon_2.svg[1].png">
              <a:extLst>
                <a:ext uri="{FF2B5EF4-FFF2-40B4-BE49-F238E27FC236}">
                  <a16:creationId xmlns:a16="http://schemas.microsoft.com/office/drawing/2014/main" id="{12E821D4-3FE5-94DA-4ED4-2D2638DC2C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4F81BD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287" y="956850"/>
              <a:ext cx="476672" cy="476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6E1ED904-DF22-2253-6A45-61E7EBF077CD}"/>
                </a:ext>
              </a:extLst>
            </p:cNvPr>
            <p:cNvSpPr txBox="1"/>
            <p:nvPr/>
          </p:nvSpPr>
          <p:spPr>
            <a:xfrm>
              <a:off x="85574" y="1354098"/>
              <a:ext cx="801401" cy="441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pt-PT" sz="800" b="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Operações Private</a:t>
              </a:r>
            </a:p>
          </p:txBody>
        </p:sp>
      </p:grp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B4E2C46C-4CF0-AB25-2FBA-C6ECC22D7CF6}"/>
              </a:ext>
            </a:extLst>
          </p:cNvPr>
          <p:cNvCxnSpPr>
            <a:cxnSpLocks/>
          </p:cNvCxnSpPr>
          <p:nvPr/>
        </p:nvCxnSpPr>
        <p:spPr>
          <a:xfrm flipV="1">
            <a:off x="496993" y="2001952"/>
            <a:ext cx="558575" cy="13904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Star: 8 Points 1">
            <a:extLst>
              <a:ext uri="{FF2B5EF4-FFF2-40B4-BE49-F238E27FC236}">
                <a16:creationId xmlns:a16="http://schemas.microsoft.com/office/drawing/2014/main" id="{F30AA882-BF43-A6AE-D104-0C1CD3CDC76E}"/>
              </a:ext>
            </a:extLst>
          </p:cNvPr>
          <p:cNvSpPr/>
          <p:nvPr/>
        </p:nvSpPr>
        <p:spPr>
          <a:xfrm>
            <a:off x="3500757" y="3035061"/>
            <a:ext cx="259781" cy="210901"/>
          </a:xfrm>
          <a:prstGeom prst="star8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3</a:t>
            </a:r>
          </a:p>
        </p:txBody>
      </p:sp>
      <p:sp>
        <p:nvSpPr>
          <p:cNvPr id="5" name="Star: 8 Points 4">
            <a:extLst>
              <a:ext uri="{FF2B5EF4-FFF2-40B4-BE49-F238E27FC236}">
                <a16:creationId xmlns:a16="http://schemas.microsoft.com/office/drawing/2014/main" id="{954D6CB8-569E-CF64-DFB8-02AAD1B2501F}"/>
              </a:ext>
            </a:extLst>
          </p:cNvPr>
          <p:cNvSpPr/>
          <p:nvPr/>
        </p:nvSpPr>
        <p:spPr>
          <a:xfrm>
            <a:off x="4609949" y="1568951"/>
            <a:ext cx="259781" cy="210901"/>
          </a:xfrm>
          <a:prstGeom prst="star8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800" dirty="0">
                <a:solidFill>
                  <a:schemeClr val="tx1"/>
                </a:solidFill>
                <a:latin typeface="Santander Text" panose="020B0504020201020104" pitchFamily="34" charset="0"/>
              </a:rPr>
              <a:t>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0689A0C-3C40-52A4-D9C7-5B64C7841D43}"/>
              </a:ext>
            </a:extLst>
          </p:cNvPr>
          <p:cNvGrpSpPr/>
          <p:nvPr/>
        </p:nvGrpSpPr>
        <p:grpSpPr>
          <a:xfrm>
            <a:off x="4544064" y="876753"/>
            <a:ext cx="725269" cy="520084"/>
            <a:chOff x="85574" y="956850"/>
            <a:chExt cx="801401" cy="678188"/>
          </a:xfrm>
        </p:grpSpPr>
        <p:pic>
          <p:nvPicPr>
            <p:cNvPr id="7" name="Picture 2" descr="C:\Users\i090064\AppData\Local\Microsoft\Windows\Temporary Internet Files\Content.IE5\GAF0PWD6\User_icon_2.svg[1].png">
              <a:extLst>
                <a:ext uri="{FF2B5EF4-FFF2-40B4-BE49-F238E27FC236}">
                  <a16:creationId xmlns:a16="http://schemas.microsoft.com/office/drawing/2014/main" id="{71C7F3FA-5421-7D86-2595-3CBE173D47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4F81BD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287" y="956850"/>
              <a:ext cx="476672" cy="476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949978-BE66-F860-D6CE-117F3AFBFE9C}"/>
                </a:ext>
              </a:extLst>
            </p:cNvPr>
            <p:cNvSpPr txBox="1"/>
            <p:nvPr/>
          </p:nvSpPr>
          <p:spPr>
            <a:xfrm>
              <a:off x="85574" y="1354099"/>
              <a:ext cx="801401" cy="280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pt-PT" sz="8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Gestor</a:t>
              </a:r>
              <a:endParaRPr lang="pt-PT" sz="800" b="0" dirty="0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5B5B3A-60E1-12F2-D09D-BA028BD7A9FE}"/>
              </a:ext>
            </a:extLst>
          </p:cNvPr>
          <p:cNvCxnSpPr>
            <a:cxnSpLocks/>
            <a:stCxn id="9" idx="2"/>
            <a:endCxn id="1032" idx="0"/>
          </p:cNvCxnSpPr>
          <p:nvPr/>
        </p:nvCxnSpPr>
        <p:spPr>
          <a:xfrm>
            <a:off x="4906699" y="1396837"/>
            <a:ext cx="363445" cy="23994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2">
            <a:extLst>
              <a:ext uri="{FF2B5EF4-FFF2-40B4-BE49-F238E27FC236}">
                <a16:creationId xmlns:a16="http://schemas.microsoft.com/office/drawing/2014/main" id="{05E0B95E-E6C7-0635-F989-64B7ABA3C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815" y="5232044"/>
            <a:ext cx="1121341" cy="424444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dirty="0">
                <a:latin typeface="Santander Text" panose="020B0504020201020104" pitchFamily="34" charset="0"/>
              </a:rPr>
              <a:t>Notifications</a:t>
            </a: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Templates Info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057C2BE-2936-FC95-C423-5D5AA0381BCE}"/>
              </a:ext>
            </a:extLst>
          </p:cNvPr>
          <p:cNvGrpSpPr/>
          <p:nvPr/>
        </p:nvGrpSpPr>
        <p:grpSpPr>
          <a:xfrm>
            <a:off x="-70057" y="940685"/>
            <a:ext cx="725269" cy="520084"/>
            <a:chOff x="85574" y="956850"/>
            <a:chExt cx="801401" cy="678188"/>
          </a:xfrm>
        </p:grpSpPr>
        <p:pic>
          <p:nvPicPr>
            <p:cNvPr id="21" name="Picture 2" descr="C:\Users\i090064\AppData\Local\Microsoft\Windows\Temporary Internet Files\Content.IE5\GAF0PWD6\User_icon_2.svg[1].png">
              <a:extLst>
                <a:ext uri="{FF2B5EF4-FFF2-40B4-BE49-F238E27FC236}">
                  <a16:creationId xmlns:a16="http://schemas.microsoft.com/office/drawing/2014/main" id="{52715287-2FC8-6231-2948-9D8A5A9214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4F81BD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287" y="956850"/>
              <a:ext cx="476672" cy="476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B693FB1-D7A5-5CFD-A343-29705973588E}"/>
                </a:ext>
              </a:extLst>
            </p:cNvPr>
            <p:cNvSpPr txBox="1"/>
            <p:nvPr/>
          </p:nvSpPr>
          <p:spPr>
            <a:xfrm>
              <a:off x="85574" y="1354099"/>
              <a:ext cx="801401" cy="280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pt-PT" sz="800" b="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Supervisor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35286F5-7C59-0D91-CE7B-EE3E93242191}"/>
              </a:ext>
            </a:extLst>
          </p:cNvPr>
          <p:cNvGrpSpPr/>
          <p:nvPr/>
        </p:nvGrpSpPr>
        <p:grpSpPr>
          <a:xfrm>
            <a:off x="5159094" y="881711"/>
            <a:ext cx="725269" cy="643192"/>
            <a:chOff x="85574" y="956850"/>
            <a:chExt cx="801401" cy="838721"/>
          </a:xfrm>
        </p:grpSpPr>
        <p:pic>
          <p:nvPicPr>
            <p:cNvPr id="24" name="Picture 2" descr="C:\Users\i090064\AppData\Local\Microsoft\Windows\Temporary Internet Files\Content.IE5\GAF0PWD6\User_icon_2.svg[1].png">
              <a:extLst>
                <a:ext uri="{FF2B5EF4-FFF2-40B4-BE49-F238E27FC236}">
                  <a16:creationId xmlns:a16="http://schemas.microsoft.com/office/drawing/2014/main" id="{FB97F2B8-5A04-0A0C-8B50-43DC07B0C4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rgbClr val="4F81BD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287" y="956850"/>
              <a:ext cx="476672" cy="476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97BEB58-A6EC-F87F-DD34-88B03673078F}"/>
                </a:ext>
              </a:extLst>
            </p:cNvPr>
            <p:cNvSpPr txBox="1"/>
            <p:nvPr/>
          </p:nvSpPr>
          <p:spPr>
            <a:xfrm>
              <a:off x="85574" y="1354098"/>
              <a:ext cx="801401" cy="441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pt-PT" sz="80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Operações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lang="pt-PT" sz="800" b="0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Private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297F07-E2D4-5680-46AE-1CA5B0C2C57B}"/>
              </a:ext>
            </a:extLst>
          </p:cNvPr>
          <p:cNvCxnSpPr>
            <a:cxnSpLocks/>
            <a:stCxn id="28" idx="2"/>
            <a:endCxn id="1032" idx="0"/>
          </p:cNvCxnSpPr>
          <p:nvPr/>
        </p:nvCxnSpPr>
        <p:spPr>
          <a:xfrm flipH="1">
            <a:off x="5270144" y="1524903"/>
            <a:ext cx="251585" cy="11187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E5B5BA-AEF9-F333-AED3-2B2AB29088A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55212" y="1353047"/>
            <a:ext cx="390666" cy="30592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1858555-D160-46A7-E25E-6347CF66D47B}"/>
              </a:ext>
            </a:extLst>
          </p:cNvPr>
          <p:cNvSpPr txBox="1"/>
          <p:nvPr/>
        </p:nvSpPr>
        <p:spPr>
          <a:xfrm>
            <a:off x="4874298" y="3035061"/>
            <a:ext cx="2444912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pt-PT" sz="1000" b="1" u="sng" dirty="0">
                <a:latin typeface="Santander Text" panose="020B0504020201020104" pitchFamily="34" charset="0"/>
              </a:rPr>
              <a:t>BDs:</a:t>
            </a:r>
          </a:p>
          <a:p>
            <a:r>
              <a:rPr lang="pt-PT" sz="1000" dirty="0">
                <a:latin typeface="Santander Text" panose="020B0504020201020104" pitchFamily="34" charset="0"/>
              </a:rPr>
              <a:t>ODTOSD2M.TOTTA.DEV.CORP</a:t>
            </a:r>
          </a:p>
          <a:p>
            <a:r>
              <a:rPr lang="pt-PT" sz="1000" dirty="0">
                <a:latin typeface="Santander Text" panose="020B0504020201020104" pitchFamily="34" charset="0"/>
              </a:rPr>
              <a:t>OTTOSD2M.TOTTA.PRE.CORP</a:t>
            </a:r>
          </a:p>
          <a:p>
            <a:r>
              <a:rPr lang="pt-PT" sz="1000" dirty="0">
                <a:latin typeface="Santander Text" panose="020B0504020201020104" pitchFamily="34" charset="0"/>
              </a:rPr>
              <a:t>???.TOTTA.GS.CORP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39B02-A5C8-3048-4AF0-3D912A315FAC}"/>
              </a:ext>
            </a:extLst>
          </p:cNvPr>
          <p:cNvSpPr/>
          <p:nvPr/>
        </p:nvSpPr>
        <p:spPr>
          <a:xfrm>
            <a:off x="3617231" y="4635252"/>
            <a:ext cx="926833" cy="41459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r>
              <a:rPr lang="pt-PT" sz="1200" dirty="0">
                <a:latin typeface="Santander Text" panose="020B0504020201020104" pitchFamily="34" charset="0"/>
              </a:rPr>
              <a:t>HOST</a:t>
            </a:r>
          </a:p>
          <a:p>
            <a:pPr algn="ctr"/>
            <a:r>
              <a:rPr lang="pt-PT" sz="1200" dirty="0">
                <a:latin typeface="Santander Text" panose="020B0504020201020104" pitchFamily="34" charset="0"/>
              </a:rPr>
              <a:t>TRX PF21</a:t>
            </a: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  <a:p>
            <a:pPr algn="ctr"/>
            <a:endParaRPr lang="pt-PT" sz="1200" dirty="0">
              <a:latin typeface="Santander Text" panose="020B0504020201020104" pitchFamily="34" charset="0"/>
            </a:endParaRP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6AD34540-DA32-C46A-2B77-852E3515F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871" y="4625399"/>
            <a:ext cx="625487" cy="559788"/>
          </a:xfrm>
          <a:prstGeom prst="rect">
            <a:avLst/>
          </a:prstGeom>
          <a:solidFill>
            <a:srgbClr val="C00000">
              <a:alpha val="10000"/>
            </a:srgbClr>
          </a:solidFill>
          <a:ln w="12700" algn="ctr">
            <a:solidFill>
              <a:srgbClr val="9D3566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 anchorCtr="1"/>
          <a:lstStyle/>
          <a:p>
            <a:pPr algn="ctr"/>
            <a:r>
              <a:rPr lang="pt-PT" sz="1100" dirty="0">
                <a:latin typeface="Santander Text" panose="020B0504020201020104" pitchFamily="34" charset="0"/>
              </a:rPr>
              <a:t>API</a:t>
            </a: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Propostas</a:t>
            </a:r>
          </a:p>
          <a:p>
            <a:pPr algn="ctr"/>
            <a:r>
              <a:rPr lang="pt-PT" sz="1100" dirty="0">
                <a:latin typeface="Santander Text" panose="020B0504020201020104" pitchFamily="34" charset="0"/>
              </a:rPr>
              <a:t>Private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29371D-2D3F-A32F-D0A6-C03AD7F1E78A}"/>
              </a:ext>
            </a:extLst>
          </p:cNvPr>
          <p:cNvCxnSpPr>
            <a:cxnSpLocks/>
            <a:stCxn id="35" idx="3"/>
            <a:endCxn id="17" idx="1"/>
          </p:cNvCxnSpPr>
          <p:nvPr/>
        </p:nvCxnSpPr>
        <p:spPr>
          <a:xfrm flipV="1">
            <a:off x="3310358" y="4842548"/>
            <a:ext cx="306873" cy="6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35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18</a:t>
            </a:fld>
            <a:endParaRPr lang="pt-PT"/>
          </a:p>
        </p:txBody>
      </p:sp>
      <p:graphicFrame>
        <p:nvGraphicFramePr>
          <p:cNvPr id="36" name="Group 3">
            <a:extLst>
              <a:ext uri="{FF2B5EF4-FFF2-40B4-BE49-F238E27FC236}">
                <a16:creationId xmlns:a16="http://schemas.microsoft.com/office/drawing/2014/main" id="{7B76DFA0-34C4-4F4F-A5AE-433C3F135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350672"/>
              </p:ext>
            </p:extLst>
          </p:nvPr>
        </p:nvGraphicFramePr>
        <p:xfrm>
          <a:off x="711023" y="1686771"/>
          <a:ext cx="5185598" cy="3943474"/>
        </p:xfrm>
        <a:graphic>
          <a:graphicData uri="http://schemas.openxmlformats.org/drawingml/2006/table">
            <a:tbl>
              <a:tblPr/>
              <a:tblGrid>
                <a:gridCol w="2187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8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API/Recurso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Finalidade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pt-PT" sz="1000" kern="1200" noProof="0" dirty="0">
                          <a:solidFill>
                            <a:schemeClr val="tx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SIntD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Obter documento(s) associado(s) à proposta.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algn="l"/>
                      <a:r>
                        <a:rPr lang="pt-PT" sz="1000" dirty="0">
                          <a:latin typeface="Santander Text" panose="020B0504020201020104" pitchFamily="34" charset="0"/>
                        </a:rPr>
                        <a:t>Investment Funds Process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Contratação de fundos.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pt-PT" sz="1000" dirty="0">
                          <a:latin typeface="Santander Text" panose="020B0504020201020104" pitchFamily="34" charset="0"/>
                        </a:rPr>
                        <a:t>Terms Deposit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Contratação de depósitos a prazo.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Notifications Templates Info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0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Envio de notificações usando templates já predefinidos.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BDB7646A-C71E-4459-B0F6-AC28CB2FFCDC}"/>
              </a:ext>
            </a:extLst>
          </p:cNvPr>
          <p:cNvSpPr txBox="1"/>
          <p:nvPr/>
        </p:nvSpPr>
        <p:spPr>
          <a:xfrm>
            <a:off x="647653" y="1290292"/>
            <a:ext cx="164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err="1">
                <a:solidFill>
                  <a:schemeClr val="accent5"/>
                </a:solidFill>
                <a:latin typeface="Santander Text" panose="020B0504020201020104" pitchFamily="34" charset="0"/>
              </a:rPr>
              <a:t>APIs</a:t>
            </a:r>
            <a:r>
              <a:rPr lang="pt-PT">
                <a:solidFill>
                  <a:schemeClr val="accent5"/>
                </a:solidFill>
                <a:latin typeface="Santander Text" panose="020B0504020201020104" pitchFamily="34" charset="0"/>
              </a:rPr>
              <a:t> Existentes</a:t>
            </a:r>
          </a:p>
        </p:txBody>
      </p:sp>
      <p:graphicFrame>
        <p:nvGraphicFramePr>
          <p:cNvPr id="38" name="Group 3">
            <a:extLst>
              <a:ext uri="{FF2B5EF4-FFF2-40B4-BE49-F238E27FC236}">
                <a16:creationId xmlns:a16="http://schemas.microsoft.com/office/drawing/2014/main" id="{4700F0A1-427A-4BAA-A777-149CACDB1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735244"/>
              </p:ext>
            </p:extLst>
          </p:nvPr>
        </p:nvGraphicFramePr>
        <p:xfrm>
          <a:off x="6293393" y="1686771"/>
          <a:ext cx="5019042" cy="3997399"/>
        </p:xfrm>
        <a:graphic>
          <a:graphicData uri="http://schemas.openxmlformats.org/drawingml/2006/table">
            <a:tbl>
              <a:tblPr/>
              <a:tblGrid>
                <a:gridCol w="211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7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API/Recurso</a:t>
                      </a: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2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Finalidade / </a:t>
                      </a:r>
                      <a:r>
                        <a:rPr kumimoji="0" lang="pt-PT" sz="12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Backend</a:t>
                      </a:r>
                      <a:endParaRPr kumimoji="0" lang="pt-PT" sz="1200" b="1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lang="pt-PT" sz="1000" kern="1200" noProof="0" dirty="0">
                          <a:solidFill>
                            <a:schemeClr val="tx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Private Helper B4F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Api de back4front para a nova aplicação Private Helper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Private Proposals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0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Api para obter a listagem de propostas private através da transação PF21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D7EA951E-35FE-44D1-AC69-8C89BBC40DE9}"/>
              </a:ext>
            </a:extLst>
          </p:cNvPr>
          <p:cNvSpPr txBox="1"/>
          <p:nvPr/>
        </p:nvSpPr>
        <p:spPr>
          <a:xfrm>
            <a:off x="6198716" y="1290292"/>
            <a:ext cx="1250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err="1">
                <a:solidFill>
                  <a:schemeClr val="accent3"/>
                </a:solidFill>
                <a:latin typeface="Santander Text" panose="020B0504020201020104" pitchFamily="34" charset="0"/>
              </a:rPr>
              <a:t>APIs</a:t>
            </a:r>
            <a:r>
              <a:rPr lang="pt-PT">
                <a:solidFill>
                  <a:schemeClr val="accent3"/>
                </a:solidFill>
                <a:latin typeface="Santander Text" panose="020B0504020201020104" pitchFamily="34" charset="0"/>
              </a:rPr>
              <a:t> Novas</a:t>
            </a:r>
          </a:p>
        </p:txBody>
      </p:sp>
      <p:sp>
        <p:nvSpPr>
          <p:cNvPr id="5" name="Action Button: Get Information 4">
            <a:hlinkClick r:id="rId3" highlightClick="1"/>
            <a:extLst>
              <a:ext uri="{FF2B5EF4-FFF2-40B4-BE49-F238E27FC236}">
                <a16:creationId xmlns:a16="http://schemas.microsoft.com/office/drawing/2014/main" id="{C2E36A8A-01CF-4C2D-AF5B-7DDD877BCF2A}"/>
              </a:ext>
            </a:extLst>
          </p:cNvPr>
          <p:cNvSpPr/>
          <p:nvPr/>
        </p:nvSpPr>
        <p:spPr>
          <a:xfrm>
            <a:off x="5526705" y="1290292"/>
            <a:ext cx="360040" cy="360040"/>
          </a:xfrm>
          <a:prstGeom prst="actionButtonInformation">
            <a:avLst/>
          </a:prstGeom>
          <a:solidFill>
            <a:schemeClr val="accent5"/>
          </a:solidFill>
          <a:ln>
            <a:noFill/>
          </a:ln>
          <a:scene3d>
            <a:camera prst="orthographicFront"/>
            <a:lightRig rig="threePt" dir="t"/>
          </a:scene3d>
          <a:sp3d>
            <a:bevelT w="381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349DD2-67F5-4EEF-9501-219829556344}"/>
              </a:ext>
            </a:extLst>
          </p:cNvPr>
          <p:cNvSpPr txBox="1"/>
          <p:nvPr/>
        </p:nvSpPr>
        <p:spPr>
          <a:xfrm>
            <a:off x="4750142" y="1240462"/>
            <a:ext cx="759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PT" sz="1200">
                <a:solidFill>
                  <a:schemeClr val="accent5"/>
                </a:solidFill>
                <a:latin typeface="Santander Text" panose="020B0504020201020104" pitchFamily="34" charset="0"/>
              </a:rPr>
              <a:t>Catálogo de </a:t>
            </a:r>
            <a:r>
              <a:rPr lang="pt-PT" sz="1200" err="1">
                <a:solidFill>
                  <a:schemeClr val="accent5"/>
                </a:solidFill>
                <a:latin typeface="Santander Text" panose="020B0504020201020104" pitchFamily="34" charset="0"/>
              </a:rPr>
              <a:t>APIs</a:t>
            </a:r>
            <a:endParaRPr lang="pt-PT" sz="1200">
              <a:solidFill>
                <a:schemeClr val="accent5"/>
              </a:solidFill>
              <a:latin typeface="Santander Text" panose="020B0504020201020104" pitchFamily="34" charset="0"/>
            </a:endParaRPr>
          </a:p>
        </p:txBody>
      </p:sp>
      <p:sp>
        <p:nvSpPr>
          <p:cNvPr id="10" name="Marcador de texto 5">
            <a:extLst>
              <a:ext uri="{FF2B5EF4-FFF2-40B4-BE49-F238E27FC236}">
                <a16:creationId xmlns:a16="http://schemas.microsoft.com/office/drawing/2014/main" id="{409C8D65-A905-A686-9988-2E6E1F1A8E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3" y="337100"/>
            <a:ext cx="8613730" cy="3048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PT" sz="2400">
                <a:latin typeface="Santander Text"/>
              </a:rPr>
              <a:t>Solução Proposta</a:t>
            </a:r>
            <a:r>
              <a:rPr lang="pt-PT" sz="2400"/>
              <a:t/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  <a:latin typeface="Santander Text"/>
              </a:rPr>
              <a:t>APIs identificadas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  <a:latin typeface="Santander Text"/>
            </a:endParaRPr>
          </a:p>
        </p:txBody>
      </p:sp>
    </p:spTree>
    <p:extLst>
      <p:ext uri="{BB962C8B-B14F-4D97-AF65-F5344CB8AC3E}">
        <p14:creationId xmlns:p14="http://schemas.microsoft.com/office/powerpoint/2010/main" val="3388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Referências e Glossário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21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2790773"/>
              </p:ext>
            </p:extLst>
          </p:nvPr>
        </p:nvGraphicFramePr>
        <p:xfrm>
          <a:off x="657786" y="941570"/>
          <a:ext cx="10368728" cy="3325276"/>
        </p:xfrm>
        <a:graphic>
          <a:graphicData uri="http://schemas.openxmlformats.org/drawingml/2006/table">
            <a:tbl>
              <a:tblPr/>
              <a:tblGrid>
                <a:gridCol w="74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98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08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Ficheiro/Nome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Data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Comentário / Link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3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Autor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REF#1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2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REF#2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</a:t>
                      </a: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PT" sz="1400"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REF#4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REF#5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Arial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4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REF#6</a:t>
                      </a:r>
                    </a:p>
                  </a:txBody>
                  <a:tcPr marL="71999" marR="71999" marT="72001" marB="72001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lang="pt-PT" sz="1000" u="sng" kern="1200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Arial" charset="0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0" lang="pt-PT" sz="14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71999" marR="71999" marT="72001" marB="720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/>
          <a:lstStyle/>
          <a:p>
            <a:r>
              <a:rPr lang="pt-PT" sz="2400"/>
              <a:t>Referências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851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sz="2400"/>
              <a:t>Glossário</a:t>
            </a:r>
          </a:p>
        </p:txBody>
      </p:sp>
      <p:graphicFrame>
        <p:nvGraphicFramePr>
          <p:cNvPr id="16" name="Group 2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20483"/>
              </p:ext>
            </p:extLst>
          </p:nvPr>
        </p:nvGraphicFramePr>
        <p:xfrm>
          <a:off x="839416" y="908720"/>
          <a:ext cx="10630342" cy="4176105"/>
        </p:xfrm>
        <a:graphic>
          <a:graphicData uri="http://schemas.openxmlformats.org/drawingml/2006/table">
            <a:tbl>
              <a:tblPr/>
              <a:tblGrid>
                <a:gridCol w="118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0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7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charset="0"/>
                        </a:rPr>
                        <a:t>Termo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9C9A9A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sz="11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charset="0"/>
                        </a:rPr>
                        <a:t>Descrição</a:t>
                      </a: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</a:pP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55000"/>
                        <a:buFont typeface="Wingdings" pitchFamily="2" charset="2"/>
                        <a:buNone/>
                        <a:tabLst/>
                        <a:defRPr/>
                      </a:pPr>
                      <a:endParaRPr lang="pt-PT" sz="1200" i="0" u="none" kern="1200" noProof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82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lang="pt-PT" i="0">
                        <a:latin typeface="Santander Text" panose="020B0504020201020104" pitchFamily="34" charset="0"/>
                      </a:endParaRPr>
                    </a:p>
                  </a:txBody>
                  <a:tcPr marL="53999" marR="53999" marT="0" marB="0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21736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63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578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420" y="114373"/>
            <a:ext cx="6185198" cy="538770"/>
          </a:xfrm>
        </p:spPr>
        <p:txBody>
          <a:bodyPr/>
          <a:lstStyle/>
          <a:p>
            <a:r>
              <a:rPr lang="pt-PT" sz="2400" err="1"/>
              <a:t>Checklist</a:t>
            </a:r>
            <a:r>
              <a:rPr lang="pt-PT" sz="2400"/>
              <a:t> da Solução</a:t>
            </a:r>
            <a:br>
              <a:rPr lang="pt-PT" sz="2400"/>
            </a:br>
            <a:r>
              <a:rPr lang="pt-PT" sz="1800">
                <a:solidFill>
                  <a:schemeClr val="tx1">
                    <a:lumMod val="75000"/>
                    <a:lumOff val="25000"/>
                  </a:schemeClr>
                </a:solidFill>
              </a:rPr>
              <a:t>A preencher pelo Enterprise </a:t>
            </a:r>
            <a:r>
              <a:rPr lang="pt-PT" sz="180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Architect</a:t>
            </a:r>
            <a:endParaRPr lang="pt-PT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pt-PT" smtClean="0"/>
              <a:pPr/>
              <a:t>23</a:t>
            </a:fld>
            <a:endParaRPr lang="pt-PT"/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9CA777D-D26D-97C4-8091-177E4A812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59643"/>
              </p:ext>
            </p:extLst>
          </p:nvPr>
        </p:nvGraphicFramePr>
        <p:xfrm>
          <a:off x="335360" y="821647"/>
          <a:ext cx="11521280" cy="5412190"/>
        </p:xfrm>
        <a:graphic>
          <a:graphicData uri="http://schemas.openxmlformats.org/drawingml/2006/table">
            <a:tbl>
              <a:tblPr/>
              <a:tblGrid>
                <a:gridCol w="3446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5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600" b="1" i="1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Quality</a:t>
                      </a:r>
                      <a:r>
                        <a:rPr kumimoji="0" lang="pt-PT" sz="1600" b="1" i="1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 Gate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25000"/>
                        <a:buFont typeface="Times" pitchFamily="18" charset="0"/>
                        <a:buNone/>
                        <a:tabLst>
                          <a:tab pos="450850" algn="l"/>
                          <a:tab pos="900113" algn="l"/>
                          <a:tab pos="1349375" algn="l"/>
                          <a:tab pos="2251075" algn="l"/>
                        </a:tabLst>
                      </a:pPr>
                      <a:r>
                        <a:rPr kumimoji="0" lang="pt-PT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Descrição / Finalidade</a:t>
                      </a: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Requisitos de negócio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Necessidade de definição detalhada de requisitos e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user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stories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para os vários casos de uso identificados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Responsável de negócio 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lang="pt-PT" sz="110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Definir um responsável de negócio e estrutura de governo para Definir, Decidir e Acompanhar os use cases e </a:t>
                      </a:r>
                      <a:r>
                        <a:rPr lang="pt-PT" sz="1100" dirty="0" err="1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respectiva</a:t>
                      </a:r>
                      <a:r>
                        <a:rPr lang="pt-PT" sz="110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implementação, incluindo teste de aceitação e aprovação para subida a Produção. Este responsável deverá também ter a capacidade de </a:t>
                      </a:r>
                      <a:r>
                        <a:rPr kumimoji="0" lang="pt-PT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entender o impacto e a possível reutilização entre iniciativas/projetos</a:t>
                      </a:r>
                      <a:endParaRPr kumimoji="0" lang="pt-PT" sz="11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Planeamento do desenho da solução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Definir um calendário de actividades adequado á complexidade da solução e dos casos de uso em análise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Tipo de abordagem da Solução desenhada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Abordar a iniciativas/projetos em modo Agile, definindo um MVP que possa evoluir por sprints para uma solução holística e escalável. Evitar soluções </a:t>
                      </a:r>
                      <a:r>
                        <a:rPr kumimoji="0" lang="pt-PT" sz="11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tácticas</a:t>
                      </a:r>
                      <a:r>
                        <a:rPr kumimoji="0" lang="pt-PT" sz="11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, suportadas por manualidades com elevado risco operacional associado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2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Adequação das ferramentas à solução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Evitar desvirtuar o objectivo de negócio para o qual determinada solução é desenhada (p.e.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Front-end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“Upload </a:t>
                      </a:r>
                      <a:r>
                        <a:rPr kumimoji="0" lang="pt-PT" sz="11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Datalake</a:t>
                      </a: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), não fazendo uso errado como ferramentas de integração entre sistemas que á partida não estão integrados;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561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Envolvimento de outras áreas dentro e fora de IT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DPO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25015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Cibersegurança</a:t>
                      </a:r>
                      <a:endParaRPr kumimoji="0" lang="pt-PT" sz="11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01508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Áreas de Negócio Afectadas</a:t>
                      </a: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76336"/>
                  </a:ext>
                </a:extLst>
              </a:tr>
              <a:tr h="213561"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3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RGPD e Fusão de Clientes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Serão criados novos campos de dados pessoais?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Manipula/Altera dados pessoais?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Mostra informação de cliente?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48619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Envia informação de cliente para entidade interna ou externa?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139031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Regista o </a:t>
                      </a: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nr</a:t>
                      </a: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de Cliente em BD </a:t>
                      </a:r>
                      <a:r>
                        <a:rPr kumimoji="0" lang="pt-PT" sz="1100" b="0" i="0" u="none" strike="noStrike" kern="1200" cap="none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Host</a:t>
                      </a: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 ou Sistemas Médios?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254754"/>
                  </a:ext>
                </a:extLst>
              </a:tr>
              <a:tr h="213561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0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pt-PT" sz="11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Tem ficheiros/interfaces com código de Cliente?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202604"/>
                  </a:ext>
                </a:extLst>
              </a:tr>
              <a:tr h="2588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Reporte ao Regulador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Caso haja dados expostos em </a:t>
                      </a:r>
                      <a:r>
                        <a:rPr kumimoji="0" lang="pt-PT" sz="11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Cloud</a:t>
                      </a: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</a:rPr>
                        <a:t> pública</a:t>
                      </a:r>
                      <a:endParaRPr kumimoji="0" lang="pt-PT" sz="1100" b="0" i="0" u="none" strike="noStrike" cap="none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6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3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Forum Web&amp;Apps</a:t>
                      </a: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r>
                        <a:rPr kumimoji="0" lang="pt-PT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Forum para g</a:t>
                      </a:r>
                      <a:r>
                        <a:rPr kumimoji="0" lang="pt-PT" sz="11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overno e gestão de Páginas Web e Apps Web no Banco Santander Totta</a:t>
                      </a:r>
                      <a:endParaRPr kumimoji="0" lang="pt-PT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5547738"/>
                  </a:ext>
                </a:extLst>
              </a:tr>
              <a:tr h="27343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400" b="0" i="0" u="none" strike="noStrike" kern="1200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25000"/>
                        <a:buFont typeface="Times" pitchFamily="18" charset="0"/>
                        <a:buNone/>
                        <a:tabLst/>
                      </a:pPr>
                      <a:endParaRPr kumimoji="0" lang="pt-PT" sz="14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92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0e9ba3e0-3d22-4408-96b5-c8a59fd87904" xsi:nil="true"/>
    <lcf76f155ced4ddcb4097134ff3c332f xmlns="84cc0d6f-51d2-4273-a95b-2243f39b32fa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BFEDD1D559E4BA79C2EB28F04D42B" ma:contentTypeVersion="20" ma:contentTypeDescription="Create a new document." ma:contentTypeScope="" ma:versionID="3951b2023745c83f65099d6fa7858ce2">
  <xsd:schema xmlns:xsd="http://www.w3.org/2001/XMLSchema" xmlns:xs="http://www.w3.org/2001/XMLSchema" xmlns:p="http://schemas.microsoft.com/office/2006/metadata/properties" xmlns:ns1="http://schemas.microsoft.com/sharepoint/v3" xmlns:ns2="84cc0d6f-51d2-4273-a95b-2243f39b32fa" xmlns:ns3="0e9ba3e0-3d22-4408-96b5-c8a59fd87904" targetNamespace="http://schemas.microsoft.com/office/2006/metadata/properties" ma:root="true" ma:fieldsID="814699d3e8f6312602e8cb44d8647899" ns1:_="" ns2:_="" ns3:_="">
    <xsd:import namespace="http://schemas.microsoft.com/sharepoint/v3"/>
    <xsd:import namespace="84cc0d6f-51d2-4273-a95b-2243f39b32fa"/>
    <xsd:import namespace="0e9ba3e0-3d22-4408-96b5-c8a59fd879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cc0d6f-51d2-4273-a95b-2243f39b32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ba3e0-3d22-4408-96b5-c8a59fd879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42b9f94-8f62-49ac-a0d0-8dc592b90ec1}" ma:internalName="TaxCatchAll" ma:showField="CatchAllData" ma:web="0e9ba3e0-3d22-4408-96b5-c8a59fd879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8044C5-2532-4A66-AC85-9AD3A6B92C31}">
  <ds:schemaRefs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0e9ba3e0-3d22-4408-96b5-c8a59fd87904"/>
    <ds:schemaRef ds:uri="http://schemas.microsoft.com/office/infopath/2007/PartnerControls"/>
    <ds:schemaRef ds:uri="http://purl.org/dc/elements/1.1/"/>
    <ds:schemaRef ds:uri="84cc0d6f-51d2-4273-a95b-2243f39b32fa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D080778-C4FD-4408-8861-0522BD5E52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4B983A-BD34-4A19-9CDA-16621F219CE8}">
  <ds:schemaRefs>
    <ds:schemaRef ds:uri="0e9ba3e0-3d22-4408-96b5-c8a59fd87904"/>
    <ds:schemaRef ds:uri="84cc0d6f-51d2-4273-a95b-2243f39b32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5866</TotalTime>
  <Words>1835</Words>
  <Application>Microsoft Office PowerPoint</Application>
  <PresentationFormat>Widescreen</PresentationFormat>
  <Paragraphs>323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Santander Text</vt:lpstr>
      <vt:lpstr>Times</vt:lpstr>
      <vt:lpstr>Wingdings</vt:lpstr>
      <vt:lpstr>Tema de Office</vt:lpstr>
      <vt:lpstr>Documento de Requisitos </vt:lpstr>
      <vt:lpstr>PowerPoint Presentation</vt:lpstr>
      <vt:lpstr>PowerPoint Presentation</vt:lpstr>
      <vt:lpstr>Identificação da Iniciativa/Projeto e das Necessidade de Catalogação</vt:lpstr>
      <vt:lpstr>PowerPoint Presentation</vt:lpstr>
      <vt:lpstr>Enquadramento da Iniciativa/Projeto</vt:lpstr>
      <vt:lpstr>PowerPoint Presentation</vt:lpstr>
      <vt:lpstr>Situação Atual</vt:lpstr>
      <vt:lpstr>PowerPoint Presentation</vt:lpstr>
      <vt:lpstr>Objectivos da Iniciativa/Projeto</vt:lpstr>
      <vt:lpstr>PowerPoint Presentation</vt:lpstr>
      <vt:lpstr>Requisitos Funcionais</vt:lpstr>
      <vt:lpstr>PowerPoint Presentation</vt:lpstr>
      <vt:lpstr>Solução Proposta</vt:lpstr>
      <vt:lpstr>PowerPoint Presentation</vt:lpstr>
      <vt:lpstr>Solução Arquitectura</vt:lpstr>
      <vt:lpstr>PowerPoint Presentation</vt:lpstr>
      <vt:lpstr>PowerPoint Presentation</vt:lpstr>
      <vt:lpstr>Referências e Glossário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Bernardo Cardoso</dc:creator>
  <cp:lastModifiedBy>Vera Susana Gomes Mestrinho da Cruz</cp:lastModifiedBy>
  <cp:revision>34</cp:revision>
  <cp:lastPrinted>2018-11-02T14:15:56Z</cp:lastPrinted>
  <dcterms:created xsi:type="dcterms:W3CDTF">2018-03-19T11:10:43Z</dcterms:created>
  <dcterms:modified xsi:type="dcterms:W3CDTF">2025-02-19T14:54:08Z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0x010100106BFEDD1D559E4BA79C2EB28F04D42B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2022-06-20T13:01:57Z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a318e53b-ff20-49a1-91c5-da12d420dac2</vt:lpwstr>
  </property>
  <property fmtid="{D5CDD505-2E9C-101B-9397-08002B2CF9AE}" pid="9" name="MSIP_Label_0c2abd79-57a9-4473-8700-c843f76a1e37_ContentBits">
    <vt:lpwstr>0</vt:lpwstr>
  </property>
  <property fmtid="{D5CDD505-2E9C-101B-9397-08002B2CF9AE}" pid="10" name="MediaServiceImageTags">
    <vt:lpwstr/>
  </property>
</Properties>
</file>