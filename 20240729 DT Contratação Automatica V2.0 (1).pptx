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398" r:id="rId6"/>
    <p:sldId id="399" r:id="rId7"/>
    <p:sldId id="400" r:id="rId8"/>
    <p:sldId id="358" r:id="rId9"/>
    <p:sldId id="401" r:id="rId10"/>
    <p:sldId id="458" r:id="rId11"/>
    <p:sldId id="403" r:id="rId12"/>
    <p:sldId id="459" r:id="rId13"/>
    <p:sldId id="413" r:id="rId14"/>
    <p:sldId id="442" r:id="rId15"/>
    <p:sldId id="415" r:id="rId16"/>
    <p:sldId id="450" r:id="rId17"/>
    <p:sldId id="465" r:id="rId18"/>
    <p:sldId id="464" r:id="rId19"/>
    <p:sldId id="443" r:id="rId20"/>
    <p:sldId id="444" r:id="rId21"/>
    <p:sldId id="421" r:id="rId22"/>
    <p:sldId id="460" r:id="rId23"/>
    <p:sldId id="461" r:id="rId24"/>
    <p:sldId id="462" r:id="rId25"/>
    <p:sldId id="463" r:id="rId26"/>
    <p:sldId id="424" r:id="rId27"/>
    <p:sldId id="425" r:id="rId28"/>
    <p:sldId id="265" r:id="rId29"/>
  </p:sldIdLst>
  <p:sldSz cx="12192000" cy="6858000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5050"/>
    <a:srgbClr val="3C3C3B"/>
    <a:srgbClr val="DEEDF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22" autoAdjust="0"/>
    <p:restoredTop sz="94660" autoAdjust="0"/>
  </p:normalViewPr>
  <p:slideViewPr>
    <p:cSldViewPr snapToGrid="0" showGuides="1">
      <p:cViewPr varScale="1">
        <p:scale>
          <a:sx n="66" d="100"/>
          <a:sy n="66" d="100"/>
        </p:scale>
        <p:origin x="448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23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06/02/2025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06/02/2025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DF888-48CE-4280-907F-0B5C72C7F9B3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70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DF888-48CE-4280-907F-0B5C72C7F9B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388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2642" y="1104900"/>
            <a:ext cx="1064815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Necessidades e proposta de solução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Solução</a:t>
            </a:r>
            <a:r>
              <a:rPr lang="pt-PT" sz="2000" b="0" baseline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 </a:t>
            </a: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técnica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Considerações</a:t>
            </a:r>
            <a:r>
              <a:rPr lang="pt-PT" sz="2000" b="0" baseline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 e r</a:t>
            </a: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eferências</a:t>
            </a:r>
          </a:p>
        </p:txBody>
      </p:sp>
    </p:spTree>
    <p:extLst>
      <p:ext uri="{BB962C8B-B14F-4D97-AF65-F5344CB8AC3E}">
        <p14:creationId xmlns:p14="http://schemas.microsoft.com/office/powerpoint/2010/main" val="30600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 dirty="0">
                <a:solidFill>
                  <a:schemeClr val="tx2"/>
                </a:solidFill>
              </a:rPr>
              <a:t>Nosso propósito é contribuir para que as pessoas e as empresas prosperem.</a:t>
            </a:r>
          </a:p>
          <a:p>
            <a:endParaRPr lang="pt-PT" sz="1400" noProof="0" dirty="0">
              <a:solidFill>
                <a:schemeClr val="tx2"/>
              </a:solidFill>
            </a:endParaRPr>
          </a:p>
          <a:p>
            <a:r>
              <a:rPr lang="pt-PT" sz="1400" noProof="0" dirty="0">
                <a:solidFill>
                  <a:schemeClr val="tx2"/>
                </a:solidFill>
              </a:rPr>
              <a:t>Nossa cultura se baseia na crença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noProof="0" dirty="0">
                <a:solidFill>
                  <a:schemeClr val="accent1"/>
                </a:solidFill>
              </a:rPr>
              <a:t>Obrigada.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08760D-8C00-4F57-B7EC-7A08C0C34F28}"/>
              </a:ext>
            </a:extLst>
          </p:cNvPr>
          <p:cNvSpPr txBox="1"/>
          <p:nvPr userDrawn="1"/>
        </p:nvSpPr>
        <p:spPr>
          <a:xfrm>
            <a:off x="821777" y="3469924"/>
            <a:ext cx="2598049" cy="248603"/>
          </a:xfrm>
          <a:custGeom>
            <a:avLst/>
            <a:gdLst/>
            <a:ahLst/>
            <a:cxnLst/>
            <a:rect l="l" t="t" r="r" b="b"/>
            <a:pathLst>
              <a:path w="2598049" h="248603">
                <a:moveTo>
                  <a:pt x="2526783" y="75686"/>
                </a:moveTo>
                <a:cubicBezTo>
                  <a:pt x="2512741" y="75859"/>
                  <a:pt x="2502360" y="80210"/>
                  <a:pt x="2495638" y="88738"/>
                </a:cubicBezTo>
                <a:cubicBezTo>
                  <a:pt x="2488917" y="97267"/>
                  <a:pt x="2485579" y="108937"/>
                  <a:pt x="2485625" y="123750"/>
                </a:cubicBezTo>
                <a:cubicBezTo>
                  <a:pt x="2485735" y="140663"/>
                  <a:pt x="2489383" y="153104"/>
                  <a:pt x="2496571" y="161075"/>
                </a:cubicBezTo>
                <a:cubicBezTo>
                  <a:pt x="2503758" y="169045"/>
                  <a:pt x="2513829" y="172993"/>
                  <a:pt x="2526783" y="172918"/>
                </a:cubicBezTo>
                <a:cubicBezTo>
                  <a:pt x="2540306" y="172762"/>
                  <a:pt x="2550411" y="168446"/>
                  <a:pt x="2557098" y="159970"/>
                </a:cubicBezTo>
                <a:cubicBezTo>
                  <a:pt x="2563785" y="151493"/>
                  <a:pt x="2567123" y="139788"/>
                  <a:pt x="2567112" y="124855"/>
                </a:cubicBezTo>
                <a:cubicBezTo>
                  <a:pt x="2566985" y="108062"/>
                  <a:pt x="2563371" y="95655"/>
                  <a:pt x="2556270" y="87633"/>
                </a:cubicBezTo>
                <a:cubicBezTo>
                  <a:pt x="2549168" y="79611"/>
                  <a:pt x="2539339" y="75629"/>
                  <a:pt x="2526783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621908" y="75686"/>
                </a:moveTo>
                <a:cubicBezTo>
                  <a:pt x="1607866" y="75859"/>
                  <a:pt x="1597485" y="80210"/>
                  <a:pt x="1590763" y="88738"/>
                </a:cubicBezTo>
                <a:cubicBezTo>
                  <a:pt x="1584042" y="97267"/>
                  <a:pt x="1580704" y="108937"/>
                  <a:pt x="1580750" y="123750"/>
                </a:cubicBezTo>
                <a:cubicBezTo>
                  <a:pt x="1580859" y="140663"/>
                  <a:pt x="1584508" y="153104"/>
                  <a:pt x="1591696" y="161075"/>
                </a:cubicBezTo>
                <a:cubicBezTo>
                  <a:pt x="1598883" y="169045"/>
                  <a:pt x="1608954" y="172993"/>
                  <a:pt x="1621908" y="172918"/>
                </a:cubicBezTo>
                <a:cubicBezTo>
                  <a:pt x="1635431" y="172762"/>
                  <a:pt x="1645536" y="168446"/>
                  <a:pt x="1652223" y="159970"/>
                </a:cubicBezTo>
                <a:cubicBezTo>
                  <a:pt x="1658910" y="151493"/>
                  <a:pt x="1662248" y="139788"/>
                  <a:pt x="1662236" y="124855"/>
                </a:cubicBezTo>
                <a:cubicBezTo>
                  <a:pt x="1662110" y="108062"/>
                  <a:pt x="1658496" y="95655"/>
                  <a:pt x="1651395" y="87633"/>
                </a:cubicBezTo>
                <a:cubicBezTo>
                  <a:pt x="1644293" y="79611"/>
                  <a:pt x="1634464" y="75629"/>
                  <a:pt x="16219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0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225029" y="75134"/>
                </a:moveTo>
                <a:cubicBezTo>
                  <a:pt x="1214285" y="75163"/>
                  <a:pt x="1206010" y="78213"/>
                  <a:pt x="1200204" y="84284"/>
                </a:cubicBezTo>
                <a:cubicBezTo>
                  <a:pt x="1194397" y="90355"/>
                  <a:pt x="1190887" y="99275"/>
                  <a:pt x="1189673" y="111043"/>
                </a:cubicBezTo>
                <a:lnTo>
                  <a:pt x="1258176" y="111043"/>
                </a:lnTo>
                <a:cubicBezTo>
                  <a:pt x="1258107" y="99637"/>
                  <a:pt x="1255207" y="90821"/>
                  <a:pt x="1249475" y="84595"/>
                </a:cubicBezTo>
                <a:cubicBezTo>
                  <a:pt x="1243744" y="78368"/>
                  <a:pt x="1235595" y="75215"/>
                  <a:pt x="1225029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090119" y="53036"/>
                </a:moveTo>
                <a:lnTo>
                  <a:pt x="2120503" y="53036"/>
                </a:lnTo>
                <a:lnTo>
                  <a:pt x="2120503" y="138942"/>
                </a:lnTo>
                <a:cubicBezTo>
                  <a:pt x="2120354" y="150630"/>
                  <a:pt x="2122656" y="159227"/>
                  <a:pt x="2127409" y="164735"/>
                </a:cubicBezTo>
                <a:cubicBezTo>
                  <a:pt x="2132162" y="170242"/>
                  <a:pt x="2140265" y="172969"/>
                  <a:pt x="2151717" y="172918"/>
                </a:cubicBezTo>
                <a:cubicBezTo>
                  <a:pt x="2157281" y="172923"/>
                  <a:pt x="2162656" y="172014"/>
                  <a:pt x="2167841" y="170190"/>
                </a:cubicBezTo>
                <a:cubicBezTo>
                  <a:pt x="2173026" y="168366"/>
                  <a:pt x="2177780" y="165592"/>
                  <a:pt x="2182101" y="161869"/>
                </a:cubicBezTo>
                <a:lnTo>
                  <a:pt x="2182101" y="53036"/>
                </a:lnTo>
                <a:lnTo>
                  <a:pt x="2212486" y="53036"/>
                </a:lnTo>
                <a:lnTo>
                  <a:pt x="2212486" y="195568"/>
                </a:lnTo>
                <a:lnTo>
                  <a:pt x="2184311" y="195568"/>
                </a:lnTo>
                <a:lnTo>
                  <a:pt x="2182654" y="177614"/>
                </a:lnTo>
                <a:cubicBezTo>
                  <a:pt x="2177993" y="183938"/>
                  <a:pt x="2172261" y="189037"/>
                  <a:pt x="2165459" y="192909"/>
                </a:cubicBezTo>
                <a:cubicBezTo>
                  <a:pt x="2158657" y="196782"/>
                  <a:pt x="2150577" y="198773"/>
                  <a:pt x="2141220" y="198883"/>
                </a:cubicBezTo>
                <a:cubicBezTo>
                  <a:pt x="2124468" y="198883"/>
                  <a:pt x="2111773" y="194463"/>
                  <a:pt x="2103136" y="185624"/>
                </a:cubicBezTo>
                <a:cubicBezTo>
                  <a:pt x="2094498" y="176785"/>
                  <a:pt x="2090159" y="163526"/>
                  <a:pt x="2090119" y="145848"/>
                </a:cubicBez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527611" y="49721"/>
                </a:moveTo>
                <a:cubicBezTo>
                  <a:pt x="2543090" y="49861"/>
                  <a:pt x="2556052" y="53111"/>
                  <a:pt x="2566498" y="59471"/>
                </a:cubicBezTo>
                <a:cubicBezTo>
                  <a:pt x="2576943" y="65831"/>
                  <a:pt x="2584810" y="74462"/>
                  <a:pt x="2590099" y="85365"/>
                </a:cubicBezTo>
                <a:cubicBezTo>
                  <a:pt x="2595389" y="96267"/>
                  <a:pt x="2598038" y="108602"/>
                  <a:pt x="2598049" y="122369"/>
                </a:cubicBezTo>
                <a:cubicBezTo>
                  <a:pt x="2597830" y="146705"/>
                  <a:pt x="2591293" y="165500"/>
                  <a:pt x="2578437" y="178753"/>
                </a:cubicBezTo>
                <a:cubicBezTo>
                  <a:pt x="2565581" y="192006"/>
                  <a:pt x="2547718" y="198716"/>
                  <a:pt x="2524849" y="198883"/>
                </a:cubicBezTo>
                <a:cubicBezTo>
                  <a:pt x="2509635" y="198743"/>
                  <a:pt x="2496819" y="195493"/>
                  <a:pt x="2486403" y="189133"/>
                </a:cubicBezTo>
                <a:cubicBezTo>
                  <a:pt x="2475986" y="182773"/>
                  <a:pt x="2468102" y="174142"/>
                  <a:pt x="2462750" y="163240"/>
                </a:cubicBezTo>
                <a:cubicBezTo>
                  <a:pt x="2457397" y="152337"/>
                  <a:pt x="2454710" y="140003"/>
                  <a:pt x="2454688" y="126236"/>
                </a:cubicBezTo>
                <a:cubicBezTo>
                  <a:pt x="2454929" y="101899"/>
                  <a:pt x="2461490" y="83104"/>
                  <a:pt x="2474369" y="69851"/>
                </a:cubicBezTo>
                <a:cubicBezTo>
                  <a:pt x="2487248" y="56598"/>
                  <a:pt x="2504995" y="49888"/>
                  <a:pt x="2527611" y="49721"/>
                </a:cubicBezTo>
                <a:close/>
                <a:moveTo>
                  <a:pt x="2291686" y="49721"/>
                </a:moveTo>
                <a:cubicBezTo>
                  <a:pt x="2300376" y="49704"/>
                  <a:pt x="2308479" y="50222"/>
                  <a:pt x="2315994" y="51275"/>
                </a:cubicBezTo>
                <a:cubicBezTo>
                  <a:pt x="2323510" y="52328"/>
                  <a:pt x="2330508" y="54020"/>
                  <a:pt x="2336988" y="56351"/>
                </a:cubicBezTo>
                <a:cubicBezTo>
                  <a:pt x="2336734" y="60316"/>
                  <a:pt x="2336274" y="64263"/>
                  <a:pt x="2335606" y="68194"/>
                </a:cubicBezTo>
                <a:cubicBezTo>
                  <a:pt x="2334939" y="72124"/>
                  <a:pt x="2333926" y="76279"/>
                  <a:pt x="2332568" y="80659"/>
                </a:cubicBezTo>
                <a:cubicBezTo>
                  <a:pt x="2326117" y="78604"/>
                  <a:pt x="2319614" y="77119"/>
                  <a:pt x="2313059" y="76204"/>
                </a:cubicBezTo>
                <a:cubicBezTo>
                  <a:pt x="2306505" y="75289"/>
                  <a:pt x="2299657" y="74841"/>
                  <a:pt x="2292515" y="74858"/>
                </a:cubicBezTo>
                <a:cubicBezTo>
                  <a:pt x="2283043" y="74933"/>
                  <a:pt x="2276575" y="76302"/>
                  <a:pt x="2273110" y="78967"/>
                </a:cubicBezTo>
                <a:cubicBezTo>
                  <a:pt x="2269646" y="81631"/>
                  <a:pt x="2268012" y="85141"/>
                  <a:pt x="2268207" y="89498"/>
                </a:cubicBezTo>
                <a:cubicBezTo>
                  <a:pt x="2268190" y="94504"/>
                  <a:pt x="2269951" y="98510"/>
                  <a:pt x="2273490" y="101514"/>
                </a:cubicBezTo>
                <a:cubicBezTo>
                  <a:pt x="2277029" y="104517"/>
                  <a:pt x="2282450" y="107142"/>
                  <a:pt x="2289753" y="109386"/>
                </a:cubicBezTo>
                <a:lnTo>
                  <a:pt x="2304393" y="114082"/>
                </a:lnTo>
                <a:cubicBezTo>
                  <a:pt x="2317439" y="118104"/>
                  <a:pt x="2326980" y="123456"/>
                  <a:pt x="2333017" y="130137"/>
                </a:cubicBezTo>
                <a:cubicBezTo>
                  <a:pt x="2339053" y="136819"/>
                  <a:pt x="2342034" y="145554"/>
                  <a:pt x="2341960" y="156344"/>
                </a:cubicBezTo>
                <a:cubicBezTo>
                  <a:pt x="2341890" y="169114"/>
                  <a:pt x="2337056" y="179346"/>
                  <a:pt x="2327458" y="187040"/>
                </a:cubicBezTo>
                <a:cubicBezTo>
                  <a:pt x="2317859" y="194734"/>
                  <a:pt x="2303909" y="198681"/>
                  <a:pt x="2285610" y="198883"/>
                </a:cubicBezTo>
                <a:cubicBezTo>
                  <a:pt x="2275453" y="198906"/>
                  <a:pt x="2266418" y="198169"/>
                  <a:pt x="2258505" y="196673"/>
                </a:cubicBezTo>
                <a:cubicBezTo>
                  <a:pt x="2250592" y="195177"/>
                  <a:pt x="2243422" y="192783"/>
                  <a:pt x="2236994" y="189491"/>
                </a:cubicBezTo>
                <a:cubicBezTo>
                  <a:pt x="2237270" y="183863"/>
                  <a:pt x="2237754" y="178960"/>
                  <a:pt x="2238444" y="174782"/>
                </a:cubicBezTo>
                <a:cubicBezTo>
                  <a:pt x="2239135" y="170604"/>
                  <a:pt x="2240033" y="166944"/>
                  <a:pt x="2241137" y="163802"/>
                </a:cubicBezTo>
                <a:cubicBezTo>
                  <a:pt x="2247686" y="166985"/>
                  <a:pt x="2254891" y="169390"/>
                  <a:pt x="2262752" y="171019"/>
                </a:cubicBezTo>
                <a:cubicBezTo>
                  <a:pt x="2270613" y="172647"/>
                  <a:pt x="2277956" y="173464"/>
                  <a:pt x="2284781" y="173470"/>
                </a:cubicBezTo>
                <a:cubicBezTo>
                  <a:pt x="2293522" y="173516"/>
                  <a:pt x="2300209" y="172250"/>
                  <a:pt x="2304842" y="169672"/>
                </a:cubicBezTo>
                <a:cubicBezTo>
                  <a:pt x="2309474" y="167094"/>
                  <a:pt x="2311811" y="162928"/>
                  <a:pt x="2311851" y="157173"/>
                </a:cubicBezTo>
                <a:cubicBezTo>
                  <a:pt x="2311782" y="152189"/>
                  <a:pt x="2309848" y="148345"/>
                  <a:pt x="2306050" y="145640"/>
                </a:cubicBezTo>
                <a:cubicBezTo>
                  <a:pt x="2302252" y="142936"/>
                  <a:pt x="2297004" y="140611"/>
                  <a:pt x="2290305" y="138666"/>
                </a:cubicBezTo>
                <a:lnTo>
                  <a:pt x="2276218" y="134246"/>
                </a:lnTo>
                <a:cubicBezTo>
                  <a:pt x="2262458" y="129821"/>
                  <a:pt x="2252756" y="123963"/>
                  <a:pt x="2247111" y="116671"/>
                </a:cubicBezTo>
                <a:cubicBezTo>
                  <a:pt x="2241465" y="109380"/>
                  <a:pt x="2238738" y="100691"/>
                  <a:pt x="2238928" y="90603"/>
                </a:cubicBezTo>
                <a:cubicBezTo>
                  <a:pt x="2238951" y="77781"/>
                  <a:pt x="2243393" y="67791"/>
                  <a:pt x="2252255" y="60632"/>
                </a:cubicBezTo>
                <a:cubicBezTo>
                  <a:pt x="2261118" y="53473"/>
                  <a:pt x="2274261" y="49836"/>
                  <a:pt x="2291686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8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736" y="49721"/>
                </a:moveTo>
                <a:cubicBezTo>
                  <a:pt x="1638215" y="49861"/>
                  <a:pt x="1651177" y="53111"/>
                  <a:pt x="1661623" y="59471"/>
                </a:cubicBezTo>
                <a:cubicBezTo>
                  <a:pt x="1672068" y="65831"/>
                  <a:pt x="1679935" y="74462"/>
                  <a:pt x="1685225" y="85365"/>
                </a:cubicBezTo>
                <a:cubicBezTo>
                  <a:pt x="1690514" y="96267"/>
                  <a:pt x="1693164" y="108602"/>
                  <a:pt x="1693174" y="122369"/>
                </a:cubicBezTo>
                <a:cubicBezTo>
                  <a:pt x="1692955" y="146705"/>
                  <a:pt x="1686418" y="165500"/>
                  <a:pt x="1673562" y="178753"/>
                </a:cubicBezTo>
                <a:cubicBezTo>
                  <a:pt x="1660706" y="192006"/>
                  <a:pt x="1642843" y="198716"/>
                  <a:pt x="1619974" y="198883"/>
                </a:cubicBezTo>
                <a:cubicBezTo>
                  <a:pt x="1604760" y="198743"/>
                  <a:pt x="1591944" y="195493"/>
                  <a:pt x="1581528" y="189133"/>
                </a:cubicBezTo>
                <a:cubicBezTo>
                  <a:pt x="1571111" y="182773"/>
                  <a:pt x="1563227" y="174142"/>
                  <a:pt x="1557875" y="163240"/>
                </a:cubicBezTo>
                <a:cubicBezTo>
                  <a:pt x="1552522" y="152337"/>
                  <a:pt x="1549835" y="140003"/>
                  <a:pt x="1549813" y="126236"/>
                </a:cubicBezTo>
                <a:cubicBezTo>
                  <a:pt x="1550055" y="101899"/>
                  <a:pt x="1556615" y="83104"/>
                  <a:pt x="1569494" y="69851"/>
                </a:cubicBezTo>
                <a:cubicBezTo>
                  <a:pt x="1582373" y="56598"/>
                  <a:pt x="1600120" y="49888"/>
                  <a:pt x="1622736" y="49721"/>
                </a:cubicBezTo>
                <a:close/>
                <a:moveTo>
                  <a:pt x="1482062" y="49721"/>
                </a:moveTo>
                <a:cubicBezTo>
                  <a:pt x="1490751" y="49704"/>
                  <a:pt x="1498854" y="50222"/>
                  <a:pt x="1506369" y="51275"/>
                </a:cubicBezTo>
                <a:cubicBezTo>
                  <a:pt x="1513885" y="52328"/>
                  <a:pt x="1520883" y="54020"/>
                  <a:pt x="1527363" y="56351"/>
                </a:cubicBezTo>
                <a:cubicBezTo>
                  <a:pt x="1527109" y="60316"/>
                  <a:pt x="1526649" y="64263"/>
                  <a:pt x="1525981" y="68194"/>
                </a:cubicBezTo>
                <a:cubicBezTo>
                  <a:pt x="1525314" y="72124"/>
                  <a:pt x="1524301" y="76279"/>
                  <a:pt x="1522943" y="80659"/>
                </a:cubicBezTo>
                <a:cubicBezTo>
                  <a:pt x="1516492" y="78604"/>
                  <a:pt x="1509989" y="77119"/>
                  <a:pt x="1503435" y="76204"/>
                </a:cubicBezTo>
                <a:cubicBezTo>
                  <a:pt x="1496880" y="75289"/>
                  <a:pt x="1490032" y="74841"/>
                  <a:pt x="1482890" y="74858"/>
                </a:cubicBezTo>
                <a:cubicBezTo>
                  <a:pt x="1473418" y="74933"/>
                  <a:pt x="1466950" y="76302"/>
                  <a:pt x="1463486" y="78967"/>
                </a:cubicBezTo>
                <a:cubicBezTo>
                  <a:pt x="1460021" y="81631"/>
                  <a:pt x="1458387" y="85141"/>
                  <a:pt x="1458582" y="89498"/>
                </a:cubicBezTo>
                <a:cubicBezTo>
                  <a:pt x="1458565" y="94504"/>
                  <a:pt x="1460326" y="98510"/>
                  <a:pt x="1463865" y="101514"/>
                </a:cubicBezTo>
                <a:cubicBezTo>
                  <a:pt x="1467404" y="104517"/>
                  <a:pt x="1472825" y="107142"/>
                  <a:pt x="1480128" y="109386"/>
                </a:cubicBezTo>
                <a:lnTo>
                  <a:pt x="1494768" y="114082"/>
                </a:lnTo>
                <a:cubicBezTo>
                  <a:pt x="1507814" y="118104"/>
                  <a:pt x="1517355" y="123456"/>
                  <a:pt x="1523392" y="130137"/>
                </a:cubicBezTo>
                <a:cubicBezTo>
                  <a:pt x="1529428" y="136819"/>
                  <a:pt x="1532409" y="145554"/>
                  <a:pt x="1532335" y="156344"/>
                </a:cubicBezTo>
                <a:cubicBezTo>
                  <a:pt x="1532265" y="169114"/>
                  <a:pt x="1527432" y="179346"/>
                  <a:pt x="1517833" y="187040"/>
                </a:cubicBezTo>
                <a:cubicBezTo>
                  <a:pt x="1508234" y="194734"/>
                  <a:pt x="1494285" y="198681"/>
                  <a:pt x="1475985" y="198883"/>
                </a:cubicBezTo>
                <a:cubicBezTo>
                  <a:pt x="1465828" y="198906"/>
                  <a:pt x="1456793" y="198169"/>
                  <a:pt x="1448880" y="196673"/>
                </a:cubicBezTo>
                <a:cubicBezTo>
                  <a:pt x="1440967" y="195177"/>
                  <a:pt x="1433797" y="192783"/>
                  <a:pt x="1427369" y="189491"/>
                </a:cubicBezTo>
                <a:cubicBezTo>
                  <a:pt x="1427645" y="183863"/>
                  <a:pt x="1428129" y="178960"/>
                  <a:pt x="1428819" y="174782"/>
                </a:cubicBezTo>
                <a:cubicBezTo>
                  <a:pt x="1429510" y="170604"/>
                  <a:pt x="1430408" y="166944"/>
                  <a:pt x="1431512" y="163802"/>
                </a:cubicBezTo>
                <a:cubicBezTo>
                  <a:pt x="1438061" y="166985"/>
                  <a:pt x="1445266" y="169390"/>
                  <a:pt x="1453127" y="171019"/>
                </a:cubicBezTo>
                <a:cubicBezTo>
                  <a:pt x="1460988" y="172647"/>
                  <a:pt x="1468331" y="173464"/>
                  <a:pt x="1475156" y="173470"/>
                </a:cubicBezTo>
                <a:cubicBezTo>
                  <a:pt x="1483897" y="173516"/>
                  <a:pt x="1490584" y="172250"/>
                  <a:pt x="1495217" y="169672"/>
                </a:cubicBezTo>
                <a:cubicBezTo>
                  <a:pt x="1499849" y="167094"/>
                  <a:pt x="1502186" y="162928"/>
                  <a:pt x="1502226" y="157173"/>
                </a:cubicBezTo>
                <a:cubicBezTo>
                  <a:pt x="1502157" y="152189"/>
                  <a:pt x="1500223" y="148345"/>
                  <a:pt x="1496425" y="145640"/>
                </a:cubicBezTo>
                <a:cubicBezTo>
                  <a:pt x="1492627" y="142936"/>
                  <a:pt x="1487379" y="140611"/>
                  <a:pt x="1480681" y="138666"/>
                </a:cubicBezTo>
                <a:lnTo>
                  <a:pt x="1466593" y="134246"/>
                </a:lnTo>
                <a:cubicBezTo>
                  <a:pt x="1452834" y="129821"/>
                  <a:pt x="1443131" y="123963"/>
                  <a:pt x="1437486" y="116671"/>
                </a:cubicBezTo>
                <a:cubicBezTo>
                  <a:pt x="1431840" y="109380"/>
                  <a:pt x="1429113" y="100691"/>
                  <a:pt x="1429303" y="90603"/>
                </a:cubicBezTo>
                <a:cubicBezTo>
                  <a:pt x="1429326" y="77781"/>
                  <a:pt x="1433768" y="67791"/>
                  <a:pt x="1442631" y="60632"/>
                </a:cubicBezTo>
                <a:cubicBezTo>
                  <a:pt x="1451493" y="53473"/>
                  <a:pt x="1464636" y="49836"/>
                  <a:pt x="1482062" y="49721"/>
                </a:cubicBezTo>
                <a:close/>
                <a:moveTo>
                  <a:pt x="1358237" y="49721"/>
                </a:moveTo>
                <a:cubicBezTo>
                  <a:pt x="1366926" y="49704"/>
                  <a:pt x="1375029" y="50222"/>
                  <a:pt x="1382544" y="51275"/>
                </a:cubicBezTo>
                <a:cubicBezTo>
                  <a:pt x="1390060" y="52328"/>
                  <a:pt x="1397058" y="54020"/>
                  <a:pt x="1403538" y="56351"/>
                </a:cubicBezTo>
                <a:cubicBezTo>
                  <a:pt x="1403284" y="60316"/>
                  <a:pt x="1402824" y="64263"/>
                  <a:pt x="1402156" y="68194"/>
                </a:cubicBezTo>
                <a:cubicBezTo>
                  <a:pt x="1401489" y="72124"/>
                  <a:pt x="1400476" y="76279"/>
                  <a:pt x="1399118" y="80659"/>
                </a:cubicBezTo>
                <a:cubicBezTo>
                  <a:pt x="1392667" y="78604"/>
                  <a:pt x="1386164" y="77119"/>
                  <a:pt x="1379610" y="76204"/>
                </a:cubicBezTo>
                <a:cubicBezTo>
                  <a:pt x="1373055" y="75289"/>
                  <a:pt x="1366207" y="74841"/>
                  <a:pt x="1359065" y="74858"/>
                </a:cubicBezTo>
                <a:cubicBezTo>
                  <a:pt x="1349593" y="74933"/>
                  <a:pt x="1343125" y="76302"/>
                  <a:pt x="1339661" y="78967"/>
                </a:cubicBezTo>
                <a:cubicBezTo>
                  <a:pt x="1336196" y="81631"/>
                  <a:pt x="1334562" y="85141"/>
                  <a:pt x="1334757" y="89498"/>
                </a:cubicBezTo>
                <a:cubicBezTo>
                  <a:pt x="1334740" y="94504"/>
                  <a:pt x="1336501" y="98510"/>
                  <a:pt x="1340040" y="101514"/>
                </a:cubicBezTo>
                <a:cubicBezTo>
                  <a:pt x="1343579" y="104517"/>
                  <a:pt x="1349000" y="107142"/>
                  <a:pt x="1356303" y="109386"/>
                </a:cubicBezTo>
                <a:lnTo>
                  <a:pt x="1370943" y="114082"/>
                </a:lnTo>
                <a:cubicBezTo>
                  <a:pt x="1383989" y="118104"/>
                  <a:pt x="1393530" y="123456"/>
                  <a:pt x="1399567" y="130137"/>
                </a:cubicBezTo>
                <a:cubicBezTo>
                  <a:pt x="1405603" y="136819"/>
                  <a:pt x="1408584" y="145554"/>
                  <a:pt x="1408510" y="156344"/>
                </a:cubicBezTo>
                <a:cubicBezTo>
                  <a:pt x="1408440" y="169114"/>
                  <a:pt x="1403607" y="179346"/>
                  <a:pt x="1394008" y="187040"/>
                </a:cubicBezTo>
                <a:cubicBezTo>
                  <a:pt x="1384409" y="194734"/>
                  <a:pt x="1370460" y="198681"/>
                  <a:pt x="1352160" y="198883"/>
                </a:cubicBezTo>
                <a:cubicBezTo>
                  <a:pt x="1342003" y="198906"/>
                  <a:pt x="1332968" y="198169"/>
                  <a:pt x="1325055" y="196673"/>
                </a:cubicBezTo>
                <a:cubicBezTo>
                  <a:pt x="1317142" y="195177"/>
                  <a:pt x="1309972" y="192783"/>
                  <a:pt x="1303544" y="189491"/>
                </a:cubicBezTo>
                <a:cubicBezTo>
                  <a:pt x="1303820" y="183863"/>
                  <a:pt x="1304304" y="178960"/>
                  <a:pt x="1304994" y="174782"/>
                </a:cubicBezTo>
                <a:cubicBezTo>
                  <a:pt x="1305685" y="170604"/>
                  <a:pt x="1306583" y="166944"/>
                  <a:pt x="1307687" y="163802"/>
                </a:cubicBezTo>
                <a:cubicBezTo>
                  <a:pt x="1314236" y="166985"/>
                  <a:pt x="1321441" y="169390"/>
                  <a:pt x="1329302" y="171019"/>
                </a:cubicBezTo>
                <a:cubicBezTo>
                  <a:pt x="1337163" y="172647"/>
                  <a:pt x="1344506" y="173464"/>
                  <a:pt x="1351331" y="173470"/>
                </a:cubicBezTo>
                <a:cubicBezTo>
                  <a:pt x="1360072" y="173516"/>
                  <a:pt x="1366759" y="172250"/>
                  <a:pt x="1371392" y="169672"/>
                </a:cubicBezTo>
                <a:cubicBezTo>
                  <a:pt x="1376024" y="167094"/>
                  <a:pt x="1378361" y="162928"/>
                  <a:pt x="1378401" y="157173"/>
                </a:cubicBezTo>
                <a:cubicBezTo>
                  <a:pt x="1378332" y="152189"/>
                  <a:pt x="1376398" y="148345"/>
                  <a:pt x="1372600" y="145640"/>
                </a:cubicBezTo>
                <a:cubicBezTo>
                  <a:pt x="1368802" y="142936"/>
                  <a:pt x="1363554" y="140611"/>
                  <a:pt x="1356856" y="138666"/>
                </a:cubicBezTo>
                <a:lnTo>
                  <a:pt x="1342768" y="134246"/>
                </a:lnTo>
                <a:cubicBezTo>
                  <a:pt x="1329009" y="129821"/>
                  <a:pt x="1319306" y="123963"/>
                  <a:pt x="1313661" y="116671"/>
                </a:cubicBezTo>
                <a:cubicBezTo>
                  <a:pt x="1308015" y="109380"/>
                  <a:pt x="1305288" y="100691"/>
                  <a:pt x="1305478" y="90603"/>
                </a:cubicBezTo>
                <a:cubicBezTo>
                  <a:pt x="1305501" y="77781"/>
                  <a:pt x="1309943" y="67791"/>
                  <a:pt x="1318806" y="60632"/>
                </a:cubicBezTo>
                <a:cubicBezTo>
                  <a:pt x="1327668" y="53473"/>
                  <a:pt x="1340811" y="49836"/>
                  <a:pt x="1358237" y="49721"/>
                </a:cubicBezTo>
                <a:close/>
                <a:moveTo>
                  <a:pt x="1226687" y="49721"/>
                </a:moveTo>
                <a:cubicBezTo>
                  <a:pt x="1248250" y="50182"/>
                  <a:pt x="1264029" y="56374"/>
                  <a:pt x="1274025" y="68297"/>
                </a:cubicBezTo>
                <a:cubicBezTo>
                  <a:pt x="1284021" y="80221"/>
                  <a:pt x="1288958" y="95114"/>
                  <a:pt x="1288837" y="112977"/>
                </a:cubicBezTo>
                <a:cubicBezTo>
                  <a:pt x="1288837" y="117201"/>
                  <a:pt x="1288699" y="121183"/>
                  <a:pt x="1288423" y="124924"/>
                </a:cubicBezTo>
                <a:cubicBezTo>
                  <a:pt x="1288147" y="128664"/>
                  <a:pt x="1287733" y="132508"/>
                  <a:pt x="1287180" y="136456"/>
                </a:cubicBezTo>
                <a:lnTo>
                  <a:pt x="1190225" y="136456"/>
                </a:lnTo>
                <a:cubicBezTo>
                  <a:pt x="1192113" y="148731"/>
                  <a:pt x="1196762" y="157881"/>
                  <a:pt x="1204174" y="163906"/>
                </a:cubicBezTo>
                <a:cubicBezTo>
                  <a:pt x="1211586" y="169931"/>
                  <a:pt x="1222037" y="172935"/>
                  <a:pt x="1235526" y="172918"/>
                </a:cubicBezTo>
                <a:cubicBezTo>
                  <a:pt x="1243853" y="172912"/>
                  <a:pt x="1252128" y="172026"/>
                  <a:pt x="1260352" y="170259"/>
                </a:cubicBezTo>
                <a:cubicBezTo>
                  <a:pt x="1268575" y="168492"/>
                  <a:pt x="1276505" y="165880"/>
                  <a:pt x="1284142" y="162421"/>
                </a:cubicBezTo>
                <a:cubicBezTo>
                  <a:pt x="1283583" y="166507"/>
                  <a:pt x="1282904" y="170973"/>
                  <a:pt x="1282104" y="175818"/>
                </a:cubicBezTo>
                <a:cubicBezTo>
                  <a:pt x="1281305" y="180663"/>
                  <a:pt x="1280418" y="185405"/>
                  <a:pt x="1279446" y="190044"/>
                </a:cubicBezTo>
                <a:cubicBezTo>
                  <a:pt x="1272557" y="193191"/>
                  <a:pt x="1265410" y="195459"/>
                  <a:pt x="1258004" y="196846"/>
                </a:cubicBezTo>
                <a:cubicBezTo>
                  <a:pt x="1250598" y="198233"/>
                  <a:pt x="1242829" y="198912"/>
                  <a:pt x="1234697" y="198883"/>
                </a:cubicBezTo>
                <a:cubicBezTo>
                  <a:pt x="1209319" y="198693"/>
                  <a:pt x="1190398" y="192029"/>
                  <a:pt x="1177933" y="178891"/>
                </a:cubicBezTo>
                <a:cubicBezTo>
                  <a:pt x="1165468" y="165753"/>
                  <a:pt x="1159253" y="147281"/>
                  <a:pt x="1159288" y="123473"/>
                </a:cubicBezTo>
                <a:cubicBezTo>
                  <a:pt x="1159225" y="109606"/>
                  <a:pt x="1161469" y="97135"/>
                  <a:pt x="1166020" y="86060"/>
                </a:cubicBezTo>
                <a:cubicBezTo>
                  <a:pt x="1170570" y="74986"/>
                  <a:pt x="1177807" y="66198"/>
                  <a:pt x="1187729" y="59696"/>
                </a:cubicBezTo>
                <a:cubicBezTo>
                  <a:pt x="1197651" y="53195"/>
                  <a:pt x="1210637" y="49870"/>
                  <a:pt x="1226687" y="49721"/>
                </a:cubicBezTo>
                <a:close/>
                <a:moveTo>
                  <a:pt x="881987" y="49721"/>
                </a:moveTo>
                <a:cubicBezTo>
                  <a:pt x="890676" y="49704"/>
                  <a:pt x="898779" y="50222"/>
                  <a:pt x="906294" y="51275"/>
                </a:cubicBezTo>
                <a:cubicBezTo>
                  <a:pt x="913810" y="52328"/>
                  <a:pt x="920808" y="54020"/>
                  <a:pt x="927287" y="56351"/>
                </a:cubicBezTo>
                <a:cubicBezTo>
                  <a:pt x="927034" y="60316"/>
                  <a:pt x="926574" y="64263"/>
                  <a:pt x="925906" y="68194"/>
                </a:cubicBezTo>
                <a:cubicBezTo>
                  <a:pt x="925239" y="72124"/>
                  <a:pt x="924226" y="76279"/>
                  <a:pt x="922868" y="80659"/>
                </a:cubicBezTo>
                <a:cubicBezTo>
                  <a:pt x="916417" y="78604"/>
                  <a:pt x="909914" y="77119"/>
                  <a:pt x="903359" y="76204"/>
                </a:cubicBezTo>
                <a:cubicBezTo>
                  <a:pt x="896805" y="75289"/>
                  <a:pt x="889957" y="74841"/>
                  <a:pt x="882815" y="74858"/>
                </a:cubicBezTo>
                <a:cubicBezTo>
                  <a:pt x="873343" y="74933"/>
                  <a:pt x="866875" y="76302"/>
                  <a:pt x="863410" y="78967"/>
                </a:cubicBezTo>
                <a:cubicBezTo>
                  <a:pt x="859946" y="81631"/>
                  <a:pt x="858312" y="85141"/>
                  <a:pt x="858507" y="89498"/>
                </a:cubicBezTo>
                <a:cubicBezTo>
                  <a:pt x="858490" y="94504"/>
                  <a:pt x="860251" y="98510"/>
                  <a:pt x="863790" y="101514"/>
                </a:cubicBezTo>
                <a:cubicBezTo>
                  <a:pt x="867329" y="104517"/>
                  <a:pt x="872750" y="107142"/>
                  <a:pt x="880053" y="109386"/>
                </a:cubicBezTo>
                <a:lnTo>
                  <a:pt x="894693" y="114082"/>
                </a:lnTo>
                <a:cubicBezTo>
                  <a:pt x="907739" y="118104"/>
                  <a:pt x="917280" y="123456"/>
                  <a:pt x="923317" y="130137"/>
                </a:cubicBezTo>
                <a:cubicBezTo>
                  <a:pt x="929353" y="136819"/>
                  <a:pt x="932334" y="145554"/>
                  <a:pt x="932259" y="156344"/>
                </a:cubicBezTo>
                <a:cubicBezTo>
                  <a:pt x="932190" y="169114"/>
                  <a:pt x="927356" y="179346"/>
                  <a:pt x="917758" y="187040"/>
                </a:cubicBezTo>
                <a:cubicBezTo>
                  <a:pt x="908159" y="194734"/>
                  <a:pt x="894209" y="198681"/>
                  <a:pt x="875910" y="198883"/>
                </a:cubicBezTo>
                <a:cubicBezTo>
                  <a:pt x="865753" y="198906"/>
                  <a:pt x="856718" y="198169"/>
                  <a:pt x="848805" y="196673"/>
                </a:cubicBezTo>
                <a:cubicBezTo>
                  <a:pt x="840892" y="195177"/>
                  <a:pt x="833722" y="192783"/>
                  <a:pt x="827294" y="189491"/>
                </a:cubicBezTo>
                <a:cubicBezTo>
                  <a:pt x="827570" y="183863"/>
                  <a:pt x="828054" y="178960"/>
                  <a:pt x="828744" y="174782"/>
                </a:cubicBezTo>
                <a:cubicBezTo>
                  <a:pt x="829435" y="170604"/>
                  <a:pt x="830332" y="166944"/>
                  <a:pt x="831437" y="163802"/>
                </a:cubicBezTo>
                <a:cubicBezTo>
                  <a:pt x="837986" y="166985"/>
                  <a:pt x="845191" y="169390"/>
                  <a:pt x="853052" y="171019"/>
                </a:cubicBezTo>
                <a:cubicBezTo>
                  <a:pt x="860913" y="172647"/>
                  <a:pt x="868256" y="173464"/>
                  <a:pt x="875081" y="173470"/>
                </a:cubicBezTo>
                <a:cubicBezTo>
                  <a:pt x="883822" y="173516"/>
                  <a:pt x="890509" y="172250"/>
                  <a:pt x="895142" y="169672"/>
                </a:cubicBezTo>
                <a:cubicBezTo>
                  <a:pt x="899774" y="167094"/>
                  <a:pt x="902111" y="162928"/>
                  <a:pt x="902151" y="157173"/>
                </a:cubicBezTo>
                <a:cubicBezTo>
                  <a:pt x="902082" y="152189"/>
                  <a:pt x="900148" y="148345"/>
                  <a:pt x="896350" y="145640"/>
                </a:cubicBezTo>
                <a:cubicBezTo>
                  <a:pt x="892552" y="142936"/>
                  <a:pt x="887304" y="140611"/>
                  <a:pt x="880605" y="138666"/>
                </a:cubicBezTo>
                <a:lnTo>
                  <a:pt x="866518" y="134246"/>
                </a:lnTo>
                <a:cubicBezTo>
                  <a:pt x="852758" y="129821"/>
                  <a:pt x="843056" y="123963"/>
                  <a:pt x="837411" y="116671"/>
                </a:cubicBezTo>
                <a:cubicBezTo>
                  <a:pt x="831765" y="109380"/>
                  <a:pt x="829038" y="100691"/>
                  <a:pt x="829228" y="90603"/>
                </a:cubicBezTo>
                <a:cubicBezTo>
                  <a:pt x="829251" y="77781"/>
                  <a:pt x="833693" y="67791"/>
                  <a:pt x="842555" y="60632"/>
                </a:cubicBezTo>
                <a:cubicBezTo>
                  <a:pt x="851418" y="53473"/>
                  <a:pt x="864561" y="49836"/>
                  <a:pt x="881987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1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4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49" y="76722"/>
                  <a:pt x="259156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1068353" y="28452"/>
                </a:moveTo>
                <a:cubicBezTo>
                  <a:pt x="1064998" y="28435"/>
                  <a:pt x="1061418" y="28538"/>
                  <a:pt x="1057614" y="28763"/>
                </a:cubicBezTo>
                <a:cubicBezTo>
                  <a:pt x="1053811" y="28987"/>
                  <a:pt x="1050024" y="29436"/>
                  <a:pt x="1046255" y="30109"/>
                </a:cubicBezTo>
                <a:lnTo>
                  <a:pt x="1046255" y="101375"/>
                </a:lnTo>
                <a:lnTo>
                  <a:pt x="1069458" y="101375"/>
                </a:lnTo>
                <a:cubicBezTo>
                  <a:pt x="1084615" y="101312"/>
                  <a:pt x="1095872" y="98193"/>
                  <a:pt x="1103226" y="92018"/>
                </a:cubicBezTo>
                <a:cubicBezTo>
                  <a:pt x="1110581" y="85844"/>
                  <a:pt x="1114241" y="76993"/>
                  <a:pt x="1114206" y="65466"/>
                </a:cubicBezTo>
                <a:cubicBezTo>
                  <a:pt x="1114264" y="52927"/>
                  <a:pt x="1110558" y="43616"/>
                  <a:pt x="1103088" y="37533"/>
                </a:cubicBezTo>
                <a:cubicBezTo>
                  <a:pt x="1095618" y="31450"/>
                  <a:pt x="1084040" y="28423"/>
                  <a:pt x="1068353" y="28452"/>
                </a:cubicBezTo>
                <a:close/>
                <a:moveTo>
                  <a:pt x="2396728" y="2211"/>
                </a:moveTo>
                <a:lnTo>
                  <a:pt x="2396728" y="54417"/>
                </a:lnTo>
                <a:lnTo>
                  <a:pt x="2444791" y="54417"/>
                </a:lnTo>
                <a:cubicBezTo>
                  <a:pt x="2444285" y="63763"/>
                  <a:pt x="2443364" y="72418"/>
                  <a:pt x="2442029" y="80382"/>
                </a:cubicBezTo>
                <a:lnTo>
                  <a:pt x="2396728" y="80382"/>
                </a:lnTo>
                <a:lnTo>
                  <a:pt x="2396728" y="148057"/>
                </a:lnTo>
                <a:cubicBezTo>
                  <a:pt x="2396792" y="156948"/>
                  <a:pt x="2398875" y="163336"/>
                  <a:pt x="2402978" y="167221"/>
                </a:cubicBezTo>
                <a:cubicBezTo>
                  <a:pt x="2407081" y="171105"/>
                  <a:pt x="2412824" y="173004"/>
                  <a:pt x="2420207" y="172918"/>
                </a:cubicBezTo>
                <a:cubicBezTo>
                  <a:pt x="2424650" y="172900"/>
                  <a:pt x="2428885" y="172521"/>
                  <a:pt x="2432914" y="171778"/>
                </a:cubicBezTo>
                <a:cubicBezTo>
                  <a:pt x="2436942" y="171036"/>
                  <a:pt x="2440625" y="170035"/>
                  <a:pt x="2443963" y="168774"/>
                </a:cubicBezTo>
                <a:cubicBezTo>
                  <a:pt x="2443554" y="172969"/>
                  <a:pt x="2443059" y="177285"/>
                  <a:pt x="2442478" y="181722"/>
                </a:cubicBezTo>
                <a:cubicBezTo>
                  <a:pt x="2441897" y="186159"/>
                  <a:pt x="2441195" y="190406"/>
                  <a:pt x="2440372" y="194463"/>
                </a:cubicBezTo>
                <a:cubicBezTo>
                  <a:pt x="2436211" y="196098"/>
                  <a:pt x="2431964" y="197249"/>
                  <a:pt x="2427631" y="197916"/>
                </a:cubicBezTo>
                <a:cubicBezTo>
                  <a:pt x="2423298" y="198584"/>
                  <a:pt x="2418982" y="198906"/>
                  <a:pt x="2414683" y="198883"/>
                </a:cubicBezTo>
                <a:cubicBezTo>
                  <a:pt x="2399738" y="199021"/>
                  <a:pt x="2387987" y="195361"/>
                  <a:pt x="2379430" y="187903"/>
                </a:cubicBezTo>
                <a:cubicBezTo>
                  <a:pt x="2370872" y="180445"/>
                  <a:pt x="2366510" y="168360"/>
                  <a:pt x="2366344" y="151648"/>
                </a:cubicBezTo>
                <a:lnTo>
                  <a:pt x="2366344" y="6630"/>
                </a:lnTo>
                <a:cubicBezTo>
                  <a:pt x="2371131" y="5117"/>
                  <a:pt x="2376196" y="4000"/>
                  <a:pt x="2381536" y="3281"/>
                </a:cubicBezTo>
                <a:cubicBezTo>
                  <a:pt x="2386876" y="2562"/>
                  <a:pt x="2391940" y="2205"/>
                  <a:pt x="2396728" y="2211"/>
                </a:cubicBezTo>
                <a:close/>
                <a:moveTo>
                  <a:pt x="2052742" y="2211"/>
                </a:moveTo>
                <a:lnTo>
                  <a:pt x="2052742" y="138942"/>
                </a:lnTo>
                <a:cubicBezTo>
                  <a:pt x="2052737" y="158266"/>
                  <a:pt x="2047776" y="172722"/>
                  <a:pt x="2037861" y="182309"/>
                </a:cubicBezTo>
                <a:cubicBezTo>
                  <a:pt x="2027945" y="191897"/>
                  <a:pt x="2013110" y="196685"/>
                  <a:pt x="1993354" y="196673"/>
                </a:cubicBezTo>
                <a:cubicBezTo>
                  <a:pt x="1990120" y="196662"/>
                  <a:pt x="1986713" y="196477"/>
                  <a:pt x="1983134" y="196121"/>
                </a:cubicBezTo>
                <a:cubicBezTo>
                  <a:pt x="1979554" y="195764"/>
                  <a:pt x="1976148" y="195303"/>
                  <a:pt x="1972913" y="194739"/>
                </a:cubicBezTo>
                <a:cubicBezTo>
                  <a:pt x="1973057" y="190222"/>
                  <a:pt x="1973322" y="185584"/>
                  <a:pt x="1973708" y="180825"/>
                </a:cubicBezTo>
                <a:cubicBezTo>
                  <a:pt x="1974093" y="176066"/>
                  <a:pt x="1974565" y="171772"/>
                  <a:pt x="1975123" y="167946"/>
                </a:cubicBezTo>
                <a:cubicBezTo>
                  <a:pt x="1977908" y="168498"/>
                  <a:pt x="1980832" y="168912"/>
                  <a:pt x="1983893" y="169189"/>
                </a:cubicBezTo>
                <a:cubicBezTo>
                  <a:pt x="1986955" y="169465"/>
                  <a:pt x="1990016" y="169603"/>
                  <a:pt x="1993078" y="169603"/>
                </a:cubicBezTo>
                <a:cubicBezTo>
                  <a:pt x="2002976" y="169695"/>
                  <a:pt x="2010250" y="167025"/>
                  <a:pt x="2014900" y="161592"/>
                </a:cubicBezTo>
                <a:cubicBezTo>
                  <a:pt x="2019549" y="156160"/>
                  <a:pt x="2021851" y="147413"/>
                  <a:pt x="2021805" y="135351"/>
                </a:cubicBezTo>
                <a:lnTo>
                  <a:pt x="2021805" y="6630"/>
                </a:lnTo>
                <a:cubicBezTo>
                  <a:pt x="2025891" y="5479"/>
                  <a:pt x="2030840" y="4466"/>
                  <a:pt x="2036652" y="3592"/>
                </a:cubicBezTo>
                <a:cubicBezTo>
                  <a:pt x="2042465" y="2717"/>
                  <a:pt x="2047828" y="2257"/>
                  <a:pt x="2052742" y="2211"/>
                </a:cubicBez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7" y="5479"/>
                  <a:pt x="1881344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0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1067248" y="1382"/>
                </a:moveTo>
                <a:cubicBezTo>
                  <a:pt x="1087086" y="1532"/>
                  <a:pt x="1102746" y="4393"/>
                  <a:pt x="1114226" y="9965"/>
                </a:cubicBezTo>
                <a:cubicBezTo>
                  <a:pt x="1125707" y="15538"/>
                  <a:pt x="1133857" y="22921"/>
                  <a:pt x="1138677" y="32115"/>
                </a:cubicBezTo>
                <a:cubicBezTo>
                  <a:pt x="1143498" y="41308"/>
                  <a:pt x="1145837" y="51413"/>
                  <a:pt x="1145696" y="62428"/>
                </a:cubicBezTo>
                <a:cubicBezTo>
                  <a:pt x="1145540" y="83283"/>
                  <a:pt x="1138876" y="99373"/>
                  <a:pt x="1125704" y="110698"/>
                </a:cubicBezTo>
                <a:cubicBezTo>
                  <a:pt x="1112531" y="122023"/>
                  <a:pt x="1093783" y="127755"/>
                  <a:pt x="1069458" y="127893"/>
                </a:cubicBezTo>
                <a:lnTo>
                  <a:pt x="1046255" y="127893"/>
                </a:lnTo>
                <a:lnTo>
                  <a:pt x="1046255" y="195292"/>
                </a:lnTo>
                <a:lnTo>
                  <a:pt x="1015317" y="195292"/>
                </a:lnTo>
                <a:lnTo>
                  <a:pt x="1015317" y="6906"/>
                </a:lnTo>
                <a:cubicBezTo>
                  <a:pt x="1022298" y="5347"/>
                  <a:pt x="1030435" y="4046"/>
                  <a:pt x="1039729" y="3005"/>
                </a:cubicBezTo>
                <a:cubicBezTo>
                  <a:pt x="1049023" y="1963"/>
                  <a:pt x="1058196" y="1422"/>
                  <a:pt x="1067248" y="1382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7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5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80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2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1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9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2" y="77511"/>
                  <a:pt x="1853" y="66059"/>
                  <a:pt x="1658" y="51655"/>
                </a:cubicBezTo>
                <a:cubicBezTo>
                  <a:pt x="1635" y="35726"/>
                  <a:pt x="7136" y="23181"/>
                  <a:pt x="18162" y="14019"/>
                </a:cubicBezTo>
                <a:cubicBezTo>
                  <a:pt x="29188" y="4858"/>
                  <a:pt x="45876" y="185"/>
                  <a:pt x="68228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2200" noProof="0" dirty="0">
              <a:solidFill>
                <a:srgbClr val="FF0000"/>
              </a:solidFill>
              <a:latin typeface="Santander Logo" panose="020B05040202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04BC-8386-44C9-8EDD-C4C6F27A04B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E9BC-595C-42CD-BB02-30E85BD76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5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40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51" r:id="rId4"/>
    <p:sldLayoutId id="2147483652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blog/2020/03/25/liveness-and-readiness-probes-with-spring-boot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ci.gsnet.corp/pages/viewpage.action?pageId=212378538" TargetMode="External"/><Relationship Id="rId2" Type="http://schemas.openxmlformats.org/officeDocument/2006/relationships/hyperlink" Target="https://www.slf4j.org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paas-pro.logs.global.ccc.srvb.can.paas.cloudcenter.corp/login?next=%2F#?_g=()" TargetMode="External"/><Relationship Id="rId4" Type="http://schemas.openxmlformats.org/officeDocument/2006/relationships/hyperlink" Target="https://paas.logging.ccc.pre.cn.paas.cloudcenter.corp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ci.gsnet.corp/pages/viewpage.action?pageId=212378538" TargetMode="External"/><Relationship Id="rId2" Type="http://schemas.openxmlformats.org/officeDocument/2006/relationships/hyperlink" Target="https://www.slf4j.org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aas-pro.logs.global.ccc.weu.azure.paas.cloudcenter.corp/" TargetMode="External"/><Relationship Id="rId5" Type="http://schemas.openxmlformats.org/officeDocument/2006/relationships/hyperlink" Target="https://paas-pre.logs.global.ccc.weu.azure.paas.cloudcenter.corp/" TargetMode="External"/><Relationship Id="rId4" Type="http://schemas.openxmlformats.org/officeDocument/2006/relationships/hyperlink" Target="https://paas-dev.logs.global.ccc.weu.azure.paas.cloudcenter.corp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3" y="1096484"/>
            <a:ext cx="7794459" cy="1711109"/>
          </a:xfrm>
        </p:spPr>
        <p:txBody>
          <a:bodyPr>
            <a:normAutofit/>
          </a:bodyPr>
          <a:lstStyle/>
          <a:p>
            <a:r>
              <a:rPr lang="pt-PT" dirty="0"/>
              <a:t>Contratação Automática </a:t>
            </a:r>
            <a:r>
              <a:rPr lang="pt-PT" dirty="0" err="1"/>
              <a:t>Mifid</a:t>
            </a:r>
            <a:endParaRPr lang="pt-PT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519822"/>
          </a:xfrm>
        </p:spPr>
        <p:txBody>
          <a:bodyPr/>
          <a:lstStyle/>
          <a:p>
            <a:r>
              <a:rPr lang="pt-PT" dirty="0"/>
              <a:t>Conceptualização da solução</a:t>
            </a:r>
            <a:br>
              <a:rPr lang="pt-PT" dirty="0"/>
            </a:br>
            <a:r>
              <a:rPr lang="pt-PT" dirty="0"/>
              <a:t>Desenho técnico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619386"/>
          </a:xfrm>
        </p:spPr>
        <p:txBody>
          <a:bodyPr/>
          <a:lstStyle/>
          <a:p>
            <a:r>
              <a:rPr lang="pt-PT" dirty="0"/>
              <a:t>Arquitectura Portugal</a:t>
            </a:r>
          </a:p>
          <a:p>
            <a:r>
              <a:rPr lang="pt-PT" dirty="0"/>
              <a:t>Lisboa, </a:t>
            </a:r>
            <a:r>
              <a:rPr lang="pt-PT" dirty="0" smtClean="0"/>
              <a:t>Julho 2024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 dirty="0"/>
              <a:t>Controlo de alterações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6861" y="6514400"/>
            <a:ext cx="2743200" cy="365125"/>
          </a:xfrm>
        </p:spPr>
        <p:txBody>
          <a:bodyPr/>
          <a:lstStyle/>
          <a:p>
            <a:fld id="{BC0D97B6-E32F-4D7D-B839-7C3B51F2640F}" type="slidenum">
              <a:rPr lang="pt-PT" smtClean="0"/>
              <a:pPr/>
              <a:t>2</a:t>
            </a:fld>
            <a:endParaRPr lang="pt-PT" dirty="0"/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191124"/>
              </p:ext>
            </p:extLst>
          </p:nvPr>
        </p:nvGraphicFramePr>
        <p:xfrm>
          <a:off x="869324" y="907025"/>
          <a:ext cx="10477548" cy="1299983"/>
        </p:xfrm>
        <a:graphic>
          <a:graphicData uri="http://schemas.openxmlformats.org/drawingml/2006/table">
            <a:tbl>
              <a:tblPr/>
              <a:tblGrid>
                <a:gridCol w="14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3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Versão</a:t>
                      </a: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pt-PT" sz="13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Descrição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Autor</a:t>
                      </a:r>
                      <a:endParaRPr kumimoji="0" lang="pt-PT" sz="13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V1.0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2022-08-09</a:t>
                      </a:r>
                      <a:endParaRPr kumimoji="0" lang="pt-PT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Versão Inicial do documento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 Portugal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V2.0</a:t>
                      </a:r>
                      <a:endParaRPr kumimoji="0" lang="pt-PT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2024-07-29</a:t>
                      </a:r>
                      <a:endParaRPr kumimoji="0" lang="pt-PT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Alteração DT</a:t>
                      </a: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4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Portugal</a:t>
                      </a:r>
                      <a:br>
                        <a:rPr kumimoji="0" lang="pt-PT" sz="14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pt-PT" sz="14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Marcus Laprano</a:t>
                      </a: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526022"/>
                  </a:ext>
                </a:extLst>
              </a:tr>
            </a:tbl>
          </a:graphicData>
        </a:graphic>
      </p:graphicFrame>
      <p:sp>
        <p:nvSpPr>
          <p:cNvPr id="11" name="Rectangle 36"/>
          <p:cNvSpPr>
            <a:spLocks noChangeArrowheads="1"/>
          </p:cNvSpPr>
          <p:nvPr/>
        </p:nvSpPr>
        <p:spPr bwMode="auto">
          <a:xfrm>
            <a:off x="9343986" y="5612924"/>
            <a:ext cx="1870363" cy="10412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endParaRPr lang="pt-PT" altLang="pt-PT" sz="1400" b="0" u="none" dirty="0">
              <a:latin typeface="Calibri" pitchFamily="34" charset="0"/>
            </a:endParaRPr>
          </a:p>
        </p:txBody>
      </p:sp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9633758" y="5766537"/>
            <a:ext cx="1580592" cy="638523"/>
            <a:chOff x="7240430" y="340916"/>
            <a:chExt cx="1581254" cy="638893"/>
          </a:xfrm>
        </p:grpSpPr>
        <p:sp>
          <p:nvSpPr>
            <p:cNvPr id="13" name="TextBox 1"/>
            <p:cNvSpPr txBox="1">
              <a:spLocks noChangeArrowheads="1"/>
            </p:cNvSpPr>
            <p:nvPr/>
          </p:nvSpPr>
          <p:spPr bwMode="auto">
            <a:xfrm>
              <a:off x="7530307" y="379297"/>
              <a:ext cx="1291377" cy="60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pt-PT" altLang="pt-PT" sz="1100" u="none" dirty="0"/>
                <a:t>Slide novo</a:t>
              </a:r>
            </a:p>
            <a:p>
              <a:pPr eaLnBrk="1" hangingPunct="1"/>
              <a:endParaRPr lang="pt-PT" altLang="pt-PT" sz="1100" u="none" dirty="0"/>
            </a:p>
            <a:p>
              <a:pPr eaLnBrk="1" hangingPunct="1"/>
              <a:r>
                <a:rPr lang="pt-PT" altLang="pt-PT" sz="1100" u="none" dirty="0"/>
                <a:t>Slide modificado</a:t>
              </a:r>
            </a:p>
          </p:txBody>
        </p:sp>
        <p:sp>
          <p:nvSpPr>
            <p:cNvPr id="14" name="AutoShape 38"/>
            <p:cNvSpPr>
              <a:spLocks noChangeArrowheads="1"/>
            </p:cNvSpPr>
            <p:nvPr/>
          </p:nvSpPr>
          <p:spPr bwMode="auto">
            <a:xfrm>
              <a:off x="7240430" y="679754"/>
              <a:ext cx="349250" cy="290512"/>
            </a:xfrm>
            <a:prstGeom prst="star8">
              <a:avLst>
                <a:gd name="adj" fmla="val 38250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pt-PT" altLang="pt-PT" sz="900" b="1" u="none" dirty="0"/>
                <a:t>M</a:t>
              </a:r>
            </a:p>
          </p:txBody>
        </p:sp>
        <p:sp>
          <p:nvSpPr>
            <p:cNvPr id="15" name="AutoShape 35"/>
            <p:cNvSpPr>
              <a:spLocks noChangeArrowheads="1"/>
            </p:cNvSpPr>
            <p:nvPr/>
          </p:nvSpPr>
          <p:spPr bwMode="auto">
            <a:xfrm>
              <a:off x="7240430" y="340916"/>
              <a:ext cx="349250" cy="290512"/>
            </a:xfrm>
            <a:prstGeom prst="star8">
              <a:avLst>
                <a:gd name="adj" fmla="val 3825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pt-PT" altLang="pt-PT" sz="900" b="1" u="none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80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 dirty="0"/>
              <a:t>Glossário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graphicFrame>
        <p:nvGraphicFramePr>
          <p:cNvPr id="16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93667"/>
              </p:ext>
            </p:extLst>
          </p:nvPr>
        </p:nvGraphicFramePr>
        <p:xfrm>
          <a:off x="1365869" y="1077808"/>
          <a:ext cx="4025900" cy="4158480"/>
        </p:xfrm>
        <a:graphic>
          <a:graphicData uri="http://schemas.openxmlformats.org/drawingml/2006/table">
            <a:tbl>
              <a:tblPr/>
              <a:tblGrid>
                <a:gridCol w="90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en-GB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en-GB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7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94374"/>
              </p:ext>
            </p:extLst>
          </p:nvPr>
        </p:nvGraphicFramePr>
        <p:xfrm>
          <a:off x="5848067" y="1077808"/>
          <a:ext cx="4025900" cy="4104846"/>
        </p:xfrm>
        <a:graphic>
          <a:graphicData uri="http://schemas.openxmlformats.org/drawingml/2006/table">
            <a:tbl>
              <a:tblPr/>
              <a:tblGrid>
                <a:gridCol w="90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91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Necessidades e proposta de solução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341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Objectivos e alcance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77105" y="832513"/>
            <a:ext cx="11078158" cy="4992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350" dirty="0">
                <a:solidFill>
                  <a:schemeClr val="tx1"/>
                </a:solidFill>
              </a:rPr>
              <a:t>Este projeto pretende dotar o </a:t>
            </a:r>
            <a:r>
              <a:rPr lang="pt-PT" altLang="es-ES" sz="1350" dirty="0" err="1">
                <a:solidFill>
                  <a:schemeClr val="tx1"/>
                </a:solidFill>
              </a:rPr>
              <a:t>private</a:t>
            </a:r>
            <a:r>
              <a:rPr lang="pt-PT" altLang="es-ES" sz="1350" dirty="0">
                <a:solidFill>
                  <a:schemeClr val="tx1"/>
                </a:solidFill>
              </a:rPr>
              <a:t> de um </a:t>
            </a:r>
            <a:r>
              <a:rPr lang="pt-PT" altLang="es-ES" sz="1350" dirty="0" err="1">
                <a:solidFill>
                  <a:schemeClr val="tx1"/>
                </a:solidFill>
              </a:rPr>
              <a:t>Front</a:t>
            </a:r>
            <a:r>
              <a:rPr lang="pt-PT" altLang="es-ES" sz="1350" dirty="0">
                <a:solidFill>
                  <a:schemeClr val="tx1"/>
                </a:solidFill>
              </a:rPr>
              <a:t> para contratação de produtos financeiros.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endParaRPr lang="pt-PT" sz="1350" dirty="0">
              <a:solidFill>
                <a:schemeClr val="tx1"/>
              </a:solidFill>
            </a:endParaRP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 err="1">
                <a:solidFill>
                  <a:schemeClr val="tx1"/>
                </a:solidFill>
              </a:rPr>
              <a:t>Microserviços</a:t>
            </a:r>
            <a:r>
              <a:rPr lang="pt-PT" sz="1350" dirty="0">
                <a:solidFill>
                  <a:schemeClr val="tx1"/>
                </a:solidFill>
              </a:rPr>
              <a:t> em </a:t>
            </a:r>
            <a:r>
              <a:rPr lang="pt-PT" sz="1350" dirty="0" err="1">
                <a:solidFill>
                  <a:schemeClr val="tx1"/>
                </a:solidFill>
              </a:rPr>
              <a:t>Springboot</a:t>
            </a:r>
            <a:r>
              <a:rPr lang="pt-PT" sz="1350" dirty="0">
                <a:solidFill>
                  <a:schemeClr val="tx1"/>
                </a:solidFill>
              </a:rPr>
              <a:t> para manutenção dos recursos necessários para desenvolvimento das regras de negócio da aplicação</a:t>
            </a: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>
                <a:solidFill>
                  <a:schemeClr val="tx1"/>
                </a:solidFill>
              </a:rPr>
              <a:t>Exposição de </a:t>
            </a:r>
            <a:r>
              <a:rPr lang="pt-PT" sz="1350" dirty="0" err="1">
                <a:solidFill>
                  <a:schemeClr val="tx1"/>
                </a:solidFill>
              </a:rPr>
              <a:t>API’s</a:t>
            </a:r>
            <a:r>
              <a:rPr lang="pt-PT" sz="1350" dirty="0">
                <a:solidFill>
                  <a:schemeClr val="tx1"/>
                </a:solidFill>
              </a:rPr>
              <a:t> para serem consumidas pelos diversos canais</a:t>
            </a: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 err="1">
                <a:solidFill>
                  <a:schemeClr val="tx1"/>
                </a:solidFill>
              </a:rPr>
              <a:t>Front-end</a:t>
            </a:r>
            <a:r>
              <a:rPr lang="pt-PT" sz="1350" dirty="0">
                <a:solidFill>
                  <a:schemeClr val="tx1"/>
                </a:solidFill>
              </a:rPr>
              <a:t> para a nova operativa</a:t>
            </a:r>
          </a:p>
        </p:txBody>
      </p:sp>
    </p:spTree>
    <p:extLst>
      <p:ext uri="{BB962C8B-B14F-4D97-AF65-F5344CB8AC3E}">
        <p14:creationId xmlns:p14="http://schemas.microsoft.com/office/powerpoint/2010/main" val="10505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Requisitos gerais da solução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77104" y="818876"/>
            <a:ext cx="11300913" cy="5755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550" i="1" dirty="0">
                <a:solidFill>
                  <a:schemeClr val="tx1"/>
                </a:solidFill>
              </a:rPr>
              <a:t>Para dotar de uma solução e plataforma técnica </a:t>
            </a:r>
            <a:r>
              <a:rPr lang="pt-PT" sz="1550" i="1" dirty="0">
                <a:solidFill>
                  <a:schemeClr val="tx1"/>
                </a:solidFill>
              </a:rPr>
              <a:t>as necessidades deste ecossistema dividem-se em:</a:t>
            </a:r>
            <a:endParaRPr lang="pt-PT" altLang="es-ES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550" i="1" dirty="0" err="1">
                <a:solidFill>
                  <a:schemeClr val="tx1"/>
                </a:solidFill>
              </a:rPr>
              <a:t>Microserviços</a:t>
            </a:r>
            <a:r>
              <a:rPr lang="pt-PT" sz="1550" i="1" dirty="0">
                <a:solidFill>
                  <a:schemeClr val="tx1"/>
                </a:solidFill>
              </a:rPr>
              <a:t> </a:t>
            </a:r>
            <a:r>
              <a:rPr lang="pt-PT" sz="1550" i="1" dirty="0" err="1">
                <a:solidFill>
                  <a:schemeClr val="tx1"/>
                </a:solidFill>
              </a:rPr>
              <a:t>Springboot</a:t>
            </a:r>
            <a:endParaRPr lang="pt-PT" sz="155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Os Microserviços são </a:t>
            </a:r>
            <a:r>
              <a:rPr lang="pt-PT" sz="1200" i="1" dirty="0" err="1">
                <a:solidFill>
                  <a:schemeClr val="tx1"/>
                </a:solidFill>
              </a:rPr>
              <a:t>deployed</a:t>
            </a:r>
            <a:r>
              <a:rPr lang="pt-PT" sz="1200" i="1" dirty="0">
                <a:solidFill>
                  <a:schemeClr val="tx1"/>
                </a:solidFill>
              </a:rPr>
              <a:t> em imagens Docker Corporativas com JRE 11 (ou Java8)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 orquestrador que é usado é </a:t>
            </a:r>
            <a:r>
              <a:rPr lang="pt-PT" sz="1200" i="1" dirty="0" err="1">
                <a:solidFill>
                  <a:schemeClr val="tx1"/>
                </a:solidFill>
              </a:rPr>
              <a:t>Openshift</a:t>
            </a:r>
            <a:r>
              <a:rPr lang="pt-PT" sz="1200" i="1" dirty="0">
                <a:solidFill>
                  <a:schemeClr val="tx1"/>
                </a:solidFill>
              </a:rPr>
              <a:t> do </a:t>
            </a:r>
            <a:r>
              <a:rPr lang="pt-PT" sz="1200" i="1" dirty="0" err="1">
                <a:solidFill>
                  <a:schemeClr val="tx1"/>
                </a:solidFill>
              </a:rPr>
              <a:t>PaaS</a:t>
            </a:r>
            <a:r>
              <a:rPr lang="pt-PT" sz="1200" i="1" dirty="0">
                <a:solidFill>
                  <a:schemeClr val="tx1"/>
                </a:solidFill>
              </a:rPr>
              <a:t> 2.0.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 BSP tem pipelines de CI/CD que fazem o </a:t>
            </a:r>
            <a:r>
              <a:rPr lang="pt-PT" sz="1200" i="1" dirty="0" err="1">
                <a:solidFill>
                  <a:schemeClr val="tx1"/>
                </a:solidFill>
              </a:rPr>
              <a:t>build</a:t>
            </a:r>
            <a:r>
              <a:rPr lang="pt-PT" sz="1200" i="1" dirty="0">
                <a:solidFill>
                  <a:schemeClr val="tx1"/>
                </a:solidFill>
              </a:rPr>
              <a:t> da imagem e o </a:t>
            </a:r>
            <a:r>
              <a:rPr lang="pt-PT" sz="1200" i="1" dirty="0" err="1">
                <a:solidFill>
                  <a:schemeClr val="tx1"/>
                </a:solidFill>
              </a:rPr>
              <a:t>deploy</a:t>
            </a:r>
            <a:r>
              <a:rPr lang="pt-PT" sz="1200" i="1" dirty="0">
                <a:solidFill>
                  <a:schemeClr val="tx1"/>
                </a:solidFill>
              </a:rPr>
              <a:t> da mesma no Openshift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Todos os Microserviços que expõem serviços REST, deverão receber e validar </a:t>
            </a:r>
            <a:r>
              <a:rPr lang="pt-PT" sz="1200" i="1" dirty="0" err="1">
                <a:solidFill>
                  <a:schemeClr val="tx1"/>
                </a:solidFill>
              </a:rPr>
              <a:t>token</a:t>
            </a:r>
            <a:r>
              <a:rPr lang="pt-PT" sz="1200" i="1" dirty="0">
                <a:solidFill>
                  <a:schemeClr val="tx1"/>
                </a:solidFill>
              </a:rPr>
              <a:t> JWT, embora a maioria dos serviços devam ser integrados por eventos. </a:t>
            </a: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Em produção, cada micro-serviço é um POD lançado com 2 replicas - todos os serviços estão preparados para correr com múltiplas instâncias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As configurações/propriedades devem estar fora das imagens e residem ou no </a:t>
            </a:r>
            <a:r>
              <a:rPr lang="pt-PT" sz="1200" i="1" dirty="0" err="1">
                <a:solidFill>
                  <a:schemeClr val="tx1"/>
                </a:solidFill>
              </a:rPr>
              <a:t>Config</a:t>
            </a:r>
            <a:r>
              <a:rPr lang="pt-PT" sz="1200" i="1" dirty="0">
                <a:solidFill>
                  <a:schemeClr val="tx1"/>
                </a:solidFill>
              </a:rPr>
              <a:t> Server ou num </a:t>
            </a:r>
            <a:r>
              <a:rPr lang="pt-PT" sz="1200" i="1" dirty="0" err="1">
                <a:solidFill>
                  <a:schemeClr val="tx1"/>
                </a:solidFill>
              </a:rPr>
              <a:t>Config</a:t>
            </a:r>
            <a:r>
              <a:rPr lang="pt-PT" sz="1200" i="1" dirty="0">
                <a:solidFill>
                  <a:schemeClr val="tx1"/>
                </a:solidFill>
              </a:rPr>
              <a:t> </a:t>
            </a:r>
            <a:r>
              <a:rPr lang="pt-PT" sz="1200" i="1" dirty="0" err="1">
                <a:solidFill>
                  <a:schemeClr val="tx1"/>
                </a:solidFill>
              </a:rPr>
              <a:t>Map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Todas as </a:t>
            </a:r>
            <a:r>
              <a:rPr lang="pt-PT" sz="1200" i="1" dirty="0" err="1">
                <a:solidFill>
                  <a:schemeClr val="tx1"/>
                </a:solidFill>
              </a:rPr>
              <a:t>libs</a:t>
            </a:r>
            <a:r>
              <a:rPr lang="pt-PT" sz="1200" i="1" dirty="0">
                <a:solidFill>
                  <a:schemeClr val="tx1"/>
                </a:solidFill>
              </a:rPr>
              <a:t> de terceiros utilizadas deverão estar livres de vulnerabilidades identificadas</a:t>
            </a: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Todo o código será sujeito á execução do Sonar </a:t>
            </a:r>
            <a:r>
              <a:rPr lang="pt-PT" sz="1200" i="1" dirty="0" err="1">
                <a:solidFill>
                  <a:schemeClr val="tx1"/>
                </a:solidFill>
              </a:rPr>
              <a:t>Qube</a:t>
            </a:r>
            <a:r>
              <a:rPr lang="pt-PT" sz="1200" i="1" dirty="0">
                <a:solidFill>
                  <a:schemeClr val="tx1"/>
                </a:solidFill>
              </a:rPr>
              <a:t> nos pipelines</a:t>
            </a:r>
            <a:endParaRPr lang="pt-PT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>
                <a:solidFill>
                  <a:schemeClr val="tx1"/>
                </a:solidFill>
              </a:rPr>
              <a:t>Exposição de </a:t>
            </a:r>
            <a:r>
              <a:rPr lang="pt-PT" altLang="es-ES" sz="1550" i="1" dirty="0" err="1">
                <a:solidFill>
                  <a:schemeClr val="tx1"/>
                </a:solidFill>
              </a:rPr>
              <a:t>API’s</a:t>
            </a:r>
            <a:r>
              <a:rPr lang="pt-PT" altLang="es-ES" sz="1550" i="1" dirty="0">
                <a:solidFill>
                  <a:schemeClr val="tx1"/>
                </a:solidFill>
              </a:rPr>
              <a:t> em </a:t>
            </a:r>
            <a:r>
              <a:rPr lang="pt-PT" altLang="es-ES" sz="1550" i="1" dirty="0" err="1">
                <a:solidFill>
                  <a:schemeClr val="tx1"/>
                </a:solidFill>
              </a:rPr>
              <a:t>gateway</a:t>
            </a:r>
            <a:endParaRPr lang="pt-PT" altLang="es-ES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 err="1">
                <a:solidFill>
                  <a:schemeClr val="tx1"/>
                </a:solidFill>
              </a:rPr>
              <a:t>Front-end</a:t>
            </a:r>
            <a:r>
              <a:rPr lang="pt-PT" altLang="es-ES" sz="1550" i="1" dirty="0">
                <a:solidFill>
                  <a:schemeClr val="tx1"/>
                </a:solidFill>
              </a:rPr>
              <a:t> Angular 12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>
                <a:solidFill>
                  <a:schemeClr val="tx1"/>
                </a:solidFill>
              </a:rPr>
              <a:t>Depende dos serviços/</a:t>
            </a:r>
            <a:r>
              <a:rPr lang="pt-PT" altLang="es-ES" sz="1550" i="1" dirty="0" err="1">
                <a:solidFill>
                  <a:schemeClr val="tx1"/>
                </a:solidFill>
              </a:rPr>
              <a:t>Stack</a:t>
            </a:r>
            <a:r>
              <a:rPr lang="pt-PT" altLang="es-ES" sz="1550" i="1" dirty="0">
                <a:solidFill>
                  <a:schemeClr val="tx1"/>
                </a:solidFill>
              </a:rPr>
              <a:t> Core: </a:t>
            </a:r>
            <a:r>
              <a:rPr lang="pt-PT" altLang="es-ES" sz="1550" i="1" dirty="0" err="1">
                <a:solidFill>
                  <a:schemeClr val="tx1"/>
                </a:solidFill>
              </a:rPr>
              <a:t>Security-Service</a:t>
            </a:r>
            <a:r>
              <a:rPr lang="pt-PT" altLang="es-ES" sz="1550" i="1" dirty="0">
                <a:solidFill>
                  <a:schemeClr val="tx1"/>
                </a:solidFill>
              </a:rPr>
              <a:t>, API </a:t>
            </a:r>
            <a:r>
              <a:rPr lang="pt-PT" altLang="es-ES" sz="1550" i="1" dirty="0" err="1">
                <a:solidFill>
                  <a:schemeClr val="tx1"/>
                </a:solidFill>
              </a:rPr>
              <a:t>Connect</a:t>
            </a:r>
            <a:endParaRPr lang="pt-PT" altLang="es-ES" sz="155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86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Informação do projecto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827830"/>
            <a:ext cx="5274339" cy="433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l" eaLnBrk="1" hangingPunct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dirty="0">
                <a:solidFill>
                  <a:schemeClr val="accent1"/>
                </a:solidFill>
                <a:latin typeface="+mn-lt"/>
              </a:rPr>
              <a:t>Generalidades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Entidade</a:t>
            </a:r>
            <a:r>
              <a:rPr lang="pt-PT" sz="1200" b="0" i="1" dirty="0">
                <a:solidFill>
                  <a:schemeClr val="tx1"/>
                </a:solidFill>
              </a:rPr>
              <a:t>: Santander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Alcance</a:t>
            </a:r>
            <a:r>
              <a:rPr lang="pt-PT" sz="1200" b="0" i="1" dirty="0">
                <a:solidFill>
                  <a:schemeClr val="tx1"/>
                </a:solidFill>
              </a:rPr>
              <a:t> : Local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Ambiente</a:t>
            </a:r>
            <a:r>
              <a:rPr lang="pt-PT" sz="1200" b="0" i="1" dirty="0">
                <a:solidFill>
                  <a:schemeClr val="tx1"/>
                </a:solidFill>
              </a:rPr>
              <a:t>: Intranet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CIO:  </a:t>
            </a:r>
            <a:r>
              <a:rPr lang="en-US" sz="1200" dirty="0">
                <a:solidFill>
                  <a:schemeClr val="tx1"/>
                </a:solidFill>
              </a:rPr>
              <a:t>João Eduardo Amorim Penas</a:t>
            </a:r>
            <a:endParaRPr lang="pt-PT" sz="1200" i="1" dirty="0">
              <a:solidFill>
                <a:schemeClr val="tx1"/>
              </a:solidFill>
            </a:endParaRPr>
          </a:p>
          <a:p>
            <a:pPr lvl="1" algn="l" eaLnBrk="1" hangingPunct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dirty="0">
                <a:solidFill>
                  <a:srgbClr val="FF0000"/>
                </a:solidFill>
              </a:rPr>
              <a:t>Ambientes requeridos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Produção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Pré-produção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7105" y="5160148"/>
            <a:ext cx="10992653" cy="1166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lnSpc>
                <a:spcPct val="150000"/>
              </a:lnSpc>
              <a:buClr>
                <a:srgbClr val="FF0000"/>
              </a:buClr>
              <a:buNone/>
              <a:defRPr/>
            </a:pPr>
            <a:r>
              <a:rPr lang="pt-PT" altLang="es-ES" sz="1200" dirty="0">
                <a:solidFill>
                  <a:srgbClr val="FF0000"/>
                </a:solidFill>
              </a:rPr>
              <a:t>Notas</a:t>
            </a:r>
            <a:endParaRPr lang="pt-PT" sz="1050" i="1" dirty="0"/>
          </a:p>
          <a:p>
            <a:pPr marL="800100" lvl="2" algn="just" fontAlgn="base">
              <a:lnSpc>
                <a:spcPct val="150000"/>
              </a:lnSpc>
              <a:spcAft>
                <a:spcPct val="0"/>
              </a:spcAft>
              <a:buClr>
                <a:srgbClr val="FF0000"/>
              </a:buClr>
              <a:buSzPct val="155000"/>
              <a:buFont typeface="Wingdings" pitchFamily="2" charset="2"/>
              <a:buChar char="§"/>
              <a:defRPr/>
            </a:pPr>
            <a:r>
              <a:rPr lang="pt-PT" altLang="es-ES" sz="1100" i="1" dirty="0"/>
              <a:t>Dada a metodologia ágil a aplicar neste projecto (requisitos detalhados a cada sprint), este documento de desenho técnico será actualizado em conformidade ao longo dos diversos sprints sempre que se justifique, sendo que a na primeira versão será identificada a arquitectura técnica macro e os requisitos de mínimos para a dotação da infra-estrutura necessária para o projecto.</a:t>
            </a:r>
          </a:p>
        </p:txBody>
      </p:sp>
    </p:spTree>
    <p:extLst>
      <p:ext uri="{BB962C8B-B14F-4D97-AF65-F5344CB8AC3E}">
        <p14:creationId xmlns:p14="http://schemas.microsoft.com/office/powerpoint/2010/main" val="133720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técnica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71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lowchart: Magnetic Disk 18"/>
          <p:cNvSpPr/>
          <p:nvPr/>
        </p:nvSpPr>
        <p:spPr>
          <a:xfrm>
            <a:off x="3917124" y="5862438"/>
            <a:ext cx="856649" cy="938586"/>
          </a:xfrm>
          <a:prstGeom prst="flowChartMagneticDisk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PT" sz="900" dirty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45" name="Group 144"/>
          <p:cNvGrpSpPr/>
          <p:nvPr/>
        </p:nvGrpSpPr>
        <p:grpSpPr>
          <a:xfrm>
            <a:off x="1031569" y="1107539"/>
            <a:ext cx="1225060" cy="998975"/>
            <a:chOff x="2949073" y="839047"/>
            <a:chExt cx="799674" cy="649526"/>
          </a:xfrm>
        </p:grpSpPr>
        <p:pic>
          <p:nvPicPr>
            <p:cNvPr id="146" name="Picture 1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3602" y="839047"/>
              <a:ext cx="717821" cy="649526"/>
            </a:xfrm>
            <a:prstGeom prst="rect">
              <a:avLst/>
            </a:prstGeom>
          </p:spPr>
        </p:pic>
        <p:sp>
          <p:nvSpPr>
            <p:cNvPr id="147" name="Rectangle 2"/>
            <p:cNvSpPr>
              <a:spLocks noChangeArrowheads="1"/>
            </p:cNvSpPr>
            <p:nvPr/>
          </p:nvSpPr>
          <p:spPr bwMode="auto">
            <a:xfrm>
              <a:off x="2949073" y="1025984"/>
              <a:ext cx="799674" cy="295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anchor="t" anchorCtr="1"/>
            <a:lstStyle/>
            <a:p>
              <a:endParaRPr lang="pt-PT" sz="1000" dirty="0"/>
            </a:p>
          </p:txBody>
        </p:sp>
      </p:grpSp>
      <p:sp>
        <p:nvSpPr>
          <p:cNvPr id="74" name="Rectangle 12"/>
          <p:cNvSpPr>
            <a:spLocks noChangeArrowheads="1"/>
          </p:cNvSpPr>
          <p:nvPr/>
        </p:nvSpPr>
        <p:spPr bwMode="auto">
          <a:xfrm>
            <a:off x="4696118" y="96516"/>
            <a:ext cx="3155029" cy="4009658"/>
          </a:xfrm>
          <a:prstGeom prst="rect">
            <a:avLst/>
          </a:prstGeom>
          <a:noFill/>
          <a:ln w="9525" cap="rnd">
            <a:solidFill>
              <a:srgbClr val="00B050"/>
            </a:solidFill>
            <a:prstDash val="sysDot"/>
            <a:miter lim="800000"/>
            <a:headEnd/>
            <a:tailEnd/>
          </a:ln>
        </p:spPr>
        <p:txBody>
          <a:bodyPr anchor="t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PT" sz="1100" b="1" dirty="0" err="1">
                <a:latin typeface="Arial" charset="0"/>
              </a:rPr>
              <a:t>Namespace</a:t>
            </a:r>
            <a:r>
              <a:rPr lang="pt-PT" sz="1100" b="1" dirty="0">
                <a:latin typeface="Arial" charset="0"/>
              </a:rPr>
              <a:t> </a:t>
            </a:r>
            <a:r>
              <a:rPr lang="pt-PT" sz="1100" dirty="0" err="1">
                <a:latin typeface="Santander Text" panose="020B0504020201020104" pitchFamily="34" charset="0"/>
              </a:rPr>
              <a:t>tot-savingsinvestment-spirithelper</a:t>
            </a:r>
            <a:endParaRPr lang="pt-PT" sz="1200" b="1" dirty="0">
              <a:latin typeface="Arial" charset="0"/>
            </a:endParaRPr>
          </a:p>
        </p:txBody>
      </p:sp>
      <p:pic>
        <p:nvPicPr>
          <p:cNvPr id="7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330" y="455495"/>
            <a:ext cx="744846" cy="2130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143" name="Rectangle 12"/>
          <p:cNvSpPr>
            <a:spLocks noChangeArrowheads="1"/>
          </p:cNvSpPr>
          <p:nvPr/>
        </p:nvSpPr>
        <p:spPr bwMode="auto">
          <a:xfrm>
            <a:off x="4978644" y="501198"/>
            <a:ext cx="982131" cy="685441"/>
          </a:xfrm>
          <a:prstGeom prst="pentagon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b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 smtClean="0">
                <a:latin typeface="Arial" charset="0"/>
              </a:rPr>
              <a:t>Private</a:t>
            </a:r>
            <a:r>
              <a:rPr lang="pt-PT" sz="900" dirty="0" smtClean="0">
                <a:latin typeface="Arial" charset="0"/>
              </a:rPr>
              <a:t> </a:t>
            </a:r>
            <a:br>
              <a:rPr lang="pt-PT" sz="900" dirty="0" smtClean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[Nginx]</a:t>
            </a:r>
          </a:p>
        </p:txBody>
      </p:sp>
      <p:pic>
        <p:nvPicPr>
          <p:cNvPr id="148" name="Picture 2" descr="C:\Users\i090064\AppData\Local\Microsoft\Windows\Temporary Internet Files\Content.IE5\GAF0PWD6\User_icon_2.svg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80" y="1166628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1" name="Group 150"/>
          <p:cNvGrpSpPr/>
          <p:nvPr/>
        </p:nvGrpSpPr>
        <p:grpSpPr>
          <a:xfrm>
            <a:off x="10624169" y="142091"/>
            <a:ext cx="1548380" cy="2005691"/>
            <a:chOff x="10624169" y="142091"/>
            <a:chExt cx="1548380" cy="2005691"/>
          </a:xfrm>
        </p:grpSpPr>
        <p:sp>
          <p:nvSpPr>
            <p:cNvPr id="152" name="Rectangle 2"/>
            <p:cNvSpPr>
              <a:spLocks noChangeArrowheads="1"/>
            </p:cNvSpPr>
            <p:nvPr/>
          </p:nvSpPr>
          <p:spPr bwMode="auto">
            <a:xfrm>
              <a:off x="10724297" y="445930"/>
              <a:ext cx="310852" cy="220991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/>
              <a:r>
                <a:rPr lang="pt-PT" sz="800" b="0" u="none" dirty="0"/>
                <a:t>~</a:t>
              </a:r>
            </a:p>
          </p:txBody>
        </p:sp>
        <p:sp>
          <p:nvSpPr>
            <p:cNvPr id="153" name="Rectangle 2"/>
            <p:cNvSpPr>
              <a:spLocks noChangeArrowheads="1"/>
            </p:cNvSpPr>
            <p:nvPr/>
          </p:nvSpPr>
          <p:spPr bwMode="auto">
            <a:xfrm>
              <a:off x="10724297" y="731702"/>
              <a:ext cx="310852" cy="220991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12700" algn="ctr">
              <a:solidFill>
                <a:srgbClr val="C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>
                  <a:latin typeface="Arial" charset="0"/>
                </a:rPr>
                <a:t>~</a:t>
              </a:r>
            </a:p>
          </p:txBody>
        </p:sp>
        <p:sp>
          <p:nvSpPr>
            <p:cNvPr id="154" name="Rectangle 59"/>
            <p:cNvSpPr>
              <a:spLocks noChangeArrowheads="1"/>
            </p:cNvSpPr>
            <p:nvPr/>
          </p:nvSpPr>
          <p:spPr bwMode="auto">
            <a:xfrm>
              <a:off x="11109917" y="217711"/>
              <a:ext cx="1062632" cy="1220993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lIns="0" tIns="0" rIns="0" bIns="0" anchor="t"/>
            <a:lstStyle/>
            <a:p>
              <a:pPr algn="l">
                <a:defRPr/>
              </a:pPr>
              <a:r>
                <a:rPr lang="pt-PT" sz="800" b="0" dirty="0" err="1"/>
                <a:t>PaaS</a:t>
              </a:r>
              <a:r>
                <a:rPr lang="pt-PT" sz="800" b="0" dirty="0"/>
                <a:t> 2.0 Deployment</a:t>
              </a:r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r>
                <a:rPr lang="pt-PT" sz="800" b="0" dirty="0"/>
                <a:t>Existente</a:t>
              </a:r>
            </a:p>
            <a:p>
              <a:pPr algn="l">
                <a:defRPr/>
              </a:pPr>
              <a:endParaRPr lang="pt-PT" sz="800" b="0" u="none" dirty="0"/>
            </a:p>
            <a:p>
              <a:pPr algn="l">
                <a:defRPr/>
              </a:pPr>
              <a:r>
                <a:rPr lang="pt-PT" sz="800" b="0" dirty="0"/>
                <a:t>Novo</a:t>
              </a:r>
            </a:p>
            <a:p>
              <a:pPr algn="l">
                <a:defRPr/>
              </a:pPr>
              <a:endParaRPr lang="pt-PT" sz="800" u="none" dirty="0"/>
            </a:p>
            <a:p>
              <a:pPr algn="l">
                <a:defRPr/>
              </a:pPr>
              <a:r>
                <a:rPr lang="pt-PT" sz="800" b="0" dirty="0"/>
                <a:t>Spring Framework</a:t>
              </a:r>
            </a:p>
            <a:p>
              <a:pPr algn="l">
                <a:defRPr/>
              </a:pPr>
              <a:endParaRPr lang="pt-PT" sz="800" dirty="0"/>
            </a:p>
            <a:p>
              <a:pPr algn="l">
                <a:defRPr/>
              </a:pPr>
              <a:r>
                <a:rPr lang="pt-PT" sz="800" b="0" dirty="0"/>
                <a:t>Ecossistema</a:t>
              </a:r>
            </a:p>
            <a:p>
              <a:pPr algn="l">
                <a:defRPr/>
              </a:pPr>
              <a:endParaRPr lang="pt-PT" sz="800" dirty="0"/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r>
                <a:rPr lang="pt-PT" sz="800" dirty="0"/>
                <a:t>Internet</a:t>
              </a:r>
              <a:endParaRPr lang="pt-PT" sz="800" b="0" dirty="0"/>
            </a:p>
          </p:txBody>
        </p:sp>
        <p:cxnSp>
          <p:nvCxnSpPr>
            <p:cNvPr id="155" name="Straight Connector 154"/>
            <p:cNvCxnSpPr/>
            <p:nvPr/>
          </p:nvCxnSpPr>
          <p:spPr bwMode="auto">
            <a:xfrm>
              <a:off x="10624169" y="191016"/>
              <a:ext cx="0" cy="1956766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62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5639" y="1000887"/>
              <a:ext cx="248169" cy="248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6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700" b="1591"/>
            <a:stretch/>
          </p:blipFill>
          <p:spPr bwMode="auto">
            <a:xfrm>
              <a:off x="10746999" y="142091"/>
              <a:ext cx="288150" cy="267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8" name="Rectangle 2"/>
            <p:cNvSpPr>
              <a:spLocks noChangeArrowheads="1"/>
            </p:cNvSpPr>
            <p:nvPr/>
          </p:nvSpPr>
          <p:spPr bwMode="auto">
            <a:xfrm>
              <a:off x="10727163" y="1272407"/>
              <a:ext cx="310852" cy="220991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 w="12700" algn="ctr">
              <a:solidFill>
                <a:schemeClr val="tx2"/>
              </a:solidFill>
              <a:prstDash val="sysDash"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>
                  <a:solidFill>
                    <a:schemeClr val="bg1">
                      <a:lumMod val="50000"/>
                    </a:schemeClr>
                  </a:solidFill>
                  <a:latin typeface="Arial" charset="0"/>
                </a:rPr>
                <a:t>~</a:t>
              </a:r>
            </a:p>
          </p:txBody>
        </p:sp>
      </p:grpSp>
      <p:sp>
        <p:nvSpPr>
          <p:cNvPr id="84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 txBox="1">
            <a:spLocks/>
          </p:cNvSpPr>
          <p:nvPr/>
        </p:nvSpPr>
        <p:spPr>
          <a:xfrm>
            <a:off x="27484" y="132791"/>
            <a:ext cx="8190113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11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105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  <a:defRPr sz="1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dirty="0"/>
              <a:t>Arquitectura da Solução – </a:t>
            </a:r>
            <a:endParaRPr lang="pt-PT" dirty="0" smtClean="0"/>
          </a:p>
          <a:p>
            <a:r>
              <a:rPr lang="pt-PT" dirty="0" smtClean="0"/>
              <a:t>Contratação </a:t>
            </a:r>
            <a:r>
              <a:rPr lang="pt-PT" dirty="0"/>
              <a:t>Automática</a:t>
            </a:r>
          </a:p>
        </p:txBody>
      </p:sp>
      <p:sp>
        <p:nvSpPr>
          <p:cNvPr id="93" name="Rectangle 12"/>
          <p:cNvSpPr>
            <a:spLocks noChangeArrowheads="1"/>
          </p:cNvSpPr>
          <p:nvPr/>
        </p:nvSpPr>
        <p:spPr bwMode="auto">
          <a:xfrm>
            <a:off x="4899559" y="1545311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MS </a:t>
            </a:r>
            <a:br>
              <a:rPr lang="pt-PT" sz="900" dirty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Private</a:t>
            </a:r>
            <a:r>
              <a:rPr lang="pt-PT" sz="900" dirty="0" smtClean="0">
                <a:latin typeface="Arial" charset="0"/>
              </a:rPr>
              <a:t> </a:t>
            </a:r>
            <a:r>
              <a:rPr lang="pt-PT" sz="900" dirty="0" err="1" smtClean="0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PT" sz="900" dirty="0">
              <a:latin typeface="Arial" charset="0"/>
            </a:endParaRPr>
          </a:p>
        </p:txBody>
      </p:sp>
      <p:sp>
        <p:nvSpPr>
          <p:cNvPr id="123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6" y="6492875"/>
            <a:ext cx="384313" cy="365125"/>
          </a:xfrm>
        </p:spPr>
        <p:txBody>
          <a:bodyPr vert="horz" lIns="91440" tIns="45720" rIns="91440" bIns="45720" rtlCol="0" anchor="ctr"/>
          <a:lstStyle/>
          <a:p>
            <a:r>
              <a:rPr lang="pt-PT" sz="1300" dirty="0">
                <a:solidFill>
                  <a:schemeClr val="accent1"/>
                </a:solidFill>
              </a:rPr>
              <a:t>11</a:t>
            </a:r>
          </a:p>
        </p:txBody>
      </p:sp>
      <p:cxnSp>
        <p:nvCxnSpPr>
          <p:cNvPr id="3" name="Elbow Connector 2"/>
          <p:cNvCxnSpPr>
            <a:stCxn id="146" idx="3"/>
            <a:endCxn id="143" idx="1"/>
          </p:cNvCxnSpPr>
          <p:nvPr/>
        </p:nvCxnSpPr>
        <p:spPr>
          <a:xfrm flipV="1">
            <a:off x="2230089" y="763012"/>
            <a:ext cx="2748556" cy="8440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5072959" y="4651502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/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 smtClean="0">
                <a:latin typeface="Arial" charset="0"/>
              </a:rPr>
              <a:t>API’s</a:t>
            </a:r>
            <a:r>
              <a:rPr lang="pt-PT" sz="900" dirty="0" smtClean="0">
                <a:latin typeface="Arial" charset="0"/>
              </a:rPr>
              <a:t> de </a:t>
            </a:r>
            <a:br>
              <a:rPr lang="pt-PT" sz="900" dirty="0" smtClean="0">
                <a:latin typeface="Arial" charset="0"/>
              </a:rPr>
            </a:br>
            <a:r>
              <a:rPr lang="pt-PT" sz="900" dirty="0" smtClean="0">
                <a:latin typeface="Arial" charset="0"/>
              </a:rPr>
              <a:t>Contratação</a:t>
            </a:r>
            <a:endParaRPr lang="pt-PT" sz="900" dirty="0">
              <a:latin typeface="Arial" charset="0"/>
            </a:endParaRPr>
          </a:p>
        </p:txBody>
      </p:sp>
      <p:sp>
        <p:nvSpPr>
          <p:cNvPr id="95" name="Rectangle 12"/>
          <p:cNvSpPr>
            <a:spLocks noChangeArrowheads="1"/>
          </p:cNvSpPr>
          <p:nvPr/>
        </p:nvSpPr>
        <p:spPr bwMode="auto">
          <a:xfrm>
            <a:off x="6331794" y="4643030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rgbClr val="C00000">
              <a:alpha val="10000"/>
            </a:srgb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</a:t>
            </a:r>
            <a:br>
              <a:rPr lang="pt-PT" sz="900" dirty="0">
                <a:latin typeface="Arial" charset="0"/>
              </a:rPr>
            </a:br>
            <a:r>
              <a:rPr lang="pt-PT" sz="900" dirty="0" smtClean="0">
                <a:latin typeface="Arial" charset="0"/>
              </a:rPr>
              <a:t>Propostas</a:t>
            </a:r>
            <a:br>
              <a:rPr lang="pt-PT" sz="900" dirty="0" smtClean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Private</a:t>
            </a:r>
            <a:endParaRPr lang="pt-PT" sz="900" dirty="0">
              <a:latin typeface="Arial" charset="0"/>
            </a:endParaRPr>
          </a:p>
        </p:txBody>
      </p:sp>
      <p:sp>
        <p:nvSpPr>
          <p:cNvPr id="19" name="Flowchart: Magnetic Disk 18"/>
          <p:cNvSpPr/>
          <p:nvPr/>
        </p:nvSpPr>
        <p:spPr>
          <a:xfrm>
            <a:off x="3917125" y="5718664"/>
            <a:ext cx="856649" cy="938586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Oracle </a:t>
            </a:r>
          </a:p>
          <a:p>
            <a:pPr algn="ctr"/>
            <a:r>
              <a:rPr lang="pt-PT" sz="1000" dirty="0">
                <a:solidFill>
                  <a:schemeClr val="tx1"/>
                </a:solidFill>
              </a:rPr>
              <a:t>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2465" y="1457311"/>
            <a:ext cx="5068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>
                <a:solidFill>
                  <a:srgbClr val="0066FF"/>
                </a:solidFill>
              </a:rPr>
              <a:t>Spirit</a:t>
            </a:r>
            <a:endParaRPr lang="pt-PT" sz="1100" dirty="0">
              <a:solidFill>
                <a:srgbClr val="0066FF"/>
              </a:solidFill>
            </a:endParaRPr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3797197" y="4643038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/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Private</a:t>
            </a:r>
            <a:r>
              <a:rPr lang="pt-PT" sz="900" dirty="0">
                <a:latin typeface="Arial" charset="0"/>
              </a:rPr>
              <a:t> </a:t>
            </a:r>
            <a:br>
              <a:rPr lang="pt-PT" sz="900" dirty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3099307" y="1718921"/>
            <a:ext cx="480655" cy="1541423"/>
            <a:chOff x="1664058" y="1642054"/>
            <a:chExt cx="480655" cy="1197447"/>
          </a:xfrm>
          <a:solidFill>
            <a:schemeClr val="bg1"/>
          </a:solidFill>
        </p:grpSpPr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1696988" y="1711415"/>
              <a:ext cx="356510" cy="1128086"/>
            </a:xfrm>
            <a:prstGeom prst="rect">
              <a:avLst/>
            </a:prstGeom>
            <a:grpFill/>
            <a:ln w="9525" cap="rnd">
              <a:solidFill>
                <a:schemeClr val="accent4"/>
              </a:solidFill>
              <a:prstDash val="sysDot"/>
              <a:miter lim="800000"/>
              <a:headEnd/>
              <a:tailEnd/>
            </a:ln>
          </p:spPr>
          <p:txBody>
            <a:bodyPr vert="vert270" anchor="t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 err="1">
                  <a:latin typeface="Arial" charset="0"/>
                </a:rPr>
                <a:t>Internal</a:t>
              </a:r>
              <a:r>
                <a:rPr lang="pt-PT" sz="1100" dirty="0">
                  <a:latin typeface="Arial" charset="0"/>
                </a:rPr>
                <a:t> </a:t>
              </a:r>
              <a:r>
                <a:rPr lang="pt-PT" sz="1100" dirty="0" err="1">
                  <a:latin typeface="Arial" charset="0"/>
                </a:rPr>
                <a:t>Client</a:t>
              </a:r>
              <a:endParaRPr lang="pt-PT" sz="1100" dirty="0">
                <a:latin typeface="Arial" charset="0"/>
              </a:endParaRPr>
            </a:p>
          </p:txBody>
        </p:sp>
        <p:pic>
          <p:nvPicPr>
            <p:cNvPr id="60" name="Picture 1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058" y="1642054"/>
              <a:ext cx="480655" cy="2376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2" name="Straight Arrow Connector 11"/>
          <p:cNvCxnSpPr>
            <a:endCxn id="19" idx="1"/>
          </p:cNvCxnSpPr>
          <p:nvPr/>
        </p:nvCxnSpPr>
        <p:spPr>
          <a:xfrm flipH="1">
            <a:off x="4345450" y="5427796"/>
            <a:ext cx="1" cy="290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em ângulos retos 12"/>
          <p:cNvCxnSpPr>
            <a:endCxn id="48" idx="0"/>
          </p:cNvCxnSpPr>
          <p:nvPr/>
        </p:nvCxnSpPr>
        <p:spPr>
          <a:xfrm rot="16200000" flipH="1">
            <a:off x="2929580" y="4150213"/>
            <a:ext cx="1248528" cy="486705"/>
          </a:xfrm>
          <a:prstGeom prst="bentConnector4">
            <a:avLst>
              <a:gd name="adj1" fmla="val 34991"/>
              <a:gd name="adj2" fmla="val 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em ângulos retos 20"/>
          <p:cNvCxnSpPr>
            <a:endCxn id="54" idx="2"/>
          </p:cNvCxnSpPr>
          <p:nvPr/>
        </p:nvCxnSpPr>
        <p:spPr>
          <a:xfrm rot="16200000" flipH="1">
            <a:off x="4009612" y="3070181"/>
            <a:ext cx="882200" cy="2280441"/>
          </a:xfrm>
          <a:prstGeom prst="bentConnector4">
            <a:avLst>
              <a:gd name="adj1" fmla="val 50000"/>
              <a:gd name="adj2" fmla="val 10020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xão em ângulos retos 26"/>
          <p:cNvCxnSpPr>
            <a:endCxn id="95" idx="2"/>
          </p:cNvCxnSpPr>
          <p:nvPr/>
        </p:nvCxnSpPr>
        <p:spPr>
          <a:xfrm rot="16200000" flipH="1">
            <a:off x="4643266" y="2436528"/>
            <a:ext cx="873728" cy="3539276"/>
          </a:xfrm>
          <a:prstGeom prst="bentConnector4">
            <a:avLst>
              <a:gd name="adj1" fmla="val 50000"/>
              <a:gd name="adj2" fmla="val 1001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9288409" y="1013157"/>
            <a:ext cx="1052423" cy="59638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 smtClean="0">
                <a:solidFill>
                  <a:schemeClr val="tx1"/>
                </a:solidFill>
              </a:rPr>
              <a:t>Broker</a:t>
            </a:r>
            <a:br>
              <a:rPr lang="pt-PT" sz="1000" dirty="0" smtClean="0">
                <a:solidFill>
                  <a:schemeClr val="tx1"/>
                </a:solidFill>
              </a:rPr>
            </a:br>
            <a:r>
              <a:rPr lang="pt-PT" sz="1000" dirty="0" smtClean="0">
                <a:solidFill>
                  <a:schemeClr val="tx1"/>
                </a:solidFill>
              </a:rPr>
              <a:t>Online</a:t>
            </a:r>
          </a:p>
        </p:txBody>
      </p:sp>
      <p:sp>
        <p:nvSpPr>
          <p:cNvPr id="77" name="Rectangle 12"/>
          <p:cNvSpPr>
            <a:spLocks noChangeArrowheads="1"/>
          </p:cNvSpPr>
          <p:nvPr/>
        </p:nvSpPr>
        <p:spPr bwMode="auto">
          <a:xfrm>
            <a:off x="8972683" y="4651502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/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 smtClean="0">
                <a:latin typeface="Arial" charset="0"/>
              </a:rPr>
              <a:t>Token</a:t>
            </a:r>
            <a:r>
              <a:rPr lang="pt-PT" sz="900" dirty="0" smtClean="0">
                <a:latin typeface="Arial" charset="0"/>
              </a:rPr>
              <a:t> </a:t>
            </a:r>
            <a:br>
              <a:rPr lang="pt-PT" sz="900" dirty="0" smtClean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Generator</a:t>
            </a:r>
            <a:endParaRPr lang="pt-PT" sz="900" dirty="0">
              <a:latin typeface="Arial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971611" y="1907106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700" dirty="0" smtClean="0"/>
              <a:t>SSO </a:t>
            </a:r>
            <a:r>
              <a:rPr lang="pt-PT" sz="700" dirty="0" err="1" smtClean="0"/>
              <a:t>Token</a:t>
            </a:r>
            <a:endParaRPr lang="pt-PT" sz="700" dirty="0"/>
          </a:p>
        </p:txBody>
      </p:sp>
      <p:sp>
        <p:nvSpPr>
          <p:cNvPr id="98" name="Rectangle 12"/>
          <p:cNvSpPr>
            <a:spLocks noChangeArrowheads="1"/>
          </p:cNvSpPr>
          <p:nvPr/>
        </p:nvSpPr>
        <p:spPr bwMode="auto">
          <a:xfrm>
            <a:off x="7652244" y="4651494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noFill/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</a:t>
            </a:r>
            <a:br>
              <a:rPr lang="pt-PT" sz="900" dirty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Terms</a:t>
            </a:r>
            <a:r>
              <a:rPr lang="pt-PT" sz="900" dirty="0" smtClean="0">
                <a:latin typeface="Arial" charset="0"/>
              </a:rPr>
              <a:t/>
            </a:r>
            <a:br>
              <a:rPr lang="pt-PT" sz="900" dirty="0" smtClean="0">
                <a:latin typeface="Arial" charset="0"/>
              </a:rPr>
            </a:br>
            <a:r>
              <a:rPr lang="pt-PT" sz="900" dirty="0" err="1" smtClean="0">
                <a:latin typeface="Arial" charset="0"/>
              </a:rPr>
              <a:t>Desposit</a:t>
            </a:r>
            <a:endParaRPr lang="pt-PT" sz="900" dirty="0">
              <a:latin typeface="Arial" charset="0"/>
            </a:endParaRPr>
          </a:p>
        </p:txBody>
      </p:sp>
      <p:cxnSp>
        <p:nvCxnSpPr>
          <p:cNvPr id="58" name="Conexão em ângulos retos 57"/>
          <p:cNvCxnSpPr>
            <a:endCxn id="98" idx="2"/>
          </p:cNvCxnSpPr>
          <p:nvPr/>
        </p:nvCxnSpPr>
        <p:spPr>
          <a:xfrm rot="16200000" flipH="1">
            <a:off x="5299259" y="1780535"/>
            <a:ext cx="882192" cy="4859726"/>
          </a:xfrm>
          <a:prstGeom prst="bentConnector4">
            <a:avLst>
              <a:gd name="adj1" fmla="val 50000"/>
              <a:gd name="adj2" fmla="val 1000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2"/>
          <p:cNvSpPr>
            <a:spLocks noChangeArrowheads="1"/>
          </p:cNvSpPr>
          <p:nvPr/>
        </p:nvSpPr>
        <p:spPr bwMode="auto">
          <a:xfrm>
            <a:off x="1788695" y="4643034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/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 smtClean="0">
                <a:latin typeface="Arial" charset="0"/>
              </a:rPr>
              <a:t>SintD</a:t>
            </a:r>
            <a:endParaRPr lang="pt-PT" sz="900" dirty="0">
              <a:latin typeface="Arial" charset="0"/>
            </a:endParaRPr>
          </a:p>
        </p:txBody>
      </p:sp>
      <p:cxnSp>
        <p:nvCxnSpPr>
          <p:cNvPr id="81" name="Conexão em ângulos retos 80"/>
          <p:cNvCxnSpPr>
            <a:stCxn id="59" idx="2"/>
            <a:endCxn id="102" idx="4"/>
          </p:cNvCxnSpPr>
          <p:nvPr/>
        </p:nvCxnSpPr>
        <p:spPr>
          <a:xfrm rot="5400000">
            <a:off x="2197428" y="3904762"/>
            <a:ext cx="1757482" cy="4686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tângulo 114"/>
          <p:cNvSpPr/>
          <p:nvPr/>
        </p:nvSpPr>
        <p:spPr>
          <a:xfrm>
            <a:off x="372520" y="4643030"/>
            <a:ext cx="1052423" cy="59638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 err="1" smtClean="0">
                <a:solidFill>
                  <a:schemeClr val="tx1"/>
                </a:solidFill>
              </a:rPr>
              <a:t>Notification</a:t>
            </a:r>
            <a:r>
              <a:rPr lang="pt-PT" sz="1000" dirty="0" smtClean="0">
                <a:solidFill>
                  <a:schemeClr val="tx1"/>
                </a:solidFill>
              </a:rPr>
              <a:t> V2</a:t>
            </a:r>
            <a:br>
              <a:rPr lang="pt-PT" sz="1000" dirty="0" smtClean="0">
                <a:solidFill>
                  <a:schemeClr val="tx1"/>
                </a:solidFill>
              </a:rPr>
            </a:br>
            <a:r>
              <a:rPr lang="pt-PT" sz="1000" dirty="0" smtClean="0">
                <a:solidFill>
                  <a:schemeClr val="tx1"/>
                </a:solidFill>
              </a:rPr>
              <a:t>Templates</a:t>
            </a:r>
          </a:p>
        </p:txBody>
      </p:sp>
      <p:cxnSp>
        <p:nvCxnSpPr>
          <p:cNvPr id="89" name="Conexão em ângulos retos 88"/>
          <p:cNvCxnSpPr>
            <a:stCxn id="59" idx="2"/>
            <a:endCxn id="115" idx="0"/>
          </p:cNvCxnSpPr>
          <p:nvPr/>
        </p:nvCxnSpPr>
        <p:spPr>
          <a:xfrm rot="5400000">
            <a:off x="1413269" y="2745807"/>
            <a:ext cx="1382686" cy="241176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AutoShape 38"/>
          <p:cNvSpPr>
            <a:spLocks noChangeArrowheads="1"/>
          </p:cNvSpPr>
          <p:nvPr/>
        </p:nvSpPr>
        <p:spPr bwMode="auto">
          <a:xfrm>
            <a:off x="49639" y="1049307"/>
            <a:ext cx="349104" cy="290344"/>
          </a:xfrm>
          <a:prstGeom prst="star8">
            <a:avLst>
              <a:gd name="adj" fmla="val 3825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PT" altLang="pt-PT" sz="900" b="1" u="none" dirty="0"/>
              <a:t>M</a:t>
            </a:r>
          </a:p>
        </p:txBody>
      </p:sp>
      <p:grpSp>
        <p:nvGrpSpPr>
          <p:cNvPr id="125" name="Group 144"/>
          <p:cNvGrpSpPr/>
          <p:nvPr/>
        </p:nvGrpSpPr>
        <p:grpSpPr>
          <a:xfrm>
            <a:off x="9678106" y="3230672"/>
            <a:ext cx="1225060" cy="998975"/>
            <a:chOff x="2949073" y="839047"/>
            <a:chExt cx="799674" cy="649526"/>
          </a:xfrm>
        </p:grpSpPr>
        <p:pic>
          <p:nvPicPr>
            <p:cNvPr id="126" name="Picture 1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3602" y="839047"/>
              <a:ext cx="717821" cy="649526"/>
            </a:xfrm>
            <a:prstGeom prst="rect">
              <a:avLst/>
            </a:prstGeom>
          </p:spPr>
        </p:pic>
        <p:sp>
          <p:nvSpPr>
            <p:cNvPr id="127" name="Rectangle 2"/>
            <p:cNvSpPr>
              <a:spLocks noChangeArrowheads="1"/>
            </p:cNvSpPr>
            <p:nvPr/>
          </p:nvSpPr>
          <p:spPr bwMode="auto">
            <a:xfrm>
              <a:off x="2949073" y="1025984"/>
              <a:ext cx="799674" cy="295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anchor="t" anchorCtr="1"/>
            <a:lstStyle/>
            <a:p>
              <a:endParaRPr lang="pt-PT" sz="1000" dirty="0"/>
            </a:p>
          </p:txBody>
        </p:sp>
      </p:grpSp>
      <p:pic>
        <p:nvPicPr>
          <p:cNvPr id="130" name="Picture 2" descr="C:\Users\i090064\AppData\Local\Microsoft\Windows\Temporary Internet Files\Content.IE5\GAF0PWD6\User_icon_2.svg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304" y="3831017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TextBox 22"/>
          <p:cNvSpPr txBox="1"/>
          <p:nvPr/>
        </p:nvSpPr>
        <p:spPr>
          <a:xfrm>
            <a:off x="9947644" y="3659898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smtClean="0">
                <a:solidFill>
                  <a:srgbClr val="0066FF"/>
                </a:solidFill>
              </a:rPr>
              <a:t>Cockpit</a:t>
            </a:r>
            <a:endParaRPr lang="pt-PT" sz="1100" dirty="0">
              <a:solidFill>
                <a:srgbClr val="0066FF"/>
              </a:solidFill>
            </a:endParaRPr>
          </a:p>
        </p:txBody>
      </p:sp>
      <p:sp>
        <p:nvSpPr>
          <p:cNvPr id="139" name="Rectangle 12"/>
          <p:cNvSpPr>
            <a:spLocks noChangeArrowheads="1"/>
          </p:cNvSpPr>
          <p:nvPr/>
        </p:nvSpPr>
        <p:spPr bwMode="auto">
          <a:xfrm>
            <a:off x="4907624" y="3083981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rgbClr val="C00000">
              <a:alpha val="10000"/>
            </a:srgb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smtClean="0">
                <a:latin typeface="Arial" charset="0"/>
              </a:rPr>
              <a:t>B4F</a:t>
            </a:r>
            <a:endParaRPr lang="pt-PT" sz="900" dirty="0">
              <a:latin typeface="Arial" charset="0"/>
            </a:endParaRPr>
          </a:p>
        </p:txBody>
      </p:sp>
      <p:cxnSp>
        <p:nvCxnSpPr>
          <p:cNvPr id="141" name="Conexão em ângulos retos 140"/>
          <p:cNvCxnSpPr>
            <a:stCxn id="93" idx="0"/>
            <a:endCxn id="59" idx="3"/>
          </p:cNvCxnSpPr>
          <p:nvPr/>
        </p:nvCxnSpPr>
        <p:spPr>
          <a:xfrm flipH="1">
            <a:off x="3488747" y="1920103"/>
            <a:ext cx="1410812" cy="614172"/>
          </a:xfrm>
          <a:prstGeom prst="bentConnector3">
            <a:avLst>
              <a:gd name="adj1" fmla="val 338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xão em ângulos retos 156"/>
          <p:cNvCxnSpPr>
            <a:stCxn id="139" idx="0"/>
            <a:endCxn id="59" idx="3"/>
          </p:cNvCxnSpPr>
          <p:nvPr/>
        </p:nvCxnSpPr>
        <p:spPr>
          <a:xfrm flipH="1" flipV="1">
            <a:off x="3488747" y="2534275"/>
            <a:ext cx="1418877" cy="924498"/>
          </a:xfrm>
          <a:prstGeom prst="bentConnector3">
            <a:avLst>
              <a:gd name="adj1" fmla="val 342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2"/>
          <p:cNvSpPr>
            <a:spLocks noChangeArrowheads="1"/>
          </p:cNvSpPr>
          <p:nvPr/>
        </p:nvSpPr>
        <p:spPr bwMode="auto">
          <a:xfrm>
            <a:off x="6469597" y="2547004"/>
            <a:ext cx="982131" cy="685441"/>
          </a:xfrm>
          <a:prstGeom prst="pentagon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Front</a:t>
            </a:r>
            <a:r>
              <a:rPr lang="pt-PT" sz="900" dirty="0">
                <a:latin typeface="Arial" charset="0"/>
              </a:rPr>
              <a:t> </a:t>
            </a:r>
            <a:r>
              <a:rPr lang="pt-PT" sz="900" dirty="0" err="1">
                <a:latin typeface="Arial" charset="0"/>
              </a:rPr>
              <a:t>End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[Nginx]</a:t>
            </a:r>
          </a:p>
        </p:txBody>
      </p:sp>
      <p:cxnSp>
        <p:nvCxnSpPr>
          <p:cNvPr id="161" name="Conexão em ângulos retos 160"/>
          <p:cNvCxnSpPr>
            <a:stCxn id="126" idx="1"/>
            <a:endCxn id="139" idx="4"/>
          </p:cNvCxnSpPr>
          <p:nvPr/>
        </p:nvCxnSpPr>
        <p:spPr>
          <a:xfrm rot="10800000">
            <a:off x="5960775" y="3458774"/>
            <a:ext cx="3816186" cy="271387"/>
          </a:xfrm>
          <a:prstGeom prst="bentConnector3">
            <a:avLst>
              <a:gd name="adj1" fmla="val 436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xão em ângulos retos 169"/>
          <p:cNvCxnSpPr>
            <a:stCxn id="126" idx="0"/>
            <a:endCxn id="167" idx="0"/>
          </p:cNvCxnSpPr>
          <p:nvPr/>
        </p:nvCxnSpPr>
        <p:spPr>
          <a:xfrm rot="16200000" flipV="1">
            <a:off x="8301895" y="1205772"/>
            <a:ext cx="683668" cy="3366131"/>
          </a:xfrm>
          <a:prstGeom prst="bentConnector3">
            <a:avLst>
              <a:gd name="adj1" fmla="val 1334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56"/>
          <p:cNvGrpSpPr/>
          <p:nvPr/>
        </p:nvGrpSpPr>
        <p:grpSpPr>
          <a:xfrm>
            <a:off x="8242126" y="2422048"/>
            <a:ext cx="480655" cy="1541423"/>
            <a:chOff x="1664058" y="1642054"/>
            <a:chExt cx="480655" cy="1197447"/>
          </a:xfrm>
          <a:solidFill>
            <a:schemeClr val="bg1"/>
          </a:solidFill>
        </p:grpSpPr>
        <p:sp>
          <p:nvSpPr>
            <p:cNvPr id="164" name="Rectangle 12"/>
            <p:cNvSpPr>
              <a:spLocks noChangeArrowheads="1"/>
            </p:cNvSpPr>
            <p:nvPr/>
          </p:nvSpPr>
          <p:spPr bwMode="auto">
            <a:xfrm>
              <a:off x="1696988" y="1711415"/>
              <a:ext cx="356510" cy="1128086"/>
            </a:xfrm>
            <a:prstGeom prst="rect">
              <a:avLst/>
            </a:prstGeom>
            <a:grpFill/>
            <a:ln w="9525" cap="rnd">
              <a:solidFill>
                <a:schemeClr val="accent4"/>
              </a:solidFill>
              <a:prstDash val="sysDot"/>
              <a:miter lim="800000"/>
              <a:headEnd/>
              <a:tailEnd/>
            </a:ln>
          </p:spPr>
          <p:txBody>
            <a:bodyPr vert="vert270" anchor="t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 err="1">
                  <a:latin typeface="Arial" charset="0"/>
                </a:rPr>
                <a:t>Internal</a:t>
              </a:r>
              <a:r>
                <a:rPr lang="pt-PT" sz="1100" dirty="0">
                  <a:latin typeface="Arial" charset="0"/>
                </a:rPr>
                <a:t> </a:t>
              </a:r>
              <a:r>
                <a:rPr lang="pt-PT" sz="1100" dirty="0" err="1">
                  <a:latin typeface="Arial" charset="0"/>
                </a:rPr>
                <a:t>Client</a:t>
              </a:r>
              <a:endParaRPr lang="pt-PT" sz="1100" dirty="0">
                <a:latin typeface="Arial" charset="0"/>
              </a:endParaRPr>
            </a:p>
          </p:txBody>
        </p:sp>
        <p:pic>
          <p:nvPicPr>
            <p:cNvPr id="165" name="Picture 1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058" y="1642054"/>
              <a:ext cx="480655" cy="2376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79" name="Conexão em ângulos retos 178"/>
          <p:cNvCxnSpPr/>
          <p:nvPr/>
        </p:nvCxnSpPr>
        <p:spPr>
          <a:xfrm flipH="1" flipV="1">
            <a:off x="5529778" y="3850116"/>
            <a:ext cx="3912181" cy="812437"/>
          </a:xfrm>
          <a:prstGeom prst="bentConnector4">
            <a:avLst>
              <a:gd name="adj1" fmla="val 41"/>
              <a:gd name="adj2" fmla="val 79199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xão em ângulos retos 191"/>
          <p:cNvCxnSpPr>
            <a:stCxn id="167" idx="1"/>
            <a:endCxn id="31" idx="2"/>
          </p:cNvCxnSpPr>
          <p:nvPr/>
        </p:nvCxnSpPr>
        <p:spPr>
          <a:xfrm rot="10800000" flipH="1">
            <a:off x="6469597" y="1609540"/>
            <a:ext cx="3345023" cy="1199278"/>
          </a:xfrm>
          <a:prstGeom prst="bentConnector4">
            <a:avLst>
              <a:gd name="adj1" fmla="val -6834"/>
              <a:gd name="adj2" fmla="val 609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xão em ângulos retos 201"/>
          <p:cNvCxnSpPr>
            <a:stCxn id="146" idx="3"/>
            <a:endCxn id="93" idx="2"/>
          </p:cNvCxnSpPr>
          <p:nvPr/>
        </p:nvCxnSpPr>
        <p:spPr>
          <a:xfrm flipV="1">
            <a:off x="2230089" y="1545311"/>
            <a:ext cx="3187444" cy="61716"/>
          </a:xfrm>
          <a:prstGeom prst="bentConnector5">
            <a:avLst>
              <a:gd name="adj1" fmla="val 43228"/>
              <a:gd name="adj2" fmla="val 470406"/>
              <a:gd name="adj3" fmla="val 1001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CaixaDeTexto 212"/>
          <p:cNvSpPr txBox="1"/>
          <p:nvPr/>
        </p:nvSpPr>
        <p:spPr>
          <a:xfrm>
            <a:off x="6555578" y="3846625"/>
            <a:ext cx="10935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700" dirty="0" err="1" smtClean="0"/>
              <a:t>Generates</a:t>
            </a:r>
            <a:r>
              <a:rPr lang="pt-PT" sz="700" dirty="0" smtClean="0"/>
              <a:t> SSO </a:t>
            </a:r>
            <a:r>
              <a:rPr lang="pt-PT" sz="700" dirty="0" err="1" smtClean="0"/>
              <a:t>Token</a:t>
            </a:r>
            <a:endParaRPr lang="pt-PT" sz="700" dirty="0"/>
          </a:p>
        </p:txBody>
      </p:sp>
    </p:spTree>
    <p:extLst>
      <p:ext uri="{BB962C8B-B14F-4D97-AF65-F5344CB8AC3E}">
        <p14:creationId xmlns:p14="http://schemas.microsoft.com/office/powerpoint/2010/main" val="136384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Sumário de infra-estrutura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8747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8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65091"/>
              </p:ext>
            </p:extLst>
          </p:nvPr>
        </p:nvGraphicFramePr>
        <p:xfrm>
          <a:off x="537805" y="987142"/>
          <a:ext cx="11116391" cy="3352622"/>
        </p:xfrm>
        <a:graphic>
          <a:graphicData uri="http://schemas.openxmlformats.org/drawingml/2006/table">
            <a:tbl>
              <a:tblPr/>
              <a:tblGrid>
                <a:gridCol w="1887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3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027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Componente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Estado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Tecnologia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Tipo instalação 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Ambientes necessários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Namespace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baseline="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SavingInvestiment-SpiritHelper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Openshift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Ecossistema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MiFID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API Gateway (Internal Client / Internal Core)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Gateway para exposição de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API’s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Nginx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Front-end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Contratação Automática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Nginx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/ Angular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MS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Contratação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Automática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Microserviço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de contratação automática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API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Private Automation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Nova API para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private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automation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BD Oracle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Database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Oracle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PRO:  OETOSD1M.TOTTA.CORP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PRE: OTTOSD2M.TOTTA.PRE.CORP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DEV: 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ODTOSD2M.TOTTA.DEV.CORP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4908"/>
                  </a:ext>
                </a:extLst>
              </a:tr>
            </a:tbl>
          </a:graphicData>
        </a:graphic>
      </p:graphicFrame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5010" y="6492875"/>
            <a:ext cx="376989" cy="365125"/>
          </a:xfrm>
        </p:spPr>
        <p:txBody>
          <a:bodyPr/>
          <a:lstStyle/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11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Sumário dos componentes de infra-estrutura utilizados (I)</a:t>
            </a:r>
          </a:p>
        </p:txBody>
      </p:sp>
    </p:spTree>
    <p:extLst>
      <p:ext uri="{BB962C8B-B14F-4D97-AF65-F5344CB8AC3E}">
        <p14:creationId xmlns:p14="http://schemas.microsoft.com/office/powerpoint/2010/main" val="31234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Volumes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528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587231"/>
              </p:ext>
            </p:extLst>
          </p:nvPr>
        </p:nvGraphicFramePr>
        <p:xfrm>
          <a:off x="608253" y="1278053"/>
          <a:ext cx="4127719" cy="2933469"/>
        </p:xfrm>
        <a:graphic>
          <a:graphicData uri="http://schemas.openxmlformats.org/drawingml/2006/table">
            <a:tbl>
              <a:tblPr/>
              <a:tblGrid>
                <a:gridCol w="183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35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Projecto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Openshift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PaaS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2.0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TOTAL 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 noProof="0" dirty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836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Incrementos Namespaces existentes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Novos Namespaces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0GB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Reserva Quota Futura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Volumes PaaS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77104" y="701915"/>
            <a:ext cx="7957211" cy="34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i="1" dirty="0">
                <a:solidFill>
                  <a:schemeClr val="tx1"/>
                </a:solidFill>
              </a:rPr>
              <a:t>Volumes: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944711" y="1207176"/>
            <a:ext cx="3275625" cy="114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PT" altLang="es-ES" sz="900" b="1" i="1" dirty="0">
                <a:solidFill>
                  <a:prstClr val="black"/>
                </a:solidFill>
                <a:sym typeface="Wingdings" panose="05000000000000000000" pitchFamily="2" charset="2"/>
              </a:rPr>
              <a:t>NOTA #1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: </a:t>
            </a:r>
            <a:r>
              <a:rPr lang="pt-PT" altLang="es-ES" sz="900" b="0" i="1" dirty="0" err="1">
                <a:solidFill>
                  <a:prstClr val="black"/>
                </a:solidFill>
                <a:sym typeface="Wingdings" panose="05000000000000000000" pitchFamily="2" charset="2"/>
              </a:rPr>
              <a:t>Deploy</a:t>
            </a:r>
            <a:r>
              <a:rPr lang="pt-PT" altLang="es-ES" sz="900" b="0" i="1" dirty="0">
                <a:solidFill>
                  <a:prstClr val="black"/>
                </a:solidFill>
                <a:sym typeface="Wingdings" panose="05000000000000000000" pitchFamily="2" charset="2"/>
              </a:rPr>
              <a:t> em PaaS 2.0 com 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HA Cluster </a:t>
            </a:r>
            <a:r>
              <a:rPr lang="pt-PT" altLang="es-ES" sz="900" i="1" dirty="0" err="1">
                <a:solidFill>
                  <a:prstClr val="black"/>
                </a:solidFill>
                <a:sym typeface="Wingdings" panose="05000000000000000000" pitchFamily="2" charset="2"/>
              </a:rPr>
              <a:t>multi-região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es-ES" sz="900" b="0" i="1" dirty="0">
                <a:solidFill>
                  <a:prstClr val="black"/>
                </a:solidFill>
              </a:rPr>
              <a:t>(HA por </a:t>
            </a:r>
            <a:r>
              <a:rPr lang="es-ES" sz="900" b="0" i="1" dirty="0" err="1">
                <a:solidFill>
                  <a:prstClr val="black"/>
                </a:solidFill>
              </a:rPr>
              <a:t>pods</a:t>
            </a:r>
            <a:r>
              <a:rPr lang="es-ES" sz="900" b="0" i="1" dirty="0">
                <a:solidFill>
                  <a:prstClr val="black"/>
                </a:solidFill>
              </a:rPr>
              <a:t>, </a:t>
            </a:r>
            <a:r>
              <a:rPr lang="es-ES" sz="900" b="0" i="1" dirty="0" err="1">
                <a:solidFill>
                  <a:prstClr val="black"/>
                </a:solidFill>
              </a:rPr>
              <a:t>sem</a:t>
            </a:r>
            <a:r>
              <a:rPr lang="es-ES" sz="900" b="0" i="1" dirty="0">
                <a:solidFill>
                  <a:prstClr val="black"/>
                </a:solidFill>
              </a:rPr>
              <a:t>  HA por Zonas) </a:t>
            </a:r>
          </a:p>
          <a:p>
            <a:pPr>
              <a:buFont typeface="Wingdings" panose="05000000000000000000" pitchFamily="2" charset="2"/>
              <a:buChar char="§"/>
            </a:pPr>
            <a:endParaRPr lang="pt-PT" altLang="es-ES" sz="9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NOTA #2: </a:t>
            </a:r>
            <a:r>
              <a:rPr lang="pt-PT" altLang="es-ES" sz="900" b="0" i="1" dirty="0">
                <a:solidFill>
                  <a:prstClr val="black"/>
                </a:solidFill>
                <a:sym typeface="Wingdings" panose="05000000000000000000" pitchFamily="2" charset="2"/>
              </a:rPr>
              <a:t>Equipa de desenvolvimento deverá identificar e solicitar a emissão de certificados e DNS para cada um dos serviços pretendidos.</a:t>
            </a:r>
            <a:endParaRPr lang="pt-PT" altLang="es-ES" sz="1050" b="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s-ES" sz="900" b="0" i="1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9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050" i="1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300040"/>
              </p:ext>
            </p:extLst>
          </p:nvPr>
        </p:nvGraphicFramePr>
        <p:xfrm>
          <a:off x="3541309" y="2052036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Worksheet" showAsIcon="1" r:id="rId3" imgW="914400" imgH="806400" progId="Excel.Sheet.12">
                  <p:embed/>
                </p:oleObj>
              </mc:Choice>
              <mc:Fallback>
                <p:oleObj name="Worksheet" showAsIcon="1" r:id="rId3" imgW="914400" imgH="80640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1309" y="2052036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059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870539"/>
              </p:ext>
            </p:extLst>
          </p:nvPr>
        </p:nvGraphicFramePr>
        <p:xfrm>
          <a:off x="753217" y="1282662"/>
          <a:ext cx="3666163" cy="2876007"/>
        </p:xfrm>
        <a:graphic>
          <a:graphicData uri="http://schemas.openxmlformats.org/drawingml/2006/table">
            <a:tbl>
              <a:tblPr/>
              <a:tblGrid>
                <a:gridCol w="163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35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Projecto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Openshift CaaS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TOTAL 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 noProof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Incrementos Namespaces existentes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  <a:endParaRPr kumimoji="0" lang="pt-PT" sz="1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220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Novos Namespaces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Reserva Quota Futura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 </a:t>
                      </a:r>
                      <a:r>
                        <a:rPr kumimoji="0" lang="pt-PT" sz="14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01283" y="423758"/>
            <a:ext cx="3726815" cy="172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s-ES" sz="1200" b="1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NOTE #1</a:t>
            </a:r>
            <a:r>
              <a:rPr lang="en-US" altLang="es-ES" sz="120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: 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Deploy </a:t>
            </a:r>
            <a:r>
              <a:rPr lang="en-US" altLang="es-ES" sz="1200" b="0" i="1" dirty="0" err="1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em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 OCP  (Azure  / OHE)</a:t>
            </a:r>
            <a:endParaRPr lang="en-US" altLang="es-ES" sz="1200" i="1" dirty="0">
              <a:solidFill>
                <a:prstClr val="black"/>
              </a:solidFill>
              <a:latin typeface="Santander Headline" panose="020B05040202010201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es-ES" sz="1200" i="1" dirty="0">
              <a:solidFill>
                <a:prstClr val="black"/>
              </a:solidFill>
              <a:latin typeface="Santander Headline" panose="020B05040202010201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s-ES" sz="120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NOTE #2: </a:t>
            </a:r>
            <a:r>
              <a:rPr lang="pt-PT" altLang="es-ES" sz="1200" b="0" i="1" dirty="0">
                <a:solidFill>
                  <a:prstClr val="black"/>
                </a:solidFill>
                <a:latin typeface="Santander Text" panose="020B0504020201020104" pitchFamily="34" charset="0"/>
                <a:sym typeface="Wingdings" panose="05000000000000000000" pitchFamily="2" charset="2"/>
              </a:rPr>
              <a:t>Equipa de desenvolvimento deverá identificar e solicitar a emissão de certificados e DNS para cada um dos serviços pretendidos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4" name="CuadroTexto 71">
            <a:extLst>
              <a:ext uri="{FF2B5EF4-FFF2-40B4-BE49-F238E27FC236}">
                <a16:creationId xmlns:a16="http://schemas.microsoft.com/office/drawing/2014/main" id="{11C261B5-A0A7-94F6-8A1D-B74771D1124C}"/>
              </a:ext>
            </a:extLst>
          </p:cNvPr>
          <p:cNvSpPr txBox="1"/>
          <p:nvPr/>
        </p:nvSpPr>
        <p:spPr>
          <a:xfrm>
            <a:off x="621102" y="485314"/>
            <a:ext cx="2853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00"/>
                </a:solidFill>
                <a:latin typeface="+mj-lt"/>
              </a:rPr>
              <a:t>Openshift</a:t>
            </a:r>
            <a:endParaRPr lang="en-US" sz="16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32D54296-AA46-B479-197B-27B887F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4381" y="6356350"/>
            <a:ext cx="41734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A6315-1B6D-4306-AE81-37B8137F3D6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uadroTexto 51"/>
          <p:cNvSpPr txBox="1"/>
          <p:nvPr/>
        </p:nvSpPr>
        <p:spPr>
          <a:xfrm>
            <a:off x="621102" y="192926"/>
            <a:ext cx="3775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sz="2400" dirty="0" smtClean="0">
                <a:ln w="6350" cap="flat">
                  <a:noFill/>
                  <a:miter lim="800000"/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Volumes – SD 001053</a:t>
            </a:r>
            <a:endParaRPr lang="en-US" sz="2400" dirty="0">
              <a:ln w="6350" cap="flat">
                <a:noFill/>
                <a:miter lim="800000"/>
              </a:ln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859302"/>
              </p:ext>
            </p:extLst>
          </p:nvPr>
        </p:nvGraphicFramePr>
        <p:xfrm>
          <a:off x="3266536" y="226780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Worksheet" showAsIcon="1" r:id="rId4" imgW="914400" imgH="771480" progId="Excel.Sheet.12">
                  <p:embed/>
                </p:oleObj>
              </mc:Choice>
              <mc:Fallback>
                <p:oleObj name="Worksheet" showAsIcon="1" r:id="rId4" imgW="914400" imgH="771480" progId="Excel.Sheet.12">
                  <p:embed/>
                  <p:pic>
                    <p:nvPicPr>
                      <p:cNvPr id="2" name="Objeto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66536" y="226780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35"/>
          <p:cNvSpPr>
            <a:spLocks noChangeArrowheads="1"/>
          </p:cNvSpPr>
          <p:nvPr/>
        </p:nvSpPr>
        <p:spPr bwMode="auto">
          <a:xfrm>
            <a:off x="110972" y="227514"/>
            <a:ext cx="349104" cy="290344"/>
          </a:xfrm>
          <a:prstGeom prst="star8">
            <a:avLst>
              <a:gd name="adj" fmla="val 3825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PT" altLang="pt-PT" sz="900" b="1" u="none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31949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71">
            <a:extLst>
              <a:ext uri="{FF2B5EF4-FFF2-40B4-BE49-F238E27FC236}">
                <a16:creationId xmlns:a16="http://schemas.microsoft.com/office/drawing/2014/main" id="{11C261B5-A0A7-94F6-8A1D-B74771D1124C}"/>
              </a:ext>
            </a:extLst>
          </p:cNvPr>
          <p:cNvSpPr txBox="1"/>
          <p:nvPr/>
        </p:nvSpPr>
        <p:spPr>
          <a:xfrm>
            <a:off x="621102" y="485314"/>
            <a:ext cx="5106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+mj-lt"/>
              </a:rPr>
              <a:t>Base de Dados – Oracle </a:t>
            </a:r>
            <a:r>
              <a:rPr lang="en-US" sz="1600" b="1" dirty="0" err="1" smtClean="0">
                <a:solidFill>
                  <a:srgbClr val="000000"/>
                </a:solidFill>
                <a:latin typeface="+mj-lt"/>
              </a:rPr>
              <a:t>Exatada</a:t>
            </a:r>
            <a:r>
              <a:rPr lang="en-US" sz="1600" b="1" dirty="0" smtClean="0">
                <a:solidFill>
                  <a:srgbClr val="000000"/>
                </a:solidFill>
                <a:latin typeface="+mj-lt"/>
              </a:rPr>
              <a:t> - </a:t>
            </a:r>
            <a:r>
              <a:rPr lang="en-US" sz="1600" b="1" dirty="0" err="1" smtClean="0">
                <a:solidFill>
                  <a:srgbClr val="000000"/>
                </a:solidFill>
                <a:latin typeface="+mj-lt"/>
              </a:rPr>
              <a:t>Incremento</a:t>
            </a:r>
            <a:endParaRPr lang="en-US" sz="16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32D54296-AA46-B479-197B-27B887F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4381" y="6356350"/>
            <a:ext cx="41734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A6315-1B6D-4306-AE81-37B8137F3D6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076" y="823868"/>
            <a:ext cx="109816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err="1" smtClean="0">
                <a:sym typeface="Wingdings" panose="05000000000000000000" pitchFamily="2" charset="2"/>
              </a:rPr>
              <a:t>Charset</a:t>
            </a:r>
            <a:r>
              <a:rPr lang="pt-PT" altLang="es-ES" sz="1200" i="1" dirty="0" smtClean="0">
                <a:sym typeface="Wingdings" panose="05000000000000000000" pitchFamily="2" charset="2"/>
              </a:rPr>
              <a:t>: AL32UTF8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smtClean="0">
                <a:sym typeface="Wingdings" panose="05000000000000000000" pitchFamily="2" charset="2"/>
              </a:rPr>
              <a:t>A</a:t>
            </a:r>
            <a:r>
              <a:rPr lang="pt-PT" altLang="es-ES" sz="1200" i="1" dirty="0">
                <a:sym typeface="Wingdings" panose="05000000000000000000" pitchFamily="2" charset="2"/>
              </a:rPr>
              <a:t>: </a:t>
            </a:r>
            <a:r>
              <a:rPr lang="pt-PT" altLang="es-ES" sz="1200" i="1" dirty="0" smtClean="0">
                <a:sym typeface="Wingdings" panose="05000000000000000000" pitchFamily="2" charset="2"/>
              </a:rPr>
              <a:t>Servidores de BD: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PRO: </a:t>
            </a:r>
            <a:r>
              <a:rPr lang="pt-PT" sz="1200" dirty="0"/>
              <a:t>OETOSD1M.TOTTA.CORP:60101:OETOSD1M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PRE: </a:t>
            </a:r>
            <a:r>
              <a:rPr lang="pt-PT" sz="1200" dirty="0"/>
              <a:t>c3cntotpre01-scan.totta.pre.corp:1521/OTTO1XCC_SD2M_SRV.totta.pre.corp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DEV: </a:t>
            </a:r>
            <a:r>
              <a:rPr lang="pt-PT" sz="1200" dirty="0"/>
              <a:t>ODTOSD2M.TOTTA.DEV.CORP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smtClean="0">
                <a:sym typeface="Wingdings" panose="05000000000000000000" pitchFamily="2" charset="2"/>
              </a:rPr>
              <a:t>B: Incremento BD : 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smtClean="0">
                <a:sym typeface="Wingdings" panose="05000000000000000000" pitchFamily="2" charset="2"/>
              </a:rPr>
              <a:t>PRO: 100 GB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smtClean="0">
                <a:sym typeface="Wingdings" panose="05000000000000000000" pitchFamily="2" charset="2"/>
              </a:rPr>
              <a:t>PRE: 50 GB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smtClean="0">
                <a:sym typeface="Wingdings" panose="05000000000000000000" pitchFamily="2" charset="2"/>
              </a:rPr>
              <a:t>DEV: 5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 smtClean="0"/>
          </a:p>
          <a:p>
            <a:endParaRPr lang="pt-PT" sz="1200" i="1" dirty="0" smtClean="0"/>
          </a:p>
          <a:p>
            <a:endParaRPr lang="pt-PT" sz="1200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 smtClean="0"/>
          </a:p>
          <a:p>
            <a:pPr marL="350838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200" i="1" dirty="0">
              <a:sym typeface="Wingdings" panose="05000000000000000000" pitchFamily="2" charset="2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102" y="197391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 smtClean="0">
                <a:solidFill>
                  <a:schemeClr val="accent1"/>
                </a:solidFill>
              </a:rPr>
              <a:t>Volumes</a:t>
            </a:r>
            <a:endParaRPr lang="pt-PT" altLang="pt-PT" sz="2400" dirty="0">
              <a:solidFill>
                <a:schemeClr val="accent1"/>
              </a:solidFill>
            </a:endParaRPr>
          </a:p>
        </p:txBody>
      </p:sp>
      <p:sp>
        <p:nvSpPr>
          <p:cNvPr id="7" name="AutoShape 35"/>
          <p:cNvSpPr>
            <a:spLocks noChangeArrowheads="1"/>
          </p:cNvSpPr>
          <p:nvPr/>
        </p:nvSpPr>
        <p:spPr bwMode="auto">
          <a:xfrm>
            <a:off x="110972" y="227514"/>
            <a:ext cx="349104" cy="290344"/>
          </a:xfrm>
          <a:prstGeom prst="star8">
            <a:avLst>
              <a:gd name="adj" fmla="val 3825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PT" altLang="pt-PT" sz="900" b="1" u="none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1319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Segurança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729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Segurança</a:t>
            </a:r>
            <a:endParaRPr lang="pt-PT" altLang="pt-PT" sz="1800" dirty="0">
              <a:solidFill>
                <a:schemeClr val="accent1"/>
              </a:solidFill>
            </a:endParaRPr>
          </a:p>
          <a:p>
            <a:pPr marL="0" lvl="1">
              <a:spcBef>
                <a:spcPts val="1000"/>
              </a:spcBef>
              <a:buClr>
                <a:srgbClr val="FF0000"/>
              </a:buClr>
            </a:pPr>
            <a:endParaRPr lang="pt-PT" altLang="pt-PT" sz="1400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837630"/>
            <a:ext cx="11423743" cy="502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r>
              <a:rPr lang="pt-PT" altLang="es-ES" sz="1300" b="1" i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APIs</a:t>
            </a:r>
            <a:r>
              <a:rPr lang="pt-PT" altLang="es-ES" sz="1300" b="1" i="1" u="sng" dirty="0">
                <a:solidFill>
                  <a:srgbClr val="FF0000"/>
                </a:solidFill>
                <a:sym typeface="Wingdings" panose="05000000000000000000" pitchFamily="2" charset="2"/>
              </a:rPr>
              <a:t> REST Expostas</a:t>
            </a:r>
            <a:endParaRPr lang="pt-PT" sz="1300" i="1" dirty="0">
              <a:solidFill>
                <a:schemeClr val="tx1"/>
              </a:solidFill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Os serviços </a:t>
            </a:r>
            <a:r>
              <a:rPr lang="pt-PT" sz="1300" i="1" dirty="0" err="1">
                <a:solidFill>
                  <a:schemeClr val="tx1"/>
                </a:solidFill>
              </a:rPr>
              <a:t>rest</a:t>
            </a:r>
            <a:r>
              <a:rPr lang="pt-PT" sz="1300" i="1" dirty="0">
                <a:solidFill>
                  <a:schemeClr val="tx1"/>
                </a:solidFill>
              </a:rPr>
              <a:t> expostos pelo sistema deverão estar protegidas por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JWT gerado pelo API Gateway </a:t>
            </a:r>
            <a:r>
              <a:rPr lang="pt-PT" sz="1300" i="1" dirty="0" err="1">
                <a:solidFill>
                  <a:schemeClr val="tx1"/>
                </a:solidFill>
              </a:rPr>
              <a:t>apartir</a:t>
            </a:r>
            <a:r>
              <a:rPr lang="pt-PT" sz="1300" i="1" dirty="0">
                <a:solidFill>
                  <a:schemeClr val="tx1"/>
                </a:solidFill>
              </a:rPr>
              <a:t> do </a:t>
            </a:r>
            <a:r>
              <a:rPr lang="pt-PT" sz="1300" i="1" dirty="0" err="1">
                <a:solidFill>
                  <a:schemeClr val="tx1"/>
                </a:solidFill>
              </a:rPr>
              <a:t>access</a:t>
            </a:r>
            <a:r>
              <a:rPr lang="pt-PT" sz="1300" i="1" dirty="0">
                <a:solidFill>
                  <a:schemeClr val="tx1"/>
                </a:solidFill>
              </a:rPr>
              <a:t>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passado pelas consumidoras (obtido através do servidor </a:t>
            </a:r>
            <a:r>
              <a:rPr lang="pt-PT" sz="1300" i="1" dirty="0" err="1">
                <a:solidFill>
                  <a:schemeClr val="tx1"/>
                </a:solidFill>
              </a:rPr>
              <a:t>oAuth</a:t>
            </a:r>
            <a:r>
              <a:rPr lang="pt-PT" sz="1300" i="1" dirty="0">
                <a:solidFill>
                  <a:schemeClr val="tx1"/>
                </a:solidFill>
              </a:rPr>
              <a:t> correspondente)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Cabe a cada micro-serviço do sistema a validação do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através de incorporação de </a:t>
            </a:r>
            <a:r>
              <a:rPr lang="pt-PT" sz="1300" i="1" dirty="0" err="1">
                <a:solidFill>
                  <a:schemeClr val="tx1"/>
                </a:solidFill>
              </a:rPr>
              <a:t>libs</a:t>
            </a:r>
            <a:r>
              <a:rPr lang="pt-PT" sz="1300" i="1" dirty="0">
                <a:solidFill>
                  <a:schemeClr val="tx1"/>
                </a:solidFill>
              </a:rPr>
              <a:t>/filtro de segurança que faz a validação local (mediante previa descarga da chave publica – funcionalidade incorporada na </a:t>
            </a:r>
            <a:r>
              <a:rPr lang="pt-PT" sz="1300" i="1" dirty="0" err="1">
                <a:solidFill>
                  <a:schemeClr val="tx1"/>
                </a:solidFill>
              </a:rPr>
              <a:t>lib</a:t>
            </a:r>
            <a:r>
              <a:rPr lang="pt-PT" sz="1300" i="1" dirty="0">
                <a:solidFill>
                  <a:schemeClr val="tx1"/>
                </a:solidFill>
              </a:rPr>
              <a:t>).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Toda a comunicação deverá ser </a:t>
            </a:r>
            <a:r>
              <a:rPr lang="pt-PT" sz="1300" i="1" dirty="0" err="1">
                <a:solidFill>
                  <a:schemeClr val="tx1"/>
                </a:solidFill>
              </a:rPr>
              <a:t>https</a:t>
            </a:r>
            <a:r>
              <a:rPr lang="pt-PT" sz="1300" i="1" dirty="0">
                <a:solidFill>
                  <a:schemeClr val="tx1"/>
                </a:solidFill>
              </a:rPr>
              <a:t>. A terminação TLS fica a cargo da plataforma Openshift, sendo no entanto necessário gerar certificados para cada </a:t>
            </a:r>
            <a:r>
              <a:rPr lang="pt-PT" sz="1300" i="1" dirty="0" err="1">
                <a:solidFill>
                  <a:schemeClr val="tx1"/>
                </a:solidFill>
              </a:rPr>
              <a:t>route</a:t>
            </a:r>
            <a:r>
              <a:rPr lang="pt-PT" sz="1300" i="1" dirty="0">
                <a:solidFill>
                  <a:schemeClr val="tx1"/>
                </a:solidFill>
              </a:rPr>
              <a:t>/</a:t>
            </a:r>
            <a:r>
              <a:rPr lang="pt-PT" sz="1300" i="1" dirty="0" err="1">
                <a:solidFill>
                  <a:schemeClr val="tx1"/>
                </a:solidFill>
              </a:rPr>
              <a:t>dns</a:t>
            </a:r>
            <a:r>
              <a:rPr lang="pt-PT" sz="1300" i="1" dirty="0">
                <a:solidFill>
                  <a:schemeClr val="tx1"/>
                </a:solidFill>
              </a:rPr>
              <a:t> exposto.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endParaRPr lang="pt-PT" sz="13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r>
              <a:rPr lang="pt-PT" altLang="es-ES" sz="1300" b="1" i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SSO Broker Online</a:t>
            </a:r>
            <a:endParaRPr lang="pt-PT" sz="1300" i="1" dirty="0">
              <a:solidFill>
                <a:schemeClr val="tx1"/>
              </a:solidFill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 smtClean="0">
                <a:solidFill>
                  <a:schemeClr val="tx1"/>
                </a:solidFill>
              </a:rPr>
              <a:t>A integração entre MCS Contratação </a:t>
            </a:r>
            <a:r>
              <a:rPr lang="pt-PT" sz="1300" i="1" dirty="0" err="1" smtClean="0">
                <a:solidFill>
                  <a:schemeClr val="tx1"/>
                </a:solidFill>
              </a:rPr>
              <a:t>Automatica</a:t>
            </a:r>
            <a:r>
              <a:rPr lang="pt-PT" sz="1300" i="1" dirty="0" smtClean="0">
                <a:solidFill>
                  <a:schemeClr val="tx1"/>
                </a:solidFill>
              </a:rPr>
              <a:t> / Broker Online (SSO) será feita de acordo com o DT anexo (#REF1), slide 62. </a:t>
            </a:r>
            <a:endParaRPr lang="pt-PT" sz="13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endParaRPr lang="pt-PT" altLang="es-ES" sz="1300" b="1" i="1" u="sng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892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Monitorização, Logging e</a:t>
            </a:r>
            <a:br>
              <a:rPr lang="pt-PT" dirty="0"/>
            </a:br>
            <a:r>
              <a:rPr lang="pt-PT" dirty="0"/>
              <a:t>Auditing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257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108446-6E87-53E6-CBB3-777CCE4B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705" y="442814"/>
            <a:ext cx="7395586" cy="5246706"/>
          </a:xfrm>
          <a:prstGeom prst="rect">
            <a:avLst/>
          </a:prstGeom>
        </p:spPr>
      </p:pic>
      <p:sp>
        <p:nvSpPr>
          <p:cNvPr id="5" name="CuadroTexto 5">
            <a:extLst>
              <a:ext uri="{FF2B5EF4-FFF2-40B4-BE49-F238E27FC236}">
                <a16:creationId xmlns:a16="http://schemas.microsoft.com/office/drawing/2014/main" id="{E220775D-5790-A2D1-1806-40BD654C6B9F}"/>
              </a:ext>
            </a:extLst>
          </p:cNvPr>
          <p:cNvSpPr txBox="1"/>
          <p:nvPr/>
        </p:nvSpPr>
        <p:spPr>
          <a:xfrm>
            <a:off x="99745" y="113594"/>
            <a:ext cx="5257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1">
                <a:solidFill>
                  <a:srgbClr val="FF0000"/>
                </a:solidFill>
              </a:rPr>
              <a:t>Observability - </a:t>
            </a:r>
            <a:r>
              <a:rPr lang="en-US" b="1" noProof="1">
                <a:solidFill>
                  <a:srgbClr val="FF0000"/>
                </a:solidFill>
              </a:rPr>
              <a:t>Monitoring</a:t>
            </a:r>
            <a:endParaRPr lang="en-US" sz="2800" b="1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8761621" y="1611681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34D2C47E-C972-AC2E-2E65-828D130F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6620" y="6495350"/>
            <a:ext cx="427092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0" y="840459"/>
            <a:ext cx="4468483" cy="504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PaaS Application</a:t>
            </a:r>
            <a:endParaRPr lang="en-US" dirty="0"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solution is based on APM of </a:t>
            </a:r>
            <a:r>
              <a:rPr lang="en-US" altLang="es-ES" sz="1200" i="1" dirty="0" err="1">
                <a:solidFill>
                  <a:schemeClr val="tx1"/>
                </a:solidFill>
                <a:latin typeface="Arial"/>
                <a:cs typeface="Arial"/>
              </a:rPr>
              <a:t>Dynatrace</a:t>
            </a:r>
            <a:endParaRPr lang="en-US" altLang="es-ES" sz="1200" i="1" dirty="0">
              <a:solidFill>
                <a:schemeClr val="tx1"/>
              </a:solidFill>
              <a:cs typeface="Arial"/>
              <a:sym typeface="Wingdings" panose="05000000000000000000" pitchFamily="2" charset="2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of the application should be solicited  by the Project team </a:t>
            </a:r>
            <a:endParaRPr lang="en-US" altLang="es-ES" sz="1200" i="1" dirty="0">
              <a:solidFill>
                <a:schemeClr val="tx1"/>
              </a:solidFill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altLang="es-ES" sz="1200" i="1" dirty="0">
              <a:solidFill>
                <a:srgbClr val="000000"/>
              </a:solidFill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Health check PaaS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lang="en-US" sz="1200" i="1" dirty="0" err="1">
                <a:solidFill>
                  <a:schemeClr val="tx1"/>
                </a:solidFill>
                <a:latin typeface="Arial"/>
                <a:cs typeface="Arial"/>
              </a:rPr>
              <a:t>Openshift</a:t>
            </a:r>
            <a:r>
              <a:rPr lang="en-US" sz="1200" i="1" dirty="0">
                <a:solidFill>
                  <a:schemeClr val="tx1"/>
                </a:solidFill>
                <a:latin typeface="Arial"/>
                <a:cs typeface="Arial"/>
              </a:rPr>
              <a:t> controls the readiness state of the Pods. The apps should expose an end-point for health check, the application could create a there unique end-point or by default add Spring-boot-actuator giving access to “/actuator/health/readiness”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dirty="0">
                <a:latin typeface="Arial"/>
                <a:cs typeface="Arial"/>
                <a:hlinkClick r:id="rId3"/>
              </a:rPr>
              <a:t>https://spring.io/blog/2020/03/25/liveness-and-readiness-probes-with-spring-boot</a:t>
            </a:r>
            <a:endParaRPr lang="en-US" sz="1200" dirty="0">
              <a:latin typeface="Arial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Azure Monitoring</a:t>
            </a:r>
            <a:endParaRPr lang="en-US" sz="1200" dirty="0"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solution is based on APM of </a:t>
            </a:r>
            <a:r>
              <a:rPr lang="en-US" altLang="es-ES" sz="1200" i="1" dirty="0" err="1">
                <a:solidFill>
                  <a:schemeClr val="tx1"/>
                </a:solidFill>
                <a:latin typeface="Arial"/>
                <a:cs typeface="Arial"/>
              </a:rPr>
              <a:t>Dynatrace</a:t>
            </a:r>
            <a:endParaRPr lang="en-US" altLang="es-ES" sz="1200" i="1" dirty="0">
              <a:solidFill>
                <a:schemeClr val="tx1"/>
              </a:solidFill>
              <a:cs typeface="Arial"/>
              <a:sym typeface="Wingdings" panose="05000000000000000000" pitchFamily="2" charset="2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8761621" y="531002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620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E220775D-5790-A2D1-1806-40BD654C6B9F}"/>
              </a:ext>
            </a:extLst>
          </p:cNvPr>
          <p:cNvSpPr txBox="1"/>
          <p:nvPr/>
        </p:nvSpPr>
        <p:spPr>
          <a:xfrm>
            <a:off x="99745" y="113594"/>
            <a:ext cx="52572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noProof="1">
                <a:solidFill>
                  <a:srgbClr val="FF0000"/>
                </a:solidFill>
              </a:rPr>
              <a:t>Backup</a:t>
            </a:r>
            <a:endParaRPr lang="en-US" b="1" noProof="1">
              <a:solidFill>
                <a:srgbClr val="FF0000"/>
              </a:solidFill>
              <a:cs typeface="Arial"/>
            </a:endParaRPr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34D2C47E-C972-AC2E-2E65-828D130F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6620" y="6495350"/>
            <a:ext cx="427092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8070970-2BC6-F515-483D-974768D40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30" y="961775"/>
            <a:ext cx="7106152" cy="493445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6130564" y="1025085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6130564" y="2017576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39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512" y="649535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Logging</a:t>
            </a:r>
            <a:r>
              <a:rPr lang="pt-PT" altLang="pt-PT" sz="2400" dirty="0">
                <a:solidFill>
                  <a:schemeClr val="accent1"/>
                </a:solidFill>
                <a:latin typeface="Santander Text"/>
              </a:rPr>
              <a:t> - OHE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1045029"/>
            <a:ext cx="10828205" cy="194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altLang="es-ES" sz="1200" i="1" dirty="0">
                <a:solidFill>
                  <a:srgbClr val="FF0000"/>
                </a:solidFill>
                <a:latin typeface="Santander Text"/>
                <a:sym typeface="Wingdings" panose="05000000000000000000" pitchFamily="2" charset="2"/>
              </a:rPr>
              <a:t>Logging micro-services</a:t>
            </a:r>
            <a:endParaRPr lang="en-US" altLang="es-ES" sz="1200" i="1" dirty="0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architecture of the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Paas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assures that all the information is sent to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stdout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and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stderr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and sent to a repository centralized on the Elastic Search .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This repository could be used to analyze problems/errors in the application, but this rep is only keeps a storage of information for one week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log accesses are done by </a:t>
            </a:r>
            <a:r>
              <a:rPr lang="en-U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Kibana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through the link:</a:t>
            </a: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  <a:defRPr/>
            </a:pPr>
            <a:endParaRPr lang="pt-PT" altLang="es-ES" sz="1200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200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sz="1200" i="1" dirty="0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Santander Text"/>
                <a:cs typeface="Arial"/>
              </a:rPr>
              <a:t>Logging Traceability between components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</a:rPr>
              <a:t>All the micro-services should include the lib: "Spring Cloud Sleuth" to active the distributed login  (“Adds trace and span ids to the 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Slf4J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</a:rPr>
              <a:t>”). 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dirty="0">
                <a:latin typeface="Santander Text"/>
                <a:cs typeface="Arial"/>
                <a:hlinkClick r:id="rId3"/>
              </a:rPr>
              <a:t>https://confluence.ci.gsnet.corp/pages/viewpage.action?pageId=212378538</a:t>
            </a:r>
            <a:endParaRPr lang="en-US" sz="1200" i="1" dirty="0">
              <a:solidFill>
                <a:schemeClr val="tx1"/>
              </a:solidFill>
              <a:latin typeface="Santander Text"/>
              <a:cs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1024" y="2385845"/>
          <a:ext cx="9008619" cy="1333504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Intranet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DEV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4"/>
                        </a:rPr>
                        <a:t>https://paas.logging.ccc.pre.cn.paas.cloudcenter.corp/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75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PRO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pt-PT" sz="1400" dirty="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8"/>
          <p:cNvGraphicFramePr>
            <a:graphicFrameLocks noGrp="1"/>
          </p:cNvGraphicFramePr>
          <p:nvPr/>
        </p:nvGraphicFramePr>
        <p:xfrm>
          <a:off x="711024" y="3816466"/>
          <a:ext cx="9008619" cy="1053468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DMZ </a:t>
                      </a:r>
                      <a:r>
                        <a:rPr lang="pt-PT" sz="1400" b="1" dirty="0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Back</a:t>
                      </a:r>
                      <a:endParaRPr lang="pt-PT" sz="1400" b="1" dirty="0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PRE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PRO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78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512" y="649535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Logging</a:t>
            </a:r>
            <a:r>
              <a:rPr lang="pt-PT" altLang="pt-PT" sz="2400" dirty="0">
                <a:solidFill>
                  <a:schemeClr val="accent1"/>
                </a:solidFill>
                <a:latin typeface="Santander Text"/>
              </a:rPr>
              <a:t> - </a:t>
            </a: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Azure</a:t>
            </a:r>
            <a:endParaRPr lang="pt-PT" altLang="pt-PT" sz="2400" dirty="0">
              <a:solidFill>
                <a:schemeClr val="accent1"/>
              </a:solidFill>
              <a:latin typeface="Santander Tex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1045029"/>
            <a:ext cx="10828205" cy="194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altLang="es-ES" sz="1200" i="1">
                <a:solidFill>
                  <a:srgbClr val="FF0000"/>
                </a:solidFill>
                <a:latin typeface="Santander Text"/>
                <a:sym typeface="Wingdings" panose="05000000000000000000" pitchFamily="2" charset="2"/>
              </a:rPr>
              <a:t>Logging micro-services</a:t>
            </a:r>
            <a:endParaRPr lang="en-US" altLang="es-ES" sz="1200" i="1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architecture of the </a:t>
            </a:r>
            <a:r>
              <a:rPr lang="en-US" altLang="es-ES" sz="1200" i="1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Paas</a:t>
            </a:r>
            <a:r>
              <a:rPr lang="en-US" altLang="es-E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Azure assures that all the information is sent to stdout and stderr and sent to a repository centralized on the Elastic Search .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This repository could be used to analyze problems/errors in the application, but this rep is only keeps a storage of information for one week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log accesses are done by </a:t>
            </a:r>
            <a:r>
              <a:rPr lang="en-US" sz="1200" i="1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Kibana</a:t>
            </a: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through the link:</a:t>
            </a: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  <a:defRPr/>
            </a:pPr>
            <a:endParaRPr lang="pt-PT" altLang="es-ES" sz="1200" i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200" i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sz="1200" i="1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>
                <a:solidFill>
                  <a:srgbClr val="FF0000"/>
                </a:solidFill>
                <a:latin typeface="Santander Text"/>
                <a:cs typeface="Arial"/>
              </a:rPr>
              <a:t>Logging Traceability between components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</a:rPr>
              <a:t>All the micro-services should include the lib: "Spring Cloud Sleuth" to active the distributed login  (“Adds trace and span ids to the </a:t>
            </a: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Slf4J</a:t>
            </a: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</a:rPr>
              <a:t>”). 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>
                <a:latin typeface="Santander Text"/>
                <a:cs typeface="Arial"/>
                <a:hlinkClick r:id="rId3"/>
              </a:rPr>
              <a:t>https://confluence.ci.gsnet.corp/pages/viewpage.action?pageId=212378538</a:t>
            </a:r>
            <a:endParaRPr lang="en-US" sz="1200" i="1">
              <a:solidFill>
                <a:schemeClr val="tx1"/>
              </a:solidFill>
              <a:latin typeface="Santander Text"/>
              <a:cs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29903" y="2872737"/>
          <a:ext cx="9008619" cy="1333504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DEV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4"/>
                        </a:rPr>
                        <a:t>https://paas-dev.logs.global.ccc.weu.azure.paas.cloudcenter.corp/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PRE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5"/>
                        </a:rPr>
                        <a:t>https://paas-pre.logs.global.ccc.weu.azure.paas.cloudcenter.corp/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75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PRO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6"/>
                        </a:rPr>
                        <a:t>https://paas-pro.logs.global.ccc.weu.azure.paas.cloudcenter.corp/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0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Referencias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75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803581"/>
              </p:ext>
            </p:extLst>
          </p:nvPr>
        </p:nvGraphicFramePr>
        <p:xfrm>
          <a:off x="657786" y="1062527"/>
          <a:ext cx="10368728" cy="4081456"/>
        </p:xfrm>
        <a:graphic>
          <a:graphicData uri="http://schemas.openxmlformats.org/drawingml/2006/table">
            <a:tbl>
              <a:tblPr/>
              <a:tblGrid>
                <a:gridCol w="74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#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Nome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Data</a:t>
                      </a:r>
                      <a:endParaRPr kumimoji="0" lang="pt-PT" sz="13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Comentário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Autor</a:t>
                      </a:r>
                      <a:endParaRPr kumimoji="0" lang="pt-PT" sz="13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REF#1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nl-NL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20240726 ASW PT - DT  Broker Online - en V14c</a:t>
                      </a:r>
                      <a:endParaRPr kumimoji="0" lang="pt-PT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26/07/2024</a:t>
                      </a: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 Portugal</a:t>
                      </a:r>
                      <a:endParaRPr kumimoji="0" lang="pt-PT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REF#2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REF#3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altLang="es-E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REF#4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24</a:t>
            </a:fld>
            <a:endParaRPr lang="pt-PT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Referencias</a:t>
            </a:r>
          </a:p>
        </p:txBody>
      </p:sp>
      <p:graphicFrame>
        <p:nvGraphicFramePr>
          <p:cNvPr id="2" name="Objeto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64686"/>
              </p:ext>
            </p:extLst>
          </p:nvPr>
        </p:nvGraphicFramePr>
        <p:xfrm>
          <a:off x="4496429" y="1661424"/>
          <a:ext cx="1680084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Presentation" showAsIcon="1" r:id="rId3" imgW="914400" imgH="771480" progId="PowerPoint.Show.12">
                  <p:embed/>
                </p:oleObj>
              </mc:Choice>
              <mc:Fallback>
                <p:oleObj name="Presentation" showAsIcon="1" r:id="rId3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6429" y="1661424"/>
                        <a:ext cx="1680084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941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t"/>
      <a:lstStyle>
        <a:defPPr marL="171450" indent="-171450">
          <a:buFont typeface="Wingdings" panose="05000000000000000000" pitchFamily="2" charset="2"/>
          <a:buChar char="§"/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BFEDD1D559E4BA79C2EB28F04D42B" ma:contentTypeVersion="21" ma:contentTypeDescription="Create a new document." ma:contentTypeScope="" ma:versionID="4320b2ba848fc133b57f83ec76bb5f55">
  <xsd:schema xmlns:xsd="http://www.w3.org/2001/XMLSchema" xmlns:xs="http://www.w3.org/2001/XMLSchema" xmlns:p="http://schemas.microsoft.com/office/2006/metadata/properties" xmlns:ns1="http://schemas.microsoft.com/sharepoint/v3" xmlns:ns2="84cc0d6f-51d2-4273-a95b-2243f39b32fa" xmlns:ns3="0e9ba3e0-3d22-4408-96b5-c8a59fd87904" targetNamespace="http://schemas.microsoft.com/office/2006/metadata/properties" ma:root="true" ma:fieldsID="8d74c8b78fc354b07b9e14e9f2119962" ns1:_="" ns2:_="" ns3:_="">
    <xsd:import namespace="http://schemas.microsoft.com/sharepoint/v3"/>
    <xsd:import namespace="84cc0d6f-51d2-4273-a95b-2243f39b32fa"/>
    <xsd:import namespace="0e9ba3e0-3d22-4408-96b5-c8a59fd87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APM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c0d6f-51d2-4273-a95b-2243f39b32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PMF" ma:index="28" nillable="true" ma:displayName="APMF" ma:format="Dropdown" ma:internalName="APMF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ba3e0-3d22-4408-96b5-c8a59fd879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2b9f94-8f62-49ac-a0d0-8dc592b90ec1}" ma:internalName="TaxCatchAll" ma:showField="CatchAllData" ma:web="0e9ba3e0-3d22-4408-96b5-c8a59fd87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9ba3e0-3d22-4408-96b5-c8a59fd87904" xsi:nil="true"/>
    <lcf76f155ced4ddcb4097134ff3c332f xmlns="84cc0d6f-51d2-4273-a95b-2243f39b32fa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APMF xmlns="84cc0d6f-51d2-4273-a95b-2243f39b32f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3C6AD3-17D5-4AB7-9D99-94165193EE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4cc0d6f-51d2-4273-a95b-2243f39b32fa"/>
    <ds:schemaRef ds:uri="0e9ba3e0-3d22-4408-96b5-c8a59fd879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62DC41-7046-42CB-838F-614672713449}">
  <ds:schemaRefs>
    <ds:schemaRef ds:uri="0e9ba3e0-3d22-4408-96b5-c8a59fd87904"/>
    <ds:schemaRef ds:uri="http://www.w3.org/XML/1998/namespace"/>
    <ds:schemaRef ds:uri="84cc0d6f-51d2-4273-a95b-2243f39b32fa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sharepoint/v3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4DE0840-130D-42F8-BB23-1874788526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76825</TotalTime>
  <Words>1290</Words>
  <Application>Microsoft Office PowerPoint</Application>
  <PresentationFormat>Widescreen</PresentationFormat>
  <Paragraphs>332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Black</vt:lpstr>
      <vt:lpstr>Calibri</vt:lpstr>
      <vt:lpstr>Santander Headline</vt:lpstr>
      <vt:lpstr>Santander Logo</vt:lpstr>
      <vt:lpstr>Santander Text</vt:lpstr>
      <vt:lpstr>Times</vt:lpstr>
      <vt:lpstr>Times New Roman</vt:lpstr>
      <vt:lpstr>Wingdings</vt:lpstr>
      <vt:lpstr>Tema de Office</vt:lpstr>
      <vt:lpstr>Worksheet</vt:lpstr>
      <vt:lpstr>Presentation</vt:lpstr>
      <vt:lpstr>Contratação Automática Mifid</vt:lpstr>
      <vt:lpstr>PowerPoint Presentation</vt:lpstr>
      <vt:lpstr>PowerPoint Presentation</vt:lpstr>
      <vt:lpstr>Necessidades e proposta de solução</vt:lpstr>
      <vt:lpstr>PowerPoint Presentation</vt:lpstr>
      <vt:lpstr>PowerPoint Presentation</vt:lpstr>
      <vt:lpstr>PowerPoint Presentation</vt:lpstr>
      <vt:lpstr>Solução técnica</vt:lpstr>
      <vt:lpstr>PowerPoint Presentation</vt:lpstr>
      <vt:lpstr>Sumário de infra-estrutura</vt:lpstr>
      <vt:lpstr>PowerPoint Presentation</vt:lpstr>
      <vt:lpstr>Volumes</vt:lpstr>
      <vt:lpstr>PowerPoint Presentation</vt:lpstr>
      <vt:lpstr>PowerPoint Presentation</vt:lpstr>
      <vt:lpstr>PowerPoint Presentation</vt:lpstr>
      <vt:lpstr>Segurança</vt:lpstr>
      <vt:lpstr>PowerPoint Presentation</vt:lpstr>
      <vt:lpstr>Monitorização, Logging e Auditing</vt:lpstr>
      <vt:lpstr>PowerPoint Presentation</vt:lpstr>
      <vt:lpstr>PowerPoint Presentation</vt:lpstr>
      <vt:lpstr>PowerPoint Presentation</vt:lpstr>
      <vt:lpstr>PowerPoint Presentation</vt:lpstr>
      <vt:lpstr>Referencias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Vera Susana Gomes Mestrinho da Cruz</cp:lastModifiedBy>
  <cp:revision>2548</cp:revision>
  <cp:lastPrinted>2019-07-28T15:40:30Z</cp:lastPrinted>
  <dcterms:created xsi:type="dcterms:W3CDTF">2018-03-19T11:10:43Z</dcterms:created>
  <dcterms:modified xsi:type="dcterms:W3CDTF">2025-02-06T17:35:10Z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0x010100106BFEDD1D559E4BA79C2EB28F04D42B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2025-02-06T17:35:06Z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1a844370-4161-42c4-8978-c2602b11805e</vt:lpwstr>
  </property>
  <property fmtid="{D5CDD505-2E9C-101B-9397-08002B2CF9AE}" pid="10" name="MSIP_Label_3c41c091-3cbc-4dba-8b59-ce62f19500db_ContentBits">
    <vt:lpwstr>1</vt:lpwstr>
  </property>
</Properties>
</file>